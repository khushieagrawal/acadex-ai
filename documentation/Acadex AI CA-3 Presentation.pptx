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Aptos Bold" charset="1" panose="020B0004020202020204"/>
      <p:regular r:id="rId18"/>
    </p:embeddedFont>
    <p:embeddedFont>
      <p:font typeface="Aptos Italics" charset="1" panose="020B0004020202090204"/>
      <p:regular r:id="rId19"/>
    </p:embeddedFont>
    <p:embeddedFont>
      <p:font typeface="Aptos" charset="1" panose="020B0004020202020204"/>
      <p:regular r:id="rId20"/>
    </p:embeddedFont>
    <p:embeddedFont>
      <p:font typeface="Anton" charset="1" panose="000005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53719" y="5963974"/>
            <a:ext cx="4406846" cy="96660"/>
            <a:chOff x="0" y="0"/>
            <a:chExt cx="5875795" cy="128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75782" cy="128905"/>
            </a:xfrm>
            <a:custGeom>
              <a:avLst/>
              <a:gdLst/>
              <a:ahLst/>
              <a:cxnLst/>
              <a:rect r="r" b="b" t="t" l="l"/>
              <a:pathLst>
                <a:path h="128905" w="5875782">
                  <a:moveTo>
                    <a:pt x="0" y="0"/>
                  </a:moveTo>
                  <a:lnTo>
                    <a:pt x="5875782" y="0"/>
                  </a:lnTo>
                  <a:lnTo>
                    <a:pt x="5875782" y="128905"/>
                  </a:lnTo>
                  <a:lnTo>
                    <a:pt x="0" y="128905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7812053" y="8262252"/>
            <a:ext cx="10475947" cy="2016620"/>
          </a:xfrm>
          <a:custGeom>
            <a:avLst/>
            <a:gdLst/>
            <a:ahLst/>
            <a:cxnLst/>
            <a:rect r="r" b="b" t="t" l="l"/>
            <a:pathLst>
              <a:path h="2016620" w="10475947">
                <a:moveTo>
                  <a:pt x="0" y="0"/>
                </a:moveTo>
                <a:lnTo>
                  <a:pt x="10475947" y="0"/>
                </a:lnTo>
                <a:lnTo>
                  <a:pt x="10475947" y="2016620"/>
                </a:lnTo>
                <a:lnTo>
                  <a:pt x="0" y="2016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715500" y="280973"/>
            <a:ext cx="8572500" cy="8229600"/>
          </a:xfrm>
          <a:custGeom>
            <a:avLst/>
            <a:gdLst/>
            <a:ahLst/>
            <a:cxnLst/>
            <a:rect r="r" b="b" t="t" l="l"/>
            <a:pathLst>
              <a:path h="8229600" w="8572500">
                <a:moveTo>
                  <a:pt x="0" y="0"/>
                </a:moveTo>
                <a:lnTo>
                  <a:pt x="8572500" y="0"/>
                </a:lnTo>
                <a:lnTo>
                  <a:pt x="85725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51709" y="859822"/>
            <a:ext cx="10670267" cy="453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FOUNDATIONS OF AGENTIC AI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9347" y="1871396"/>
            <a:ext cx="11082071" cy="1130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6"/>
              </a:lnSpc>
            </a:pPr>
            <a:r>
              <a:rPr lang="en-US" sz="7205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ACADEX AI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1709" y="3244072"/>
            <a:ext cx="10395737" cy="1541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4"/>
              </a:lnSpc>
            </a:pPr>
            <a:r>
              <a:rPr lang="en-US" sz="435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Agentic Academic Intelligence</a:t>
            </a:r>
          </a:p>
          <a:p>
            <a:pPr algn="l">
              <a:lnSpc>
                <a:spcPts val="5224"/>
              </a:lnSpc>
            </a:pPr>
            <a:r>
              <a:rPr lang="en-US" sz="435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&amp; Intervention System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79160" y="5165808"/>
            <a:ext cx="9846669" cy="581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i="true">
                <a:solidFill>
                  <a:srgbClr val="A6BCCD"/>
                </a:solidFill>
                <a:latin typeface="Aptos Italics"/>
                <a:ea typeface="Aptos Italics"/>
                <a:cs typeface="Aptos Italics"/>
                <a:sym typeface="Aptos Italics"/>
              </a:rPr>
              <a:t>From academic signals to supportive action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79160" y="7362082"/>
            <a:ext cx="1039573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SUBMITTED BY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79160" y="7911151"/>
            <a:ext cx="10670267" cy="1198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Khushi Harkhani  •  24070126091</a:t>
            </a:r>
          </a:p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Khushie Agrawal  •  24070126092</a:t>
            </a:r>
          </a:p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AIML B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01 • CONTEXT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Problem statement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Academic monitoring can be fragmented; timely support depends on noticing patterns early.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02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3719" y="3081366"/>
            <a:ext cx="5299091" cy="3377346"/>
            <a:chOff x="0" y="0"/>
            <a:chExt cx="7065454" cy="45031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065518" cy="4503166"/>
            </a:xfrm>
            <a:custGeom>
              <a:avLst/>
              <a:gdLst/>
              <a:ahLst/>
              <a:cxnLst/>
              <a:rect r="r" b="b" t="t" l="l"/>
              <a:pathLst>
                <a:path h="4503166" w="7065518">
                  <a:moveTo>
                    <a:pt x="0" y="540385"/>
                  </a:moveTo>
                  <a:cubicBezTo>
                    <a:pt x="0" y="241935"/>
                    <a:pt x="241935" y="0"/>
                    <a:pt x="540385" y="0"/>
                  </a:cubicBezTo>
                  <a:lnTo>
                    <a:pt x="6525133" y="0"/>
                  </a:lnTo>
                  <a:cubicBezTo>
                    <a:pt x="6823583" y="0"/>
                    <a:pt x="7065518" y="241935"/>
                    <a:pt x="7065518" y="540385"/>
                  </a:cubicBezTo>
                  <a:lnTo>
                    <a:pt x="7065518" y="3962781"/>
                  </a:lnTo>
                  <a:cubicBezTo>
                    <a:pt x="7065518" y="4261231"/>
                    <a:pt x="6823583" y="4503166"/>
                    <a:pt x="6525133" y="4503166"/>
                  </a:cubicBezTo>
                  <a:lnTo>
                    <a:pt x="540385" y="4503166"/>
                  </a:lnTo>
                  <a:cubicBezTo>
                    <a:pt x="241935" y="4503166"/>
                    <a:pt x="0" y="4261231"/>
                    <a:pt x="0" y="396278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3719" y="3081366"/>
            <a:ext cx="110385" cy="3377346"/>
            <a:chOff x="0" y="0"/>
            <a:chExt cx="147180" cy="450312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193" cy="4503166"/>
            </a:xfrm>
            <a:custGeom>
              <a:avLst/>
              <a:gdLst/>
              <a:ahLst/>
              <a:cxnLst/>
              <a:rect r="r" b="b" t="t" l="l"/>
              <a:pathLst>
                <a:path h="4503166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4503166"/>
                  </a:lnTo>
                  <a:lnTo>
                    <a:pt x="0" y="4503166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281141" y="3353886"/>
            <a:ext cx="469914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THE CHALLENGE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1141" y="3999043"/>
            <a:ext cx="4699140" cy="2255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Attendance, assessment results and assignment completion must be reviewed together to understand a student's academic situation.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513043" y="3081366"/>
            <a:ext cx="5299091" cy="3377346"/>
            <a:chOff x="0" y="0"/>
            <a:chExt cx="7065454" cy="45031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65518" cy="4503166"/>
            </a:xfrm>
            <a:custGeom>
              <a:avLst/>
              <a:gdLst/>
              <a:ahLst/>
              <a:cxnLst/>
              <a:rect r="r" b="b" t="t" l="l"/>
              <a:pathLst>
                <a:path h="4503166" w="7065518">
                  <a:moveTo>
                    <a:pt x="0" y="540385"/>
                  </a:moveTo>
                  <a:cubicBezTo>
                    <a:pt x="0" y="241935"/>
                    <a:pt x="241935" y="0"/>
                    <a:pt x="540385" y="0"/>
                  </a:cubicBezTo>
                  <a:lnTo>
                    <a:pt x="6525133" y="0"/>
                  </a:lnTo>
                  <a:cubicBezTo>
                    <a:pt x="6823583" y="0"/>
                    <a:pt x="7065518" y="241935"/>
                    <a:pt x="7065518" y="540385"/>
                  </a:cubicBezTo>
                  <a:lnTo>
                    <a:pt x="7065518" y="3962781"/>
                  </a:lnTo>
                  <a:cubicBezTo>
                    <a:pt x="7065518" y="4261231"/>
                    <a:pt x="6823583" y="4503166"/>
                    <a:pt x="6525133" y="4503166"/>
                  </a:cubicBezTo>
                  <a:lnTo>
                    <a:pt x="540385" y="4503166"/>
                  </a:lnTo>
                  <a:cubicBezTo>
                    <a:pt x="241935" y="4503166"/>
                    <a:pt x="0" y="4261231"/>
                    <a:pt x="0" y="396278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6513043" y="3081366"/>
            <a:ext cx="110385" cy="3377346"/>
            <a:chOff x="0" y="0"/>
            <a:chExt cx="147180" cy="450312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7193" cy="4503166"/>
            </a:xfrm>
            <a:custGeom>
              <a:avLst/>
              <a:gdLst/>
              <a:ahLst/>
              <a:cxnLst/>
              <a:rect r="r" b="b" t="t" l="l"/>
              <a:pathLst>
                <a:path h="4503166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4503166"/>
                  </a:lnTo>
                  <a:lnTo>
                    <a:pt x="0" y="4503166"/>
                  </a:lnTo>
                  <a:close/>
                </a:path>
              </a:pathLst>
            </a:custGeom>
            <a:solidFill>
              <a:srgbClr val="FFC55C"/>
            </a:solidFill>
            <a:ln w="14299" cap="sq">
              <a:solidFill>
                <a:srgbClr val="FFC55C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6840474" y="3353886"/>
            <a:ext cx="469914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WHY IT MATTERS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840474" y="3999043"/>
            <a:ext cx="4699140" cy="2255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Manual review across many records can make it harder to prioritize follow-up consistently and prepare timely support.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072366" y="3081366"/>
            <a:ext cx="5299091" cy="3377346"/>
            <a:chOff x="0" y="0"/>
            <a:chExt cx="7065454" cy="45031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65518" cy="4503166"/>
            </a:xfrm>
            <a:custGeom>
              <a:avLst/>
              <a:gdLst/>
              <a:ahLst/>
              <a:cxnLst/>
              <a:rect r="r" b="b" t="t" l="l"/>
              <a:pathLst>
                <a:path h="4503166" w="7065518">
                  <a:moveTo>
                    <a:pt x="0" y="540385"/>
                  </a:moveTo>
                  <a:cubicBezTo>
                    <a:pt x="0" y="241935"/>
                    <a:pt x="241935" y="0"/>
                    <a:pt x="540385" y="0"/>
                  </a:cubicBezTo>
                  <a:lnTo>
                    <a:pt x="6525133" y="0"/>
                  </a:lnTo>
                  <a:cubicBezTo>
                    <a:pt x="6823583" y="0"/>
                    <a:pt x="7065518" y="241935"/>
                    <a:pt x="7065518" y="540385"/>
                  </a:cubicBezTo>
                  <a:lnTo>
                    <a:pt x="7065518" y="3962781"/>
                  </a:lnTo>
                  <a:cubicBezTo>
                    <a:pt x="7065518" y="4261231"/>
                    <a:pt x="6823583" y="4503166"/>
                    <a:pt x="6525133" y="4503166"/>
                  </a:cubicBezTo>
                  <a:lnTo>
                    <a:pt x="540385" y="4503166"/>
                  </a:lnTo>
                  <a:cubicBezTo>
                    <a:pt x="241935" y="4503166"/>
                    <a:pt x="0" y="4261231"/>
                    <a:pt x="0" y="396278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2072366" y="3081366"/>
            <a:ext cx="110385" cy="3377346"/>
            <a:chOff x="0" y="0"/>
            <a:chExt cx="147180" cy="450312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7193" cy="4503166"/>
            </a:xfrm>
            <a:custGeom>
              <a:avLst/>
              <a:gdLst/>
              <a:ahLst/>
              <a:cxnLst/>
              <a:rect r="r" b="b" t="t" l="l"/>
              <a:pathLst>
                <a:path h="4503166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4503166"/>
                  </a:lnTo>
                  <a:lnTo>
                    <a:pt x="0" y="4503166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399797" y="3353886"/>
            <a:ext cx="469914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DOMAIN JUSTIFICATION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399797" y="3999043"/>
            <a:ext cx="4699140" cy="2255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Education is a useful agentic AI setting because multiple indicators need to be examined, checked and translated into next steps.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53719" y="6993484"/>
            <a:ext cx="16417738" cy="1524238"/>
            <a:chOff x="0" y="0"/>
            <a:chExt cx="21890317" cy="203231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890227" cy="2032254"/>
            </a:xfrm>
            <a:custGeom>
              <a:avLst/>
              <a:gdLst/>
              <a:ahLst/>
              <a:cxnLst/>
              <a:rect r="r" b="b" t="t" l="l"/>
              <a:pathLst>
                <a:path h="2032254" w="21890227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21646387" y="0"/>
                  </a:lnTo>
                  <a:cubicBezTo>
                    <a:pt x="21781134" y="0"/>
                    <a:pt x="21890227" y="109220"/>
                    <a:pt x="21890227" y="243840"/>
                  </a:cubicBezTo>
                  <a:lnTo>
                    <a:pt x="21890227" y="1788414"/>
                  </a:lnTo>
                  <a:cubicBezTo>
                    <a:pt x="21890227" y="1923161"/>
                    <a:pt x="21781007" y="2032254"/>
                    <a:pt x="21646387" y="2032254"/>
                  </a:cubicBezTo>
                  <a:lnTo>
                    <a:pt x="243840" y="2032254"/>
                  </a:lnTo>
                  <a:cubicBezTo>
                    <a:pt x="109093" y="2032254"/>
                    <a:pt x="0" y="1923034"/>
                    <a:pt x="0" y="1788414"/>
                  </a:cubicBezTo>
                  <a:close/>
                </a:path>
              </a:pathLst>
            </a:custGeom>
            <a:solidFill>
              <a:srgbClr val="113042"/>
            </a:solidFill>
            <a:ln w="14299" cap="sq">
              <a:solidFill>
                <a:srgbClr val="235A71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372676" y="7384980"/>
            <a:ext cx="15511196" cy="754971"/>
            <a:chOff x="0" y="0"/>
            <a:chExt cx="20681594" cy="100662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681598" cy="1006626"/>
            </a:xfrm>
            <a:custGeom>
              <a:avLst/>
              <a:gdLst/>
              <a:ahLst/>
              <a:cxnLst/>
              <a:rect r="r" b="b" t="t" l="l"/>
              <a:pathLst>
                <a:path h="1006626" w="20681598">
                  <a:moveTo>
                    <a:pt x="0" y="0"/>
                  </a:moveTo>
                  <a:lnTo>
                    <a:pt x="20681598" y="0"/>
                  </a:lnTo>
                  <a:lnTo>
                    <a:pt x="20681598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0328" r="0" b="-350328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681594" cy="10066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422"/>
                </a:lnSpc>
              </a:pPr>
              <a:r>
                <a:rPr lang="en-US" sz="2852" b="true">
                  <a:solidFill>
                    <a:srgbClr val="F5F8FC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Acadex AI is a decision-support PoC—not an automated academic decision-maker.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02 • INTENT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Objectives &amp; proposed solution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Bring student indicators into one workflow and support faculty review.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03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28258" y="3355896"/>
            <a:ext cx="151562" cy="151562"/>
            <a:chOff x="0" y="0"/>
            <a:chExt cx="202082" cy="20208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2184" cy="202184"/>
            </a:xfrm>
            <a:custGeom>
              <a:avLst/>
              <a:gdLst/>
              <a:ahLst/>
              <a:cxnLst/>
              <a:rect r="r" b="b" t="t" l="l"/>
              <a:pathLst>
                <a:path h="202184" w="202184">
                  <a:moveTo>
                    <a:pt x="0" y="101092"/>
                  </a:moveTo>
                  <a:cubicBezTo>
                    <a:pt x="0" y="45212"/>
                    <a:pt x="45212" y="0"/>
                    <a:pt x="101092" y="0"/>
                  </a:cubicBezTo>
                  <a:cubicBezTo>
                    <a:pt x="156972" y="0"/>
                    <a:pt x="202184" y="45212"/>
                    <a:pt x="202184" y="101092"/>
                  </a:cubicBezTo>
                  <a:cubicBezTo>
                    <a:pt x="202184" y="156972"/>
                    <a:pt x="156972" y="202184"/>
                    <a:pt x="101092" y="202184"/>
                  </a:cubicBezTo>
                  <a:cubicBezTo>
                    <a:pt x="45212" y="202184"/>
                    <a:pt x="0" y="156845"/>
                    <a:pt x="0" y="101092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569406" y="3244072"/>
            <a:ext cx="7883747" cy="89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Explore synthetic student records in an interactive dashboard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28258" y="4289317"/>
            <a:ext cx="151562" cy="151562"/>
            <a:chOff x="0" y="0"/>
            <a:chExt cx="202082" cy="20208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02184" cy="202184"/>
            </a:xfrm>
            <a:custGeom>
              <a:avLst/>
              <a:gdLst/>
              <a:ahLst/>
              <a:cxnLst/>
              <a:rect r="r" b="b" t="t" l="l"/>
              <a:pathLst>
                <a:path h="202184" w="202184">
                  <a:moveTo>
                    <a:pt x="0" y="101092"/>
                  </a:moveTo>
                  <a:cubicBezTo>
                    <a:pt x="0" y="45212"/>
                    <a:pt x="45212" y="0"/>
                    <a:pt x="101092" y="0"/>
                  </a:cubicBezTo>
                  <a:cubicBezTo>
                    <a:pt x="156972" y="0"/>
                    <a:pt x="202184" y="45212"/>
                    <a:pt x="202184" y="101092"/>
                  </a:cubicBezTo>
                  <a:cubicBezTo>
                    <a:pt x="202184" y="156972"/>
                    <a:pt x="156972" y="202184"/>
                    <a:pt x="101092" y="202184"/>
                  </a:cubicBezTo>
                  <a:cubicBezTo>
                    <a:pt x="45212" y="202184"/>
                    <a:pt x="0" y="156845"/>
                    <a:pt x="0" y="101092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569406" y="4177484"/>
            <a:ext cx="7883747" cy="89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Assess risk using implemented Python rules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28258" y="5222729"/>
            <a:ext cx="151562" cy="151562"/>
            <a:chOff x="0" y="0"/>
            <a:chExt cx="202082" cy="20208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2184" cy="202184"/>
            </a:xfrm>
            <a:custGeom>
              <a:avLst/>
              <a:gdLst/>
              <a:ahLst/>
              <a:cxnLst/>
              <a:rect r="r" b="b" t="t" l="l"/>
              <a:pathLst>
                <a:path h="202184" w="202184">
                  <a:moveTo>
                    <a:pt x="0" y="101092"/>
                  </a:moveTo>
                  <a:cubicBezTo>
                    <a:pt x="0" y="45212"/>
                    <a:pt x="45212" y="0"/>
                    <a:pt x="101092" y="0"/>
                  </a:cubicBezTo>
                  <a:cubicBezTo>
                    <a:pt x="156972" y="0"/>
                    <a:pt x="202184" y="45212"/>
                    <a:pt x="202184" y="101092"/>
                  </a:cubicBezTo>
                  <a:cubicBezTo>
                    <a:pt x="202184" y="156972"/>
                    <a:pt x="156972" y="202184"/>
                    <a:pt x="101092" y="202184"/>
                  </a:cubicBezTo>
                  <a:cubicBezTo>
                    <a:pt x="45212" y="202184"/>
                    <a:pt x="0" y="156845"/>
                    <a:pt x="0" y="101092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569406" y="5110905"/>
            <a:ext cx="7883747" cy="89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Coordinate specialized agents for analysis and review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28258" y="6156150"/>
            <a:ext cx="151562" cy="151562"/>
            <a:chOff x="0" y="0"/>
            <a:chExt cx="202082" cy="20208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2184" cy="202184"/>
            </a:xfrm>
            <a:custGeom>
              <a:avLst/>
              <a:gdLst/>
              <a:ahLst/>
              <a:cxnLst/>
              <a:rect r="r" b="b" t="t" l="l"/>
              <a:pathLst>
                <a:path h="202184" w="202184">
                  <a:moveTo>
                    <a:pt x="0" y="101092"/>
                  </a:moveTo>
                  <a:cubicBezTo>
                    <a:pt x="0" y="45212"/>
                    <a:pt x="45212" y="0"/>
                    <a:pt x="101092" y="0"/>
                  </a:cubicBezTo>
                  <a:cubicBezTo>
                    <a:pt x="156972" y="0"/>
                    <a:pt x="202184" y="45212"/>
                    <a:pt x="202184" y="101092"/>
                  </a:cubicBezTo>
                  <a:cubicBezTo>
                    <a:pt x="202184" y="156972"/>
                    <a:pt x="156972" y="202184"/>
                    <a:pt x="101092" y="202184"/>
                  </a:cubicBezTo>
                  <a:cubicBezTo>
                    <a:pt x="45212" y="202184"/>
                    <a:pt x="0" y="156845"/>
                    <a:pt x="0" y="101092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569406" y="6044317"/>
            <a:ext cx="7883747" cy="89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Validate results before presenting recommendations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28258" y="7089562"/>
            <a:ext cx="151562" cy="151562"/>
            <a:chOff x="0" y="0"/>
            <a:chExt cx="202082" cy="20208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2184" cy="202184"/>
            </a:xfrm>
            <a:custGeom>
              <a:avLst/>
              <a:gdLst/>
              <a:ahLst/>
              <a:cxnLst/>
              <a:rect r="r" b="b" t="t" l="l"/>
              <a:pathLst>
                <a:path h="202184" w="202184">
                  <a:moveTo>
                    <a:pt x="0" y="101092"/>
                  </a:moveTo>
                  <a:cubicBezTo>
                    <a:pt x="0" y="45212"/>
                    <a:pt x="45212" y="0"/>
                    <a:pt x="101092" y="0"/>
                  </a:cubicBezTo>
                  <a:cubicBezTo>
                    <a:pt x="156972" y="0"/>
                    <a:pt x="202184" y="45212"/>
                    <a:pt x="202184" y="101092"/>
                  </a:cubicBezTo>
                  <a:cubicBezTo>
                    <a:pt x="202184" y="156972"/>
                    <a:pt x="156972" y="202184"/>
                    <a:pt x="101092" y="202184"/>
                  </a:cubicBezTo>
                  <a:cubicBezTo>
                    <a:pt x="45212" y="202184"/>
                    <a:pt x="0" y="156845"/>
                    <a:pt x="0" y="101092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569406" y="6977739"/>
            <a:ext cx="7883747" cy="89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Keep intervention suggestions subject to human approval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150631" y="3081366"/>
            <a:ext cx="7014924" cy="5161817"/>
            <a:chOff x="0" y="0"/>
            <a:chExt cx="9353232" cy="688242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353169" cy="6882385"/>
            </a:xfrm>
            <a:custGeom>
              <a:avLst/>
              <a:gdLst/>
              <a:ahLst/>
              <a:cxnLst/>
              <a:rect r="r" b="b" t="t" l="l"/>
              <a:pathLst>
                <a:path h="6882385" w="9353169">
                  <a:moveTo>
                    <a:pt x="0" y="825881"/>
                  </a:moveTo>
                  <a:cubicBezTo>
                    <a:pt x="0" y="369824"/>
                    <a:pt x="369824" y="0"/>
                    <a:pt x="825881" y="0"/>
                  </a:cubicBezTo>
                  <a:lnTo>
                    <a:pt x="8527288" y="0"/>
                  </a:lnTo>
                  <a:cubicBezTo>
                    <a:pt x="8983472" y="0"/>
                    <a:pt x="9353169" y="369824"/>
                    <a:pt x="9353169" y="825881"/>
                  </a:cubicBezTo>
                  <a:lnTo>
                    <a:pt x="9353169" y="6056503"/>
                  </a:lnTo>
                  <a:cubicBezTo>
                    <a:pt x="9353169" y="6512687"/>
                    <a:pt x="8983345" y="6882385"/>
                    <a:pt x="8527288" y="6882385"/>
                  </a:cubicBezTo>
                  <a:lnTo>
                    <a:pt x="825881" y="6882385"/>
                  </a:lnTo>
                  <a:cubicBezTo>
                    <a:pt x="369824" y="6882384"/>
                    <a:pt x="0" y="6512687"/>
                    <a:pt x="0" y="60565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10656503" y="3518602"/>
            <a:ext cx="6003179" cy="512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PROPOSED SOLUTION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699699" y="4454033"/>
            <a:ext cx="2004670" cy="906532"/>
            <a:chOff x="0" y="0"/>
            <a:chExt cx="2672893" cy="120871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672842" cy="1208659"/>
            </a:xfrm>
            <a:custGeom>
              <a:avLst/>
              <a:gdLst/>
              <a:ahLst/>
              <a:cxnLst/>
              <a:rect r="r" b="b" t="t" l="l"/>
              <a:pathLst>
                <a:path h="1208659" w="2672842">
                  <a:moveTo>
                    <a:pt x="0" y="145034"/>
                  </a:moveTo>
                  <a:cubicBezTo>
                    <a:pt x="0" y="64897"/>
                    <a:pt x="64897" y="0"/>
                    <a:pt x="145034" y="0"/>
                  </a:cubicBezTo>
                  <a:lnTo>
                    <a:pt x="2527808" y="0"/>
                  </a:lnTo>
                  <a:cubicBezTo>
                    <a:pt x="2607945" y="0"/>
                    <a:pt x="2672842" y="64897"/>
                    <a:pt x="2672842" y="145034"/>
                  </a:cubicBezTo>
                  <a:lnTo>
                    <a:pt x="2672842" y="1063625"/>
                  </a:lnTo>
                  <a:cubicBezTo>
                    <a:pt x="2672842" y="1143762"/>
                    <a:pt x="2607945" y="1208659"/>
                    <a:pt x="2527808" y="1208659"/>
                  </a:cubicBezTo>
                  <a:lnTo>
                    <a:pt x="145034" y="1208659"/>
                  </a:lnTo>
                  <a:cubicBezTo>
                    <a:pt x="64897" y="1208659"/>
                    <a:pt x="0" y="1143762"/>
                    <a:pt x="0" y="1063625"/>
                  </a:cubicBezTo>
                  <a:close/>
                </a:path>
              </a:pathLst>
            </a:custGeom>
            <a:solidFill>
              <a:srgbClr val="1D3E55"/>
            </a:solidFill>
            <a:ln w="14299" cap="sq">
              <a:solidFill>
                <a:srgbClr val="1D3E55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775480" y="4639637"/>
            <a:ext cx="1853108" cy="480431"/>
            <a:chOff x="0" y="0"/>
            <a:chExt cx="2470810" cy="64057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470810" cy="640580"/>
            </a:xfrm>
            <a:custGeom>
              <a:avLst/>
              <a:gdLst/>
              <a:ahLst/>
              <a:cxnLst/>
              <a:rect r="r" b="b" t="t" l="l"/>
              <a:pathLst>
                <a:path h="640580" w="2470810">
                  <a:moveTo>
                    <a:pt x="0" y="0"/>
                  </a:moveTo>
                  <a:lnTo>
                    <a:pt x="2470810" y="0"/>
                  </a:lnTo>
                  <a:lnTo>
                    <a:pt x="2470810" y="640580"/>
                  </a:lnTo>
                  <a:lnTo>
                    <a:pt x="0" y="6405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156" r="0" b="-2515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470810" cy="64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F5F8FC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Student data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758699" y="5620807"/>
            <a:ext cx="2004670" cy="906532"/>
            <a:chOff x="0" y="0"/>
            <a:chExt cx="2672893" cy="120871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672842" cy="1208659"/>
            </a:xfrm>
            <a:custGeom>
              <a:avLst/>
              <a:gdLst/>
              <a:ahLst/>
              <a:cxnLst/>
              <a:rect r="r" b="b" t="t" l="l"/>
              <a:pathLst>
                <a:path h="1208659" w="2672842">
                  <a:moveTo>
                    <a:pt x="0" y="145034"/>
                  </a:moveTo>
                  <a:cubicBezTo>
                    <a:pt x="0" y="64897"/>
                    <a:pt x="64897" y="0"/>
                    <a:pt x="145034" y="0"/>
                  </a:cubicBezTo>
                  <a:lnTo>
                    <a:pt x="2527808" y="0"/>
                  </a:lnTo>
                  <a:cubicBezTo>
                    <a:pt x="2607945" y="0"/>
                    <a:pt x="2672842" y="64897"/>
                    <a:pt x="2672842" y="145034"/>
                  </a:cubicBezTo>
                  <a:lnTo>
                    <a:pt x="2672842" y="1063625"/>
                  </a:lnTo>
                  <a:cubicBezTo>
                    <a:pt x="2672842" y="1143762"/>
                    <a:pt x="2607945" y="1208659"/>
                    <a:pt x="2527808" y="1208659"/>
                  </a:cubicBezTo>
                  <a:lnTo>
                    <a:pt x="145034" y="1208659"/>
                  </a:lnTo>
                  <a:cubicBezTo>
                    <a:pt x="64897" y="1208659"/>
                    <a:pt x="0" y="1143762"/>
                    <a:pt x="0" y="1063625"/>
                  </a:cubicBezTo>
                  <a:close/>
                </a:path>
              </a:pathLst>
            </a:custGeom>
            <a:solidFill>
              <a:srgbClr val="284670"/>
            </a:solidFill>
            <a:ln w="14299" cap="sq">
              <a:solidFill>
                <a:srgbClr val="284670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2834490" y="5806402"/>
            <a:ext cx="1853108" cy="480431"/>
            <a:chOff x="0" y="0"/>
            <a:chExt cx="2470810" cy="64057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70810" cy="640580"/>
            </a:xfrm>
            <a:custGeom>
              <a:avLst/>
              <a:gdLst/>
              <a:ahLst/>
              <a:cxnLst/>
              <a:rect r="r" b="b" t="t" l="l"/>
              <a:pathLst>
                <a:path h="640580" w="2470810">
                  <a:moveTo>
                    <a:pt x="0" y="0"/>
                  </a:moveTo>
                  <a:lnTo>
                    <a:pt x="2470810" y="0"/>
                  </a:lnTo>
                  <a:lnTo>
                    <a:pt x="2470810" y="640580"/>
                  </a:lnTo>
                  <a:lnTo>
                    <a:pt x="0" y="6405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156" r="0" b="-2515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2470810" cy="64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F5F8FC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Agent workflow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4817709" y="6787582"/>
            <a:ext cx="2004670" cy="906532"/>
            <a:chOff x="0" y="0"/>
            <a:chExt cx="2672893" cy="120871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672842" cy="1208659"/>
            </a:xfrm>
            <a:custGeom>
              <a:avLst/>
              <a:gdLst/>
              <a:ahLst/>
              <a:cxnLst/>
              <a:rect r="r" b="b" t="t" l="l"/>
              <a:pathLst>
                <a:path h="1208659" w="2672842">
                  <a:moveTo>
                    <a:pt x="0" y="145034"/>
                  </a:moveTo>
                  <a:cubicBezTo>
                    <a:pt x="0" y="64897"/>
                    <a:pt x="64897" y="0"/>
                    <a:pt x="145034" y="0"/>
                  </a:cubicBezTo>
                  <a:lnTo>
                    <a:pt x="2527808" y="0"/>
                  </a:lnTo>
                  <a:cubicBezTo>
                    <a:pt x="2607945" y="0"/>
                    <a:pt x="2672842" y="64897"/>
                    <a:pt x="2672842" y="145034"/>
                  </a:cubicBezTo>
                  <a:lnTo>
                    <a:pt x="2672842" y="1063625"/>
                  </a:lnTo>
                  <a:cubicBezTo>
                    <a:pt x="2672842" y="1143762"/>
                    <a:pt x="2607945" y="1208659"/>
                    <a:pt x="2527808" y="1208659"/>
                  </a:cubicBezTo>
                  <a:lnTo>
                    <a:pt x="145034" y="1208659"/>
                  </a:lnTo>
                  <a:cubicBezTo>
                    <a:pt x="64897" y="1208659"/>
                    <a:pt x="0" y="1143762"/>
                    <a:pt x="0" y="1063625"/>
                  </a:cubicBezTo>
                  <a:close/>
                </a:path>
              </a:pathLst>
            </a:custGeom>
            <a:solidFill>
              <a:srgbClr val="184E43"/>
            </a:solidFill>
            <a:ln w="14299" cap="sq">
              <a:solidFill>
                <a:srgbClr val="184E43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4893500" y="6973176"/>
            <a:ext cx="1853108" cy="480431"/>
            <a:chOff x="0" y="0"/>
            <a:chExt cx="2470810" cy="64057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470810" cy="640580"/>
            </a:xfrm>
            <a:custGeom>
              <a:avLst/>
              <a:gdLst/>
              <a:ahLst/>
              <a:cxnLst/>
              <a:rect r="r" b="b" t="t" l="l"/>
              <a:pathLst>
                <a:path h="640580" w="2470810">
                  <a:moveTo>
                    <a:pt x="0" y="0"/>
                  </a:moveTo>
                  <a:lnTo>
                    <a:pt x="2470810" y="0"/>
                  </a:lnTo>
                  <a:lnTo>
                    <a:pt x="2470810" y="640580"/>
                  </a:lnTo>
                  <a:lnTo>
                    <a:pt x="0" y="6405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156" r="0" b="-25156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2470810" cy="64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F5F8FC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Validated action</a:t>
              </a:r>
            </a:p>
          </p:txBody>
        </p:sp>
      </p:grpSp>
      <p:sp>
        <p:nvSpPr>
          <p:cNvPr name="AutoShape 41" id="41"/>
          <p:cNvSpPr/>
          <p:nvPr/>
        </p:nvSpPr>
        <p:spPr>
          <a:xfrm rot="3559380">
            <a:off x="12471530" y="5261534"/>
            <a:ext cx="863184" cy="0"/>
          </a:xfrm>
          <a:prstGeom prst="line">
            <a:avLst/>
          </a:prstGeom>
          <a:ln cap="rnd" w="19050">
            <a:solidFill>
              <a:srgbClr val="32C5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 rot="3804000">
            <a:off x="14512681" y="6428308"/>
            <a:ext cx="830275" cy="0"/>
          </a:xfrm>
          <a:prstGeom prst="line">
            <a:avLst/>
          </a:prstGeom>
          <a:ln cap="rnd" w="19050">
            <a:solidFill>
              <a:srgbClr val="32C5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3" id="43"/>
          <p:cNvSpPr txBox="true"/>
          <p:nvPr/>
        </p:nvSpPr>
        <p:spPr>
          <a:xfrm rot="0">
            <a:off x="10725131" y="7773886"/>
            <a:ext cx="5865914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A6BCCD"/>
                </a:solidFill>
                <a:latin typeface="Aptos Italics"/>
                <a:ea typeface="Aptos Italics"/>
                <a:cs typeface="Aptos Italics"/>
                <a:sym typeface="Aptos Italics"/>
              </a:rPr>
              <a:t>Human-in-the-loop throughout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03 • METHOD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Methodology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 repeatable pipeline from synthetic records to a faculty-reviewed next step.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04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3719" y="3081366"/>
            <a:ext cx="5161817" cy="1908591"/>
            <a:chOff x="0" y="0"/>
            <a:chExt cx="6882422" cy="25447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82511" cy="2544826"/>
            </a:xfrm>
            <a:custGeom>
              <a:avLst/>
              <a:gdLst/>
              <a:ahLst/>
              <a:cxnLst/>
              <a:rect r="r" b="b" t="t" l="l"/>
              <a:pathLst>
                <a:path h="2544826" w="6882511">
                  <a:moveTo>
                    <a:pt x="0" y="305435"/>
                  </a:moveTo>
                  <a:cubicBezTo>
                    <a:pt x="0" y="136779"/>
                    <a:pt x="136779" y="0"/>
                    <a:pt x="305435" y="0"/>
                  </a:cubicBezTo>
                  <a:lnTo>
                    <a:pt x="6577076" y="0"/>
                  </a:lnTo>
                  <a:cubicBezTo>
                    <a:pt x="6745732" y="0"/>
                    <a:pt x="6882511" y="136779"/>
                    <a:pt x="6882511" y="305435"/>
                  </a:cubicBezTo>
                  <a:lnTo>
                    <a:pt x="6882511" y="2239391"/>
                  </a:lnTo>
                  <a:cubicBezTo>
                    <a:pt x="6882511" y="2408047"/>
                    <a:pt x="6745732" y="2544826"/>
                    <a:pt x="6577076" y="2544826"/>
                  </a:cubicBezTo>
                  <a:lnTo>
                    <a:pt x="305435" y="2544826"/>
                  </a:lnTo>
                  <a:cubicBezTo>
                    <a:pt x="136779" y="2544826"/>
                    <a:pt x="0" y="2408047"/>
                    <a:pt x="0" y="223939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00798" y="3328445"/>
            <a:ext cx="673179" cy="453552"/>
            <a:chOff x="0" y="0"/>
            <a:chExt cx="897572" cy="6047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97509" cy="604647"/>
            </a:xfrm>
            <a:custGeom>
              <a:avLst/>
              <a:gdLst/>
              <a:ahLst/>
              <a:cxnLst/>
              <a:rect r="r" b="b" t="t" l="l"/>
              <a:pathLst>
                <a:path h="604647" w="89750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824992" y="0"/>
                  </a:lnTo>
                  <a:cubicBezTo>
                    <a:pt x="865124" y="0"/>
                    <a:pt x="897509" y="32512"/>
                    <a:pt x="897509" y="72517"/>
                  </a:cubicBezTo>
                  <a:lnTo>
                    <a:pt x="897509" y="532130"/>
                  </a:lnTo>
                  <a:cubicBezTo>
                    <a:pt x="897509" y="572262"/>
                    <a:pt x="864997" y="604647"/>
                    <a:pt x="824992" y="604647"/>
                  </a:cubicBezTo>
                  <a:lnTo>
                    <a:pt x="72517" y="604647"/>
                  </a:lnTo>
                  <a:cubicBezTo>
                    <a:pt x="32512" y="604774"/>
                    <a:pt x="0" y="572262"/>
                    <a:pt x="0" y="532130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207951" y="3369907"/>
            <a:ext cx="658882" cy="329441"/>
            <a:chOff x="0" y="0"/>
            <a:chExt cx="878510" cy="43925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78510" cy="439255"/>
            </a:xfrm>
            <a:custGeom>
              <a:avLst/>
              <a:gdLst/>
              <a:ahLst/>
              <a:cxnLst/>
              <a:rect r="r" b="b" t="t" l="l"/>
              <a:pathLst>
                <a:path h="439255" w="878510">
                  <a:moveTo>
                    <a:pt x="0" y="0"/>
                  </a:moveTo>
                  <a:lnTo>
                    <a:pt x="878510" y="0"/>
                  </a:lnTo>
                  <a:lnTo>
                    <a:pt x="878510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78510" cy="448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b="true">
                  <a:solidFill>
                    <a:srgbClr val="081522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01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77298" y="3344361"/>
            <a:ext cx="3669640" cy="3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LOAD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3690" y="3999043"/>
            <a:ext cx="4561875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Read synthetic CSV records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50307" y="3081366"/>
            <a:ext cx="5161817" cy="1908591"/>
            <a:chOff x="0" y="0"/>
            <a:chExt cx="6882422" cy="254478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82511" cy="2544826"/>
            </a:xfrm>
            <a:custGeom>
              <a:avLst/>
              <a:gdLst/>
              <a:ahLst/>
              <a:cxnLst/>
              <a:rect r="r" b="b" t="t" l="l"/>
              <a:pathLst>
                <a:path h="2544826" w="6882511">
                  <a:moveTo>
                    <a:pt x="0" y="305435"/>
                  </a:moveTo>
                  <a:cubicBezTo>
                    <a:pt x="0" y="136779"/>
                    <a:pt x="136779" y="0"/>
                    <a:pt x="305435" y="0"/>
                  </a:cubicBezTo>
                  <a:lnTo>
                    <a:pt x="6577076" y="0"/>
                  </a:lnTo>
                  <a:cubicBezTo>
                    <a:pt x="6745732" y="0"/>
                    <a:pt x="6882511" y="136779"/>
                    <a:pt x="6882511" y="305435"/>
                  </a:cubicBezTo>
                  <a:lnTo>
                    <a:pt x="6882511" y="2239391"/>
                  </a:lnTo>
                  <a:cubicBezTo>
                    <a:pt x="6882511" y="2408047"/>
                    <a:pt x="6745732" y="2544826"/>
                    <a:pt x="6577076" y="2544826"/>
                  </a:cubicBezTo>
                  <a:lnTo>
                    <a:pt x="305435" y="2544826"/>
                  </a:lnTo>
                  <a:cubicBezTo>
                    <a:pt x="136779" y="2544826"/>
                    <a:pt x="0" y="2408047"/>
                    <a:pt x="0" y="223939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897395" y="3328445"/>
            <a:ext cx="673179" cy="453552"/>
            <a:chOff x="0" y="0"/>
            <a:chExt cx="897572" cy="60473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97509" cy="604647"/>
            </a:xfrm>
            <a:custGeom>
              <a:avLst/>
              <a:gdLst/>
              <a:ahLst/>
              <a:cxnLst/>
              <a:rect r="r" b="b" t="t" l="l"/>
              <a:pathLst>
                <a:path h="604647" w="89750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824992" y="0"/>
                  </a:lnTo>
                  <a:cubicBezTo>
                    <a:pt x="865124" y="0"/>
                    <a:pt x="897509" y="32512"/>
                    <a:pt x="897509" y="72517"/>
                  </a:cubicBezTo>
                  <a:lnTo>
                    <a:pt x="897509" y="532130"/>
                  </a:lnTo>
                  <a:cubicBezTo>
                    <a:pt x="897509" y="572262"/>
                    <a:pt x="864997" y="604647"/>
                    <a:pt x="824992" y="604647"/>
                  </a:cubicBezTo>
                  <a:lnTo>
                    <a:pt x="72517" y="604647"/>
                  </a:lnTo>
                  <a:cubicBezTo>
                    <a:pt x="32512" y="604774"/>
                    <a:pt x="0" y="572262"/>
                    <a:pt x="0" y="532130"/>
                  </a:cubicBezTo>
                  <a:close/>
                </a:path>
              </a:pathLst>
            </a:custGeom>
            <a:solidFill>
              <a:srgbClr val="AA91FF"/>
            </a:solidFill>
            <a:ln w="14299" cap="sq">
              <a:solidFill>
                <a:srgbClr val="AA91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904539" y="3369907"/>
            <a:ext cx="658882" cy="329441"/>
            <a:chOff x="0" y="0"/>
            <a:chExt cx="878510" cy="43925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78510" cy="439255"/>
            </a:xfrm>
            <a:custGeom>
              <a:avLst/>
              <a:gdLst/>
              <a:ahLst/>
              <a:cxnLst/>
              <a:rect r="r" b="b" t="t" l="l"/>
              <a:pathLst>
                <a:path h="439255" w="878510">
                  <a:moveTo>
                    <a:pt x="0" y="0"/>
                  </a:moveTo>
                  <a:lnTo>
                    <a:pt x="878510" y="0"/>
                  </a:lnTo>
                  <a:lnTo>
                    <a:pt x="878510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878510" cy="448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b="true">
                  <a:solidFill>
                    <a:srgbClr val="081522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02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773886" y="3344361"/>
            <a:ext cx="3669640" cy="3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SELECT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950288" y="3999043"/>
            <a:ext cx="4561875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Choose a student and indicators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346905" y="3081366"/>
            <a:ext cx="5161817" cy="1908591"/>
            <a:chOff x="0" y="0"/>
            <a:chExt cx="6882422" cy="254478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882511" cy="2544826"/>
            </a:xfrm>
            <a:custGeom>
              <a:avLst/>
              <a:gdLst/>
              <a:ahLst/>
              <a:cxnLst/>
              <a:rect r="r" b="b" t="t" l="l"/>
              <a:pathLst>
                <a:path h="2544826" w="6882511">
                  <a:moveTo>
                    <a:pt x="0" y="305435"/>
                  </a:moveTo>
                  <a:cubicBezTo>
                    <a:pt x="0" y="136779"/>
                    <a:pt x="136779" y="0"/>
                    <a:pt x="305435" y="0"/>
                  </a:cubicBezTo>
                  <a:lnTo>
                    <a:pt x="6577076" y="0"/>
                  </a:lnTo>
                  <a:cubicBezTo>
                    <a:pt x="6745732" y="0"/>
                    <a:pt x="6882511" y="136779"/>
                    <a:pt x="6882511" y="305435"/>
                  </a:cubicBezTo>
                  <a:lnTo>
                    <a:pt x="6882511" y="2239391"/>
                  </a:lnTo>
                  <a:cubicBezTo>
                    <a:pt x="6882511" y="2408047"/>
                    <a:pt x="6745732" y="2544826"/>
                    <a:pt x="6577076" y="2544826"/>
                  </a:cubicBezTo>
                  <a:lnTo>
                    <a:pt x="305435" y="2544826"/>
                  </a:lnTo>
                  <a:cubicBezTo>
                    <a:pt x="136779" y="2544826"/>
                    <a:pt x="0" y="2408047"/>
                    <a:pt x="0" y="223939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2593984" y="3328445"/>
            <a:ext cx="673179" cy="453552"/>
            <a:chOff x="0" y="0"/>
            <a:chExt cx="897572" cy="604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97509" cy="604647"/>
            </a:xfrm>
            <a:custGeom>
              <a:avLst/>
              <a:gdLst/>
              <a:ahLst/>
              <a:cxnLst/>
              <a:rect r="r" b="b" t="t" l="l"/>
              <a:pathLst>
                <a:path h="604647" w="89750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824992" y="0"/>
                  </a:lnTo>
                  <a:cubicBezTo>
                    <a:pt x="865124" y="0"/>
                    <a:pt x="897509" y="32512"/>
                    <a:pt x="897509" y="72517"/>
                  </a:cubicBezTo>
                  <a:lnTo>
                    <a:pt x="897509" y="532130"/>
                  </a:lnTo>
                  <a:cubicBezTo>
                    <a:pt x="897509" y="572262"/>
                    <a:pt x="864997" y="604647"/>
                    <a:pt x="824992" y="604647"/>
                  </a:cubicBezTo>
                  <a:lnTo>
                    <a:pt x="72517" y="604647"/>
                  </a:lnTo>
                  <a:cubicBezTo>
                    <a:pt x="32512" y="604774"/>
                    <a:pt x="0" y="572262"/>
                    <a:pt x="0" y="532130"/>
                  </a:cubicBezTo>
                  <a:close/>
                </a:path>
              </a:pathLst>
            </a:custGeom>
            <a:solidFill>
              <a:srgbClr val="FFC55C"/>
            </a:solidFill>
            <a:ln w="14299" cap="sq">
              <a:solidFill>
                <a:srgbClr val="FFC55C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601137" y="3369907"/>
            <a:ext cx="658882" cy="329441"/>
            <a:chOff x="0" y="0"/>
            <a:chExt cx="878510" cy="43925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78510" cy="439255"/>
            </a:xfrm>
            <a:custGeom>
              <a:avLst/>
              <a:gdLst/>
              <a:ahLst/>
              <a:cxnLst/>
              <a:rect r="r" b="b" t="t" l="l"/>
              <a:pathLst>
                <a:path h="439255" w="878510">
                  <a:moveTo>
                    <a:pt x="0" y="0"/>
                  </a:moveTo>
                  <a:lnTo>
                    <a:pt x="878510" y="0"/>
                  </a:lnTo>
                  <a:lnTo>
                    <a:pt x="878510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878510" cy="448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b="true">
                  <a:solidFill>
                    <a:srgbClr val="081522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03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3470474" y="3344361"/>
            <a:ext cx="3669640" cy="3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ORCHESTRATE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646876" y="3999043"/>
            <a:ext cx="4561875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Coordinate specialized agent tasks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53719" y="5620807"/>
            <a:ext cx="5161817" cy="1908591"/>
            <a:chOff x="0" y="0"/>
            <a:chExt cx="6882422" cy="254478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882511" cy="2544826"/>
            </a:xfrm>
            <a:custGeom>
              <a:avLst/>
              <a:gdLst/>
              <a:ahLst/>
              <a:cxnLst/>
              <a:rect r="r" b="b" t="t" l="l"/>
              <a:pathLst>
                <a:path h="2544826" w="6882511">
                  <a:moveTo>
                    <a:pt x="0" y="305435"/>
                  </a:moveTo>
                  <a:cubicBezTo>
                    <a:pt x="0" y="136779"/>
                    <a:pt x="136779" y="0"/>
                    <a:pt x="305435" y="0"/>
                  </a:cubicBezTo>
                  <a:lnTo>
                    <a:pt x="6577076" y="0"/>
                  </a:lnTo>
                  <a:cubicBezTo>
                    <a:pt x="6745732" y="0"/>
                    <a:pt x="6882511" y="136779"/>
                    <a:pt x="6882511" y="305435"/>
                  </a:cubicBezTo>
                  <a:lnTo>
                    <a:pt x="6882511" y="2239391"/>
                  </a:lnTo>
                  <a:cubicBezTo>
                    <a:pt x="6882511" y="2408047"/>
                    <a:pt x="6745732" y="2544826"/>
                    <a:pt x="6577076" y="2544826"/>
                  </a:cubicBezTo>
                  <a:lnTo>
                    <a:pt x="305435" y="2544826"/>
                  </a:lnTo>
                  <a:cubicBezTo>
                    <a:pt x="136779" y="2544826"/>
                    <a:pt x="0" y="2408047"/>
                    <a:pt x="0" y="223939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00798" y="5867886"/>
            <a:ext cx="673179" cy="453552"/>
            <a:chOff x="0" y="0"/>
            <a:chExt cx="897572" cy="6047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97509" cy="604647"/>
            </a:xfrm>
            <a:custGeom>
              <a:avLst/>
              <a:gdLst/>
              <a:ahLst/>
              <a:cxnLst/>
              <a:rect r="r" b="b" t="t" l="l"/>
              <a:pathLst>
                <a:path h="604647" w="89750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824992" y="0"/>
                  </a:lnTo>
                  <a:cubicBezTo>
                    <a:pt x="865124" y="0"/>
                    <a:pt x="897509" y="32512"/>
                    <a:pt x="897509" y="72517"/>
                  </a:cubicBezTo>
                  <a:lnTo>
                    <a:pt x="897509" y="532130"/>
                  </a:lnTo>
                  <a:cubicBezTo>
                    <a:pt x="897509" y="572262"/>
                    <a:pt x="864997" y="604647"/>
                    <a:pt x="824992" y="604647"/>
                  </a:cubicBezTo>
                  <a:lnTo>
                    <a:pt x="72517" y="604647"/>
                  </a:lnTo>
                  <a:cubicBezTo>
                    <a:pt x="32512" y="604774"/>
                    <a:pt x="0" y="572262"/>
                    <a:pt x="0" y="532130"/>
                  </a:cubicBez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07951" y="5909358"/>
            <a:ext cx="658882" cy="329441"/>
            <a:chOff x="0" y="0"/>
            <a:chExt cx="878510" cy="439255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78510" cy="439255"/>
            </a:xfrm>
            <a:custGeom>
              <a:avLst/>
              <a:gdLst/>
              <a:ahLst/>
              <a:cxnLst/>
              <a:rect r="r" b="b" t="t" l="l"/>
              <a:pathLst>
                <a:path h="439255" w="878510">
                  <a:moveTo>
                    <a:pt x="0" y="0"/>
                  </a:moveTo>
                  <a:lnTo>
                    <a:pt x="878510" y="0"/>
                  </a:lnTo>
                  <a:lnTo>
                    <a:pt x="878510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878510" cy="448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b="true">
                  <a:solidFill>
                    <a:srgbClr val="081522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04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2077298" y="5883802"/>
            <a:ext cx="3669640" cy="3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ASSESS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53690" y="6538484"/>
            <a:ext cx="4561875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Python rules classify risk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6650307" y="5620807"/>
            <a:ext cx="5161817" cy="1908591"/>
            <a:chOff x="0" y="0"/>
            <a:chExt cx="6882422" cy="254478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82511" cy="2544826"/>
            </a:xfrm>
            <a:custGeom>
              <a:avLst/>
              <a:gdLst/>
              <a:ahLst/>
              <a:cxnLst/>
              <a:rect r="r" b="b" t="t" l="l"/>
              <a:pathLst>
                <a:path h="2544826" w="6882511">
                  <a:moveTo>
                    <a:pt x="0" y="305435"/>
                  </a:moveTo>
                  <a:cubicBezTo>
                    <a:pt x="0" y="136779"/>
                    <a:pt x="136779" y="0"/>
                    <a:pt x="305435" y="0"/>
                  </a:cubicBezTo>
                  <a:lnTo>
                    <a:pt x="6577076" y="0"/>
                  </a:lnTo>
                  <a:cubicBezTo>
                    <a:pt x="6745732" y="0"/>
                    <a:pt x="6882511" y="136779"/>
                    <a:pt x="6882511" y="305435"/>
                  </a:cubicBezTo>
                  <a:lnTo>
                    <a:pt x="6882511" y="2239391"/>
                  </a:lnTo>
                  <a:cubicBezTo>
                    <a:pt x="6882511" y="2408047"/>
                    <a:pt x="6745732" y="2544826"/>
                    <a:pt x="6577076" y="2544826"/>
                  </a:cubicBezTo>
                  <a:lnTo>
                    <a:pt x="305435" y="2544826"/>
                  </a:lnTo>
                  <a:cubicBezTo>
                    <a:pt x="136779" y="2544826"/>
                    <a:pt x="0" y="2408047"/>
                    <a:pt x="0" y="223939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6897395" y="5867886"/>
            <a:ext cx="673179" cy="453552"/>
            <a:chOff x="0" y="0"/>
            <a:chExt cx="897572" cy="60473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97509" cy="604647"/>
            </a:xfrm>
            <a:custGeom>
              <a:avLst/>
              <a:gdLst/>
              <a:ahLst/>
              <a:cxnLst/>
              <a:rect r="r" b="b" t="t" l="l"/>
              <a:pathLst>
                <a:path h="604647" w="89750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824992" y="0"/>
                  </a:lnTo>
                  <a:cubicBezTo>
                    <a:pt x="865124" y="0"/>
                    <a:pt x="897509" y="32512"/>
                    <a:pt x="897509" y="72517"/>
                  </a:cubicBezTo>
                  <a:lnTo>
                    <a:pt x="897509" y="532130"/>
                  </a:lnTo>
                  <a:cubicBezTo>
                    <a:pt x="897509" y="572262"/>
                    <a:pt x="864997" y="604647"/>
                    <a:pt x="824992" y="604647"/>
                  </a:cubicBezTo>
                  <a:lnTo>
                    <a:pt x="72517" y="604647"/>
                  </a:lnTo>
                  <a:cubicBezTo>
                    <a:pt x="32512" y="604774"/>
                    <a:pt x="0" y="572262"/>
                    <a:pt x="0" y="532130"/>
                  </a:cubicBez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6904539" y="5909358"/>
            <a:ext cx="658882" cy="329441"/>
            <a:chOff x="0" y="0"/>
            <a:chExt cx="878510" cy="43925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78510" cy="439255"/>
            </a:xfrm>
            <a:custGeom>
              <a:avLst/>
              <a:gdLst/>
              <a:ahLst/>
              <a:cxnLst/>
              <a:rect r="r" b="b" t="t" l="l"/>
              <a:pathLst>
                <a:path h="439255" w="878510">
                  <a:moveTo>
                    <a:pt x="0" y="0"/>
                  </a:moveTo>
                  <a:lnTo>
                    <a:pt x="878510" y="0"/>
                  </a:lnTo>
                  <a:lnTo>
                    <a:pt x="878510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878510" cy="448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b="true">
                  <a:solidFill>
                    <a:srgbClr val="081522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05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7773886" y="5883802"/>
            <a:ext cx="3669640" cy="3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VALIDATE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6950288" y="6538484"/>
            <a:ext cx="4561875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Check result structure and consistency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2346905" y="5620807"/>
            <a:ext cx="5161817" cy="1908591"/>
            <a:chOff x="0" y="0"/>
            <a:chExt cx="6882422" cy="2544788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6882511" cy="2544826"/>
            </a:xfrm>
            <a:custGeom>
              <a:avLst/>
              <a:gdLst/>
              <a:ahLst/>
              <a:cxnLst/>
              <a:rect r="r" b="b" t="t" l="l"/>
              <a:pathLst>
                <a:path h="2544826" w="6882511">
                  <a:moveTo>
                    <a:pt x="0" y="305435"/>
                  </a:moveTo>
                  <a:cubicBezTo>
                    <a:pt x="0" y="136779"/>
                    <a:pt x="136779" y="0"/>
                    <a:pt x="305435" y="0"/>
                  </a:cubicBezTo>
                  <a:lnTo>
                    <a:pt x="6577076" y="0"/>
                  </a:lnTo>
                  <a:cubicBezTo>
                    <a:pt x="6745732" y="0"/>
                    <a:pt x="6882511" y="136779"/>
                    <a:pt x="6882511" y="305435"/>
                  </a:cubicBezTo>
                  <a:lnTo>
                    <a:pt x="6882511" y="2239391"/>
                  </a:lnTo>
                  <a:cubicBezTo>
                    <a:pt x="6882511" y="2408047"/>
                    <a:pt x="6745732" y="2544826"/>
                    <a:pt x="6577076" y="2544826"/>
                  </a:cubicBezTo>
                  <a:lnTo>
                    <a:pt x="305435" y="2544826"/>
                  </a:lnTo>
                  <a:cubicBezTo>
                    <a:pt x="136779" y="2544826"/>
                    <a:pt x="0" y="2408047"/>
                    <a:pt x="0" y="2239391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2593984" y="5867886"/>
            <a:ext cx="673179" cy="453552"/>
            <a:chOff x="0" y="0"/>
            <a:chExt cx="897572" cy="60473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97509" cy="604647"/>
            </a:xfrm>
            <a:custGeom>
              <a:avLst/>
              <a:gdLst/>
              <a:ahLst/>
              <a:cxnLst/>
              <a:rect r="r" b="b" t="t" l="l"/>
              <a:pathLst>
                <a:path h="604647" w="89750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824992" y="0"/>
                  </a:lnTo>
                  <a:cubicBezTo>
                    <a:pt x="865124" y="0"/>
                    <a:pt x="897509" y="32512"/>
                    <a:pt x="897509" y="72517"/>
                  </a:cubicBezTo>
                  <a:lnTo>
                    <a:pt x="897509" y="532130"/>
                  </a:lnTo>
                  <a:cubicBezTo>
                    <a:pt x="897509" y="572262"/>
                    <a:pt x="864997" y="604647"/>
                    <a:pt x="824992" y="604647"/>
                  </a:cubicBezTo>
                  <a:lnTo>
                    <a:pt x="72517" y="604647"/>
                  </a:lnTo>
                  <a:cubicBezTo>
                    <a:pt x="32512" y="604774"/>
                    <a:pt x="0" y="572262"/>
                    <a:pt x="0" y="532130"/>
                  </a:cubicBezTo>
                  <a:close/>
                </a:path>
              </a:pathLst>
            </a:custGeom>
            <a:solidFill>
              <a:srgbClr val="4FDC97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2601137" y="5909358"/>
            <a:ext cx="658882" cy="329441"/>
            <a:chOff x="0" y="0"/>
            <a:chExt cx="878510" cy="439255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78510" cy="439255"/>
            </a:xfrm>
            <a:custGeom>
              <a:avLst/>
              <a:gdLst/>
              <a:ahLst/>
              <a:cxnLst/>
              <a:rect r="r" b="b" t="t" l="l"/>
              <a:pathLst>
                <a:path h="439255" w="878510">
                  <a:moveTo>
                    <a:pt x="0" y="0"/>
                  </a:moveTo>
                  <a:lnTo>
                    <a:pt x="878510" y="0"/>
                  </a:lnTo>
                  <a:lnTo>
                    <a:pt x="878510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878510" cy="448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b="true">
                  <a:solidFill>
                    <a:srgbClr val="081522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06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13470474" y="5883802"/>
            <a:ext cx="3669640" cy="3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RECOMMEND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2646876" y="6538484"/>
            <a:ext cx="4561875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Prepare a draft for faculty review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953719" y="8503415"/>
            <a:ext cx="16417738" cy="590817"/>
            <a:chOff x="0" y="0"/>
            <a:chExt cx="21890317" cy="78775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890228" cy="787781"/>
            </a:xfrm>
            <a:custGeom>
              <a:avLst/>
              <a:gdLst/>
              <a:ahLst/>
              <a:cxnLst/>
              <a:rect r="r" b="b" t="t" l="l"/>
              <a:pathLst>
                <a:path h="787781" w="21890228">
                  <a:moveTo>
                    <a:pt x="0" y="94488"/>
                  </a:moveTo>
                  <a:cubicBezTo>
                    <a:pt x="0" y="42291"/>
                    <a:pt x="42291" y="0"/>
                    <a:pt x="94488" y="0"/>
                  </a:cubicBezTo>
                  <a:lnTo>
                    <a:pt x="21795739" y="0"/>
                  </a:lnTo>
                  <a:cubicBezTo>
                    <a:pt x="21847936" y="0"/>
                    <a:pt x="21890228" y="42291"/>
                    <a:pt x="21890228" y="94488"/>
                  </a:cubicBezTo>
                  <a:lnTo>
                    <a:pt x="21890228" y="693293"/>
                  </a:lnTo>
                  <a:cubicBezTo>
                    <a:pt x="21890228" y="745490"/>
                    <a:pt x="21847936" y="787781"/>
                    <a:pt x="21795739" y="787781"/>
                  </a:cubicBezTo>
                  <a:lnTo>
                    <a:pt x="94488" y="787781"/>
                  </a:lnTo>
                  <a:cubicBezTo>
                    <a:pt x="42291" y="787781"/>
                    <a:pt x="0" y="745490"/>
                    <a:pt x="0" y="693293"/>
                  </a:cubicBezTo>
                  <a:close/>
                </a:path>
              </a:pathLst>
            </a:custGeom>
            <a:solidFill>
              <a:srgbClr val="113042"/>
            </a:solidFill>
            <a:ln w="14299" cap="sq">
              <a:solidFill>
                <a:srgbClr val="235A71"/>
              </a:solidFill>
              <a:prstDash val="solid"/>
              <a:miter/>
            </a:ln>
          </p:spPr>
        </p:sp>
      </p:grpSp>
      <p:sp>
        <p:nvSpPr>
          <p:cNvPr name="TextBox 64" id="64"/>
          <p:cNvSpPr txBox="true"/>
          <p:nvPr/>
        </p:nvSpPr>
        <p:spPr>
          <a:xfrm rot="0">
            <a:off x="1185062" y="8611219"/>
            <a:ext cx="15955061" cy="265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Data used in this demonstration is synthetic; risk labels are illustrative triage outputs.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04 • AGENTS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Agent roles &amp; responsibilities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Specialized roles separate planning, execution, critique, readiness checks and follow-up preparation.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05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3719" y="3081366"/>
            <a:ext cx="5161817" cy="1963493"/>
            <a:chOff x="0" y="0"/>
            <a:chExt cx="6882422" cy="261799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82511" cy="2617978"/>
            </a:xfrm>
            <a:custGeom>
              <a:avLst/>
              <a:gdLst/>
              <a:ahLst/>
              <a:cxnLst/>
              <a:rect r="r" b="b" t="t" l="l"/>
              <a:pathLst>
                <a:path h="2617978" w="6882511">
                  <a:moveTo>
                    <a:pt x="0" y="314198"/>
                  </a:moveTo>
                  <a:cubicBezTo>
                    <a:pt x="0" y="140716"/>
                    <a:pt x="140716" y="0"/>
                    <a:pt x="314198" y="0"/>
                  </a:cubicBezTo>
                  <a:lnTo>
                    <a:pt x="6568313" y="0"/>
                  </a:lnTo>
                  <a:cubicBezTo>
                    <a:pt x="6741795" y="0"/>
                    <a:pt x="6882511" y="140716"/>
                    <a:pt x="6882511" y="314198"/>
                  </a:cubicBezTo>
                  <a:lnTo>
                    <a:pt x="6882511" y="2303780"/>
                  </a:lnTo>
                  <a:cubicBezTo>
                    <a:pt x="6882511" y="2477262"/>
                    <a:pt x="6741795" y="2617978"/>
                    <a:pt x="6568313" y="2617978"/>
                  </a:cubicBezTo>
                  <a:lnTo>
                    <a:pt x="314198" y="2617978"/>
                  </a:lnTo>
                  <a:cubicBezTo>
                    <a:pt x="140716" y="2617978"/>
                    <a:pt x="0" y="2477389"/>
                    <a:pt x="0" y="2303780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3719" y="3081366"/>
            <a:ext cx="124111" cy="1963493"/>
            <a:chOff x="0" y="0"/>
            <a:chExt cx="165481" cy="261799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5481" cy="2617978"/>
            </a:xfrm>
            <a:custGeom>
              <a:avLst/>
              <a:gdLst/>
              <a:ahLst/>
              <a:cxnLst/>
              <a:rect r="r" b="b" t="t" l="l"/>
              <a:pathLst>
                <a:path h="2617978" w="165481">
                  <a:moveTo>
                    <a:pt x="0" y="0"/>
                  </a:moveTo>
                  <a:lnTo>
                    <a:pt x="165481" y="0"/>
                  </a:lnTo>
                  <a:lnTo>
                    <a:pt x="165481" y="2617978"/>
                  </a:lnTo>
                  <a:lnTo>
                    <a:pt x="0" y="2617978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322327" y="3408788"/>
            <a:ext cx="4355973" cy="40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Planner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2327" y="4040219"/>
            <a:ext cx="4355973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Organizes the workflow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and analysis steps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650307" y="3081366"/>
            <a:ext cx="5161817" cy="1963493"/>
            <a:chOff x="0" y="0"/>
            <a:chExt cx="6882422" cy="261799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882511" cy="2617978"/>
            </a:xfrm>
            <a:custGeom>
              <a:avLst/>
              <a:gdLst/>
              <a:ahLst/>
              <a:cxnLst/>
              <a:rect r="r" b="b" t="t" l="l"/>
              <a:pathLst>
                <a:path h="2617978" w="6882511">
                  <a:moveTo>
                    <a:pt x="0" y="314198"/>
                  </a:moveTo>
                  <a:cubicBezTo>
                    <a:pt x="0" y="140716"/>
                    <a:pt x="140716" y="0"/>
                    <a:pt x="314198" y="0"/>
                  </a:cubicBezTo>
                  <a:lnTo>
                    <a:pt x="6568313" y="0"/>
                  </a:lnTo>
                  <a:cubicBezTo>
                    <a:pt x="6741795" y="0"/>
                    <a:pt x="6882511" y="140716"/>
                    <a:pt x="6882511" y="314198"/>
                  </a:cubicBezTo>
                  <a:lnTo>
                    <a:pt x="6882511" y="2303780"/>
                  </a:lnTo>
                  <a:cubicBezTo>
                    <a:pt x="6882511" y="2477262"/>
                    <a:pt x="6741795" y="2617978"/>
                    <a:pt x="6568313" y="2617978"/>
                  </a:cubicBezTo>
                  <a:lnTo>
                    <a:pt x="314198" y="2617978"/>
                  </a:lnTo>
                  <a:cubicBezTo>
                    <a:pt x="140716" y="2617978"/>
                    <a:pt x="0" y="2477389"/>
                    <a:pt x="0" y="2303780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6650307" y="3081366"/>
            <a:ext cx="124111" cy="1963493"/>
            <a:chOff x="0" y="0"/>
            <a:chExt cx="165481" cy="261799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5481" cy="2617978"/>
            </a:xfrm>
            <a:custGeom>
              <a:avLst/>
              <a:gdLst/>
              <a:ahLst/>
              <a:cxnLst/>
              <a:rect r="r" b="b" t="t" l="l"/>
              <a:pathLst>
                <a:path h="2617978" w="165481">
                  <a:moveTo>
                    <a:pt x="0" y="0"/>
                  </a:moveTo>
                  <a:lnTo>
                    <a:pt x="165481" y="0"/>
                  </a:lnTo>
                  <a:lnTo>
                    <a:pt x="165481" y="2617978"/>
                  </a:lnTo>
                  <a:lnTo>
                    <a:pt x="0" y="2617978"/>
                  </a:lnTo>
                  <a:close/>
                </a:path>
              </a:pathLst>
            </a:custGeom>
            <a:solidFill>
              <a:srgbClr val="AA91FF"/>
            </a:solidFill>
            <a:ln w="14299" cap="sq">
              <a:solidFill>
                <a:srgbClr val="AA91FF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7018915" y="3408788"/>
            <a:ext cx="4355973" cy="40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Research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018915" y="4040219"/>
            <a:ext cx="4355973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Examines academic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indicators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346905" y="3081366"/>
            <a:ext cx="5161817" cy="1963493"/>
            <a:chOff x="0" y="0"/>
            <a:chExt cx="6882422" cy="2617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82511" cy="2617978"/>
            </a:xfrm>
            <a:custGeom>
              <a:avLst/>
              <a:gdLst/>
              <a:ahLst/>
              <a:cxnLst/>
              <a:rect r="r" b="b" t="t" l="l"/>
              <a:pathLst>
                <a:path h="2617978" w="6882511">
                  <a:moveTo>
                    <a:pt x="0" y="314198"/>
                  </a:moveTo>
                  <a:cubicBezTo>
                    <a:pt x="0" y="140716"/>
                    <a:pt x="140716" y="0"/>
                    <a:pt x="314198" y="0"/>
                  </a:cubicBezTo>
                  <a:lnTo>
                    <a:pt x="6568313" y="0"/>
                  </a:lnTo>
                  <a:cubicBezTo>
                    <a:pt x="6741795" y="0"/>
                    <a:pt x="6882511" y="140716"/>
                    <a:pt x="6882511" y="314198"/>
                  </a:cubicBezTo>
                  <a:lnTo>
                    <a:pt x="6882511" y="2303780"/>
                  </a:lnTo>
                  <a:cubicBezTo>
                    <a:pt x="6882511" y="2477262"/>
                    <a:pt x="6741795" y="2617978"/>
                    <a:pt x="6568313" y="2617978"/>
                  </a:cubicBezTo>
                  <a:lnTo>
                    <a:pt x="314198" y="2617978"/>
                  </a:lnTo>
                  <a:cubicBezTo>
                    <a:pt x="140716" y="2617978"/>
                    <a:pt x="0" y="2477389"/>
                    <a:pt x="0" y="2303780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2346905" y="3081366"/>
            <a:ext cx="124111" cy="1963493"/>
            <a:chOff x="0" y="0"/>
            <a:chExt cx="165481" cy="261799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5481" cy="2617978"/>
            </a:xfrm>
            <a:custGeom>
              <a:avLst/>
              <a:gdLst/>
              <a:ahLst/>
              <a:cxnLst/>
              <a:rect r="r" b="b" t="t" l="l"/>
              <a:pathLst>
                <a:path h="2617978" w="165481">
                  <a:moveTo>
                    <a:pt x="0" y="0"/>
                  </a:moveTo>
                  <a:lnTo>
                    <a:pt x="165481" y="0"/>
                  </a:lnTo>
                  <a:lnTo>
                    <a:pt x="165481" y="2617978"/>
                  </a:lnTo>
                  <a:lnTo>
                    <a:pt x="0" y="2617978"/>
                  </a:lnTo>
                  <a:close/>
                </a:path>
              </a:pathLst>
            </a:custGeom>
            <a:solidFill>
              <a:srgbClr val="FFC55C"/>
            </a:solidFill>
            <a:ln w="14299" cap="sq">
              <a:solidFill>
                <a:srgbClr val="FFC55C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715504" y="3408788"/>
            <a:ext cx="4355973" cy="40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Executor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715504" y="4040219"/>
            <a:ext cx="4355973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Applies Python rules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and structures results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53719" y="5620807"/>
            <a:ext cx="5161817" cy="1963493"/>
            <a:chOff x="0" y="0"/>
            <a:chExt cx="6882422" cy="2617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882511" cy="2617978"/>
            </a:xfrm>
            <a:custGeom>
              <a:avLst/>
              <a:gdLst/>
              <a:ahLst/>
              <a:cxnLst/>
              <a:rect r="r" b="b" t="t" l="l"/>
              <a:pathLst>
                <a:path h="2617978" w="6882511">
                  <a:moveTo>
                    <a:pt x="0" y="314198"/>
                  </a:moveTo>
                  <a:cubicBezTo>
                    <a:pt x="0" y="140716"/>
                    <a:pt x="140716" y="0"/>
                    <a:pt x="314198" y="0"/>
                  </a:cubicBezTo>
                  <a:lnTo>
                    <a:pt x="6568313" y="0"/>
                  </a:lnTo>
                  <a:cubicBezTo>
                    <a:pt x="6741795" y="0"/>
                    <a:pt x="6882511" y="140716"/>
                    <a:pt x="6882511" y="314198"/>
                  </a:cubicBezTo>
                  <a:lnTo>
                    <a:pt x="6882511" y="2303780"/>
                  </a:lnTo>
                  <a:cubicBezTo>
                    <a:pt x="6882511" y="2477262"/>
                    <a:pt x="6741795" y="2617978"/>
                    <a:pt x="6568313" y="2617978"/>
                  </a:cubicBezTo>
                  <a:lnTo>
                    <a:pt x="314198" y="2617978"/>
                  </a:lnTo>
                  <a:cubicBezTo>
                    <a:pt x="140716" y="2617978"/>
                    <a:pt x="0" y="2477389"/>
                    <a:pt x="0" y="2303780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53719" y="5620807"/>
            <a:ext cx="124111" cy="1963493"/>
            <a:chOff x="0" y="0"/>
            <a:chExt cx="165481" cy="2617991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5481" cy="2617978"/>
            </a:xfrm>
            <a:custGeom>
              <a:avLst/>
              <a:gdLst/>
              <a:ahLst/>
              <a:cxnLst/>
              <a:rect r="r" b="b" t="t" l="l"/>
              <a:pathLst>
                <a:path h="2617978" w="165481">
                  <a:moveTo>
                    <a:pt x="0" y="0"/>
                  </a:moveTo>
                  <a:lnTo>
                    <a:pt x="165481" y="0"/>
                  </a:lnTo>
                  <a:lnTo>
                    <a:pt x="165481" y="2617978"/>
                  </a:lnTo>
                  <a:lnTo>
                    <a:pt x="0" y="2617978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322327" y="5948229"/>
            <a:ext cx="4355973" cy="40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Critic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22327" y="6579660"/>
            <a:ext cx="4355973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Reviews consistency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of results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650307" y="5620807"/>
            <a:ext cx="5161817" cy="1963493"/>
            <a:chOff x="0" y="0"/>
            <a:chExt cx="6882422" cy="261799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82511" cy="2617978"/>
            </a:xfrm>
            <a:custGeom>
              <a:avLst/>
              <a:gdLst/>
              <a:ahLst/>
              <a:cxnLst/>
              <a:rect r="r" b="b" t="t" l="l"/>
              <a:pathLst>
                <a:path h="2617978" w="6882511">
                  <a:moveTo>
                    <a:pt x="0" y="314198"/>
                  </a:moveTo>
                  <a:cubicBezTo>
                    <a:pt x="0" y="140716"/>
                    <a:pt x="140716" y="0"/>
                    <a:pt x="314198" y="0"/>
                  </a:cubicBezTo>
                  <a:lnTo>
                    <a:pt x="6568313" y="0"/>
                  </a:lnTo>
                  <a:cubicBezTo>
                    <a:pt x="6741795" y="0"/>
                    <a:pt x="6882511" y="140716"/>
                    <a:pt x="6882511" y="314198"/>
                  </a:cubicBezTo>
                  <a:lnTo>
                    <a:pt x="6882511" y="2303780"/>
                  </a:lnTo>
                  <a:cubicBezTo>
                    <a:pt x="6882511" y="2477262"/>
                    <a:pt x="6741795" y="2617978"/>
                    <a:pt x="6568313" y="2617978"/>
                  </a:cubicBezTo>
                  <a:lnTo>
                    <a:pt x="314198" y="2617978"/>
                  </a:lnTo>
                  <a:cubicBezTo>
                    <a:pt x="140716" y="2617978"/>
                    <a:pt x="0" y="2477389"/>
                    <a:pt x="0" y="2303780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650307" y="5620807"/>
            <a:ext cx="124111" cy="1963493"/>
            <a:chOff x="0" y="0"/>
            <a:chExt cx="165481" cy="261799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65481" cy="2617978"/>
            </a:xfrm>
            <a:custGeom>
              <a:avLst/>
              <a:gdLst/>
              <a:ahLst/>
              <a:cxnLst/>
              <a:rect r="r" b="b" t="t" l="l"/>
              <a:pathLst>
                <a:path h="2617978" w="165481">
                  <a:moveTo>
                    <a:pt x="0" y="0"/>
                  </a:moveTo>
                  <a:lnTo>
                    <a:pt x="165481" y="0"/>
                  </a:lnTo>
                  <a:lnTo>
                    <a:pt x="165481" y="2617978"/>
                  </a:lnTo>
                  <a:lnTo>
                    <a:pt x="0" y="2617978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7018915" y="5948229"/>
            <a:ext cx="4355973" cy="40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Software Development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018915" y="6579660"/>
            <a:ext cx="4355973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Checks schema, required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fields and record IDs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2346905" y="5620807"/>
            <a:ext cx="5161817" cy="1963493"/>
            <a:chOff x="0" y="0"/>
            <a:chExt cx="6882422" cy="261799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882511" cy="2617978"/>
            </a:xfrm>
            <a:custGeom>
              <a:avLst/>
              <a:gdLst/>
              <a:ahLst/>
              <a:cxnLst/>
              <a:rect r="r" b="b" t="t" l="l"/>
              <a:pathLst>
                <a:path h="2617978" w="6882511">
                  <a:moveTo>
                    <a:pt x="0" y="314198"/>
                  </a:moveTo>
                  <a:cubicBezTo>
                    <a:pt x="0" y="140716"/>
                    <a:pt x="140716" y="0"/>
                    <a:pt x="314198" y="0"/>
                  </a:cubicBezTo>
                  <a:lnTo>
                    <a:pt x="6568313" y="0"/>
                  </a:lnTo>
                  <a:cubicBezTo>
                    <a:pt x="6741795" y="0"/>
                    <a:pt x="6882511" y="140716"/>
                    <a:pt x="6882511" y="314198"/>
                  </a:cubicBezTo>
                  <a:lnTo>
                    <a:pt x="6882511" y="2303780"/>
                  </a:lnTo>
                  <a:cubicBezTo>
                    <a:pt x="6882511" y="2477262"/>
                    <a:pt x="6741795" y="2617978"/>
                    <a:pt x="6568313" y="2617978"/>
                  </a:cubicBezTo>
                  <a:lnTo>
                    <a:pt x="314198" y="2617978"/>
                  </a:lnTo>
                  <a:cubicBezTo>
                    <a:pt x="140716" y="2617978"/>
                    <a:pt x="0" y="2477389"/>
                    <a:pt x="0" y="2303780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346905" y="5620807"/>
            <a:ext cx="124111" cy="1963493"/>
            <a:chOff x="0" y="0"/>
            <a:chExt cx="165481" cy="261799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65481" cy="2617978"/>
            </a:xfrm>
            <a:custGeom>
              <a:avLst/>
              <a:gdLst/>
              <a:ahLst/>
              <a:cxnLst/>
              <a:rect r="r" b="b" t="t" l="l"/>
              <a:pathLst>
                <a:path h="2617978" w="165481">
                  <a:moveTo>
                    <a:pt x="0" y="0"/>
                  </a:moveTo>
                  <a:lnTo>
                    <a:pt x="165481" y="0"/>
                  </a:lnTo>
                  <a:lnTo>
                    <a:pt x="165481" y="2617978"/>
                  </a:lnTo>
                  <a:lnTo>
                    <a:pt x="0" y="2617978"/>
                  </a:lnTo>
                  <a:close/>
                </a:path>
              </a:pathLst>
            </a:custGeom>
            <a:solidFill>
              <a:srgbClr val="4FDC97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sp>
        <p:nvSpPr>
          <p:cNvPr name="TextBox 42" id="42"/>
          <p:cNvSpPr txBox="true"/>
          <p:nvPr/>
        </p:nvSpPr>
        <p:spPr>
          <a:xfrm rot="0">
            <a:off x="12715504" y="5948229"/>
            <a:ext cx="4355973" cy="40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Business Automation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715504" y="6579660"/>
            <a:ext cx="4355973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Prepares intervention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drafts for faculty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47788" y="8597494"/>
            <a:ext cx="1616096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Gemini supports language-based tasks; deterministic risk calculation is performed by Python.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05 • WORKFLOW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End-to-end pipeline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The dashboard triggers a backend workflow; validation gates the result before it is shown.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06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47817" y="4110866"/>
            <a:ext cx="2416473" cy="2141944"/>
            <a:chOff x="0" y="0"/>
            <a:chExt cx="3221965" cy="28559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21990" cy="2855976"/>
            </a:xfrm>
            <a:custGeom>
              <a:avLst/>
              <a:gdLst/>
              <a:ahLst/>
              <a:cxnLst/>
              <a:rect r="r" b="b" t="t" l="l"/>
              <a:pathLst>
                <a:path h="2855976" w="3221990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2879217" y="0"/>
                  </a:lnTo>
                  <a:cubicBezTo>
                    <a:pt x="3068447" y="0"/>
                    <a:pt x="3221990" y="153416"/>
                    <a:pt x="3221990" y="342773"/>
                  </a:cubicBezTo>
                  <a:lnTo>
                    <a:pt x="3221990" y="2513203"/>
                  </a:lnTo>
                  <a:cubicBezTo>
                    <a:pt x="3221990" y="2702433"/>
                    <a:pt x="3068574" y="2855976"/>
                    <a:pt x="2879217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747817" y="4110866"/>
            <a:ext cx="2416473" cy="137836"/>
            <a:chOff x="0" y="0"/>
            <a:chExt cx="3221965" cy="18378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221990" cy="183769"/>
            </a:xfrm>
            <a:custGeom>
              <a:avLst/>
              <a:gdLst/>
              <a:ahLst/>
              <a:cxnLst/>
              <a:rect r="r" b="b" t="t" l="l"/>
              <a:pathLst>
                <a:path h="183769" w="3221990">
                  <a:moveTo>
                    <a:pt x="0" y="0"/>
                  </a:moveTo>
                  <a:lnTo>
                    <a:pt x="3221990" y="0"/>
                  </a:lnTo>
                  <a:lnTo>
                    <a:pt x="3221990" y="183769"/>
                  </a:lnTo>
                  <a:lnTo>
                    <a:pt x="0" y="183769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883072" y="4520651"/>
            <a:ext cx="214597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Dashboard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83072" y="5234445"/>
            <a:ext cx="2145973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Select student</a:t>
            </a:r>
          </a:p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and run workflow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3671611" y="4110866"/>
            <a:ext cx="2416473" cy="2141944"/>
            <a:chOff x="0" y="0"/>
            <a:chExt cx="3221965" cy="285592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221990" cy="2855976"/>
            </a:xfrm>
            <a:custGeom>
              <a:avLst/>
              <a:gdLst/>
              <a:ahLst/>
              <a:cxnLst/>
              <a:rect r="r" b="b" t="t" l="l"/>
              <a:pathLst>
                <a:path h="2855976" w="3221990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2879217" y="0"/>
                  </a:lnTo>
                  <a:cubicBezTo>
                    <a:pt x="3068447" y="0"/>
                    <a:pt x="3221990" y="153416"/>
                    <a:pt x="3221990" y="342773"/>
                  </a:cubicBezTo>
                  <a:lnTo>
                    <a:pt x="3221990" y="2513203"/>
                  </a:lnTo>
                  <a:cubicBezTo>
                    <a:pt x="3221990" y="2702433"/>
                    <a:pt x="3068574" y="2855976"/>
                    <a:pt x="2879217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3671611" y="4110866"/>
            <a:ext cx="2416473" cy="137836"/>
            <a:chOff x="0" y="0"/>
            <a:chExt cx="3221965" cy="18378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221990" cy="183769"/>
            </a:xfrm>
            <a:custGeom>
              <a:avLst/>
              <a:gdLst/>
              <a:ahLst/>
              <a:cxnLst/>
              <a:rect r="r" b="b" t="t" l="l"/>
              <a:pathLst>
                <a:path h="183769" w="3221990">
                  <a:moveTo>
                    <a:pt x="0" y="0"/>
                  </a:moveTo>
                  <a:lnTo>
                    <a:pt x="3221990" y="0"/>
                  </a:lnTo>
                  <a:lnTo>
                    <a:pt x="3221990" y="183769"/>
                  </a:lnTo>
                  <a:lnTo>
                    <a:pt x="0" y="183769"/>
                  </a:lnTo>
                  <a:close/>
                </a:path>
              </a:pathLst>
            </a:custGeom>
            <a:solidFill>
              <a:srgbClr val="AA91FF"/>
            </a:solidFill>
            <a:ln w="14299" cap="sq">
              <a:solidFill>
                <a:srgbClr val="AA91FF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3806866" y="4520651"/>
            <a:ext cx="214597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FastAPI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806866" y="5234445"/>
            <a:ext cx="2145973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Receive request</a:t>
            </a:r>
          </a:p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and orchestrate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95405" y="4110866"/>
            <a:ext cx="2416473" cy="2141944"/>
            <a:chOff x="0" y="0"/>
            <a:chExt cx="3221965" cy="285592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221990" cy="2855976"/>
            </a:xfrm>
            <a:custGeom>
              <a:avLst/>
              <a:gdLst/>
              <a:ahLst/>
              <a:cxnLst/>
              <a:rect r="r" b="b" t="t" l="l"/>
              <a:pathLst>
                <a:path h="2855976" w="3221990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2879217" y="0"/>
                  </a:lnTo>
                  <a:cubicBezTo>
                    <a:pt x="3068447" y="0"/>
                    <a:pt x="3221990" y="153416"/>
                    <a:pt x="3221990" y="342773"/>
                  </a:cubicBezTo>
                  <a:lnTo>
                    <a:pt x="3221990" y="2513203"/>
                  </a:lnTo>
                  <a:cubicBezTo>
                    <a:pt x="3221990" y="2702433"/>
                    <a:pt x="3068574" y="2855976"/>
                    <a:pt x="2879217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595405" y="4110866"/>
            <a:ext cx="2416473" cy="137836"/>
            <a:chOff x="0" y="0"/>
            <a:chExt cx="3221965" cy="18378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221990" cy="183769"/>
            </a:xfrm>
            <a:custGeom>
              <a:avLst/>
              <a:gdLst/>
              <a:ahLst/>
              <a:cxnLst/>
              <a:rect r="r" b="b" t="t" l="l"/>
              <a:pathLst>
                <a:path h="183769" w="3221990">
                  <a:moveTo>
                    <a:pt x="0" y="0"/>
                  </a:moveTo>
                  <a:lnTo>
                    <a:pt x="3221990" y="0"/>
                  </a:lnTo>
                  <a:lnTo>
                    <a:pt x="3221990" y="183769"/>
                  </a:lnTo>
                  <a:lnTo>
                    <a:pt x="0" y="183769"/>
                  </a:lnTo>
                  <a:close/>
                </a:path>
              </a:pathLst>
            </a:custGeom>
            <a:solidFill>
              <a:srgbClr val="FFC55C"/>
            </a:solidFill>
            <a:ln w="14299" cap="sq">
              <a:solidFill>
                <a:srgbClr val="FFC55C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6730660" y="4520651"/>
            <a:ext cx="214597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Agents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730660" y="5234445"/>
            <a:ext cx="2145973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Plan • Research</a:t>
            </a:r>
          </a:p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Critique • Prepare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519199" y="4110866"/>
            <a:ext cx="2416473" cy="2141944"/>
            <a:chOff x="0" y="0"/>
            <a:chExt cx="3221965" cy="285592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221990" cy="2855976"/>
            </a:xfrm>
            <a:custGeom>
              <a:avLst/>
              <a:gdLst/>
              <a:ahLst/>
              <a:cxnLst/>
              <a:rect r="r" b="b" t="t" l="l"/>
              <a:pathLst>
                <a:path h="2855976" w="3221990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2879217" y="0"/>
                  </a:lnTo>
                  <a:cubicBezTo>
                    <a:pt x="3068447" y="0"/>
                    <a:pt x="3221990" y="153416"/>
                    <a:pt x="3221990" y="342773"/>
                  </a:cubicBezTo>
                  <a:lnTo>
                    <a:pt x="3221990" y="2513203"/>
                  </a:lnTo>
                  <a:cubicBezTo>
                    <a:pt x="3221990" y="2702433"/>
                    <a:pt x="3068574" y="2855976"/>
                    <a:pt x="2879217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519199" y="4110866"/>
            <a:ext cx="2416473" cy="137836"/>
            <a:chOff x="0" y="0"/>
            <a:chExt cx="3221965" cy="18378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221990" cy="183769"/>
            </a:xfrm>
            <a:custGeom>
              <a:avLst/>
              <a:gdLst/>
              <a:ahLst/>
              <a:cxnLst/>
              <a:rect r="r" b="b" t="t" l="l"/>
              <a:pathLst>
                <a:path h="183769" w="3221990">
                  <a:moveTo>
                    <a:pt x="0" y="0"/>
                  </a:moveTo>
                  <a:lnTo>
                    <a:pt x="3221990" y="0"/>
                  </a:lnTo>
                  <a:lnTo>
                    <a:pt x="3221990" y="183769"/>
                  </a:lnTo>
                  <a:lnTo>
                    <a:pt x="0" y="183769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9654445" y="4520651"/>
            <a:ext cx="214597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Python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654445" y="5234445"/>
            <a:ext cx="2145973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Calculate risk</a:t>
            </a:r>
          </a:p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and structure output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2442993" y="4110866"/>
            <a:ext cx="2416473" cy="2141944"/>
            <a:chOff x="0" y="0"/>
            <a:chExt cx="3221965" cy="285592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221990" cy="2855976"/>
            </a:xfrm>
            <a:custGeom>
              <a:avLst/>
              <a:gdLst/>
              <a:ahLst/>
              <a:cxnLst/>
              <a:rect r="r" b="b" t="t" l="l"/>
              <a:pathLst>
                <a:path h="2855976" w="3221990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2879217" y="0"/>
                  </a:lnTo>
                  <a:cubicBezTo>
                    <a:pt x="3068447" y="0"/>
                    <a:pt x="3221990" y="153416"/>
                    <a:pt x="3221990" y="342773"/>
                  </a:cubicBezTo>
                  <a:lnTo>
                    <a:pt x="3221990" y="2513203"/>
                  </a:lnTo>
                  <a:cubicBezTo>
                    <a:pt x="3221990" y="2702433"/>
                    <a:pt x="3068574" y="2855976"/>
                    <a:pt x="2879217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2442993" y="4110866"/>
            <a:ext cx="2416473" cy="137836"/>
            <a:chOff x="0" y="0"/>
            <a:chExt cx="3221965" cy="18378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221990" cy="183769"/>
            </a:xfrm>
            <a:custGeom>
              <a:avLst/>
              <a:gdLst/>
              <a:ahLst/>
              <a:cxnLst/>
              <a:rect r="r" b="b" t="t" l="l"/>
              <a:pathLst>
                <a:path h="183769" w="3221990">
                  <a:moveTo>
                    <a:pt x="0" y="0"/>
                  </a:moveTo>
                  <a:lnTo>
                    <a:pt x="3221990" y="0"/>
                  </a:lnTo>
                  <a:lnTo>
                    <a:pt x="3221990" y="183769"/>
                  </a:lnTo>
                  <a:lnTo>
                    <a:pt x="0" y="183769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12578239" y="4520651"/>
            <a:ext cx="214597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Validation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578239" y="5234445"/>
            <a:ext cx="2145973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Check output</a:t>
            </a:r>
          </a:p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before returning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5366778" y="4110866"/>
            <a:ext cx="2416473" cy="2141944"/>
            <a:chOff x="0" y="0"/>
            <a:chExt cx="3221965" cy="285592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221990" cy="2855976"/>
            </a:xfrm>
            <a:custGeom>
              <a:avLst/>
              <a:gdLst/>
              <a:ahLst/>
              <a:cxnLst/>
              <a:rect r="r" b="b" t="t" l="l"/>
              <a:pathLst>
                <a:path h="2855976" w="3221990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2879217" y="0"/>
                  </a:lnTo>
                  <a:cubicBezTo>
                    <a:pt x="3068447" y="0"/>
                    <a:pt x="3221990" y="153416"/>
                    <a:pt x="3221990" y="342773"/>
                  </a:cubicBezTo>
                  <a:lnTo>
                    <a:pt x="3221990" y="2513203"/>
                  </a:lnTo>
                  <a:cubicBezTo>
                    <a:pt x="3221990" y="2702433"/>
                    <a:pt x="3068574" y="2855976"/>
                    <a:pt x="2879217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5366778" y="4110866"/>
            <a:ext cx="2416473" cy="137836"/>
            <a:chOff x="0" y="0"/>
            <a:chExt cx="3221965" cy="18378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221990" cy="183769"/>
            </a:xfrm>
            <a:custGeom>
              <a:avLst/>
              <a:gdLst/>
              <a:ahLst/>
              <a:cxnLst/>
              <a:rect r="r" b="b" t="t" l="l"/>
              <a:pathLst>
                <a:path h="183769" w="3221990">
                  <a:moveTo>
                    <a:pt x="0" y="0"/>
                  </a:moveTo>
                  <a:lnTo>
                    <a:pt x="3221990" y="0"/>
                  </a:lnTo>
                  <a:lnTo>
                    <a:pt x="3221990" y="183769"/>
                  </a:lnTo>
                  <a:lnTo>
                    <a:pt x="0" y="183769"/>
                  </a:lnTo>
                  <a:close/>
                </a:path>
              </a:pathLst>
            </a:custGeom>
            <a:solidFill>
              <a:srgbClr val="4FDC97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sp>
        <p:nvSpPr>
          <p:cNvPr name="TextBox 42" id="42"/>
          <p:cNvSpPr txBox="true"/>
          <p:nvPr/>
        </p:nvSpPr>
        <p:spPr>
          <a:xfrm rot="0">
            <a:off x="15502033" y="4520651"/>
            <a:ext cx="2145973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Faculty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5502033" y="5234445"/>
            <a:ext cx="2145973" cy="7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Review suggested</a:t>
            </a:r>
          </a:p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next action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090984" y="7336650"/>
            <a:ext cx="16074561" cy="1002621"/>
            <a:chOff x="0" y="0"/>
            <a:chExt cx="21432749" cy="133682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432774" cy="1336802"/>
            </a:xfrm>
            <a:custGeom>
              <a:avLst/>
              <a:gdLst/>
              <a:ahLst/>
              <a:cxnLst/>
              <a:rect r="r" b="b" t="t" l="l"/>
              <a:pathLst>
                <a:path h="1336802" w="21432774">
                  <a:moveTo>
                    <a:pt x="0" y="160401"/>
                  </a:moveTo>
                  <a:cubicBezTo>
                    <a:pt x="0" y="71882"/>
                    <a:pt x="71882" y="0"/>
                    <a:pt x="160401" y="0"/>
                  </a:cubicBezTo>
                  <a:lnTo>
                    <a:pt x="21272373" y="0"/>
                  </a:lnTo>
                  <a:cubicBezTo>
                    <a:pt x="21361019" y="0"/>
                    <a:pt x="21432774" y="71882"/>
                    <a:pt x="21432774" y="160401"/>
                  </a:cubicBezTo>
                  <a:lnTo>
                    <a:pt x="21432774" y="1176401"/>
                  </a:lnTo>
                  <a:cubicBezTo>
                    <a:pt x="21432774" y="1265047"/>
                    <a:pt x="21360892" y="1336802"/>
                    <a:pt x="21272373" y="1336802"/>
                  </a:cubicBezTo>
                  <a:lnTo>
                    <a:pt x="160401" y="1336802"/>
                  </a:lnTo>
                  <a:cubicBezTo>
                    <a:pt x="71882" y="1336802"/>
                    <a:pt x="0" y="1265047"/>
                    <a:pt x="0" y="1176401"/>
                  </a:cubicBezTo>
                  <a:close/>
                </a:path>
              </a:pathLst>
            </a:custGeom>
            <a:solidFill>
              <a:srgbClr val="113042"/>
            </a:solidFill>
            <a:ln w="14299" cap="sq">
              <a:solidFill>
                <a:srgbClr val="235A71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1390964" y="7636621"/>
            <a:ext cx="15474620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Fallback behavior is available if the language model is unavailable; intervention remains a draft.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06 • ARCHITECTURE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System 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Implementation-aligned view of the interface, backend, agent workflow, tools and human oversight.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07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3719" y="3081366"/>
            <a:ext cx="4750022" cy="1936042"/>
            <a:chOff x="0" y="0"/>
            <a:chExt cx="6333363" cy="258138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33363" cy="2581402"/>
            </a:xfrm>
            <a:custGeom>
              <a:avLst/>
              <a:gdLst/>
              <a:ahLst/>
              <a:cxnLst/>
              <a:rect r="r" b="b" t="t" l="l"/>
              <a:pathLst>
                <a:path h="2581402" w="6333363">
                  <a:moveTo>
                    <a:pt x="0" y="309753"/>
                  </a:moveTo>
                  <a:cubicBezTo>
                    <a:pt x="0" y="138684"/>
                    <a:pt x="138684" y="0"/>
                    <a:pt x="309753" y="0"/>
                  </a:cubicBezTo>
                  <a:lnTo>
                    <a:pt x="6023610" y="0"/>
                  </a:lnTo>
                  <a:cubicBezTo>
                    <a:pt x="6194679" y="0"/>
                    <a:pt x="6333363" y="138684"/>
                    <a:pt x="6333363" y="309753"/>
                  </a:cubicBezTo>
                  <a:lnTo>
                    <a:pt x="6333363" y="2271649"/>
                  </a:lnTo>
                  <a:cubicBezTo>
                    <a:pt x="6333363" y="2442718"/>
                    <a:pt x="6194679" y="2581402"/>
                    <a:pt x="6023610" y="2581402"/>
                  </a:cubicBezTo>
                  <a:lnTo>
                    <a:pt x="309753" y="2581402"/>
                  </a:lnTo>
                  <a:cubicBezTo>
                    <a:pt x="138684" y="2581402"/>
                    <a:pt x="0" y="2442718"/>
                    <a:pt x="0" y="2271649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3719" y="3081366"/>
            <a:ext cx="110385" cy="1936042"/>
            <a:chOff x="0" y="0"/>
            <a:chExt cx="147180" cy="25813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193" cy="2581402"/>
            </a:xfrm>
            <a:custGeom>
              <a:avLst/>
              <a:gdLst/>
              <a:ahLst/>
              <a:cxnLst/>
              <a:rect r="r" b="b" t="t" l="l"/>
              <a:pathLst>
                <a:path h="2581402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581402"/>
                  </a:lnTo>
                  <a:lnTo>
                    <a:pt x="0" y="2581402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281141" y="3353886"/>
            <a:ext cx="4150071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USER INTERFACE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1141" y="3999043"/>
            <a:ext cx="4150071" cy="81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Streamlit dashboard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Student explorer • filters • workflow trigger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787582" y="3081366"/>
            <a:ext cx="4750022" cy="1936042"/>
            <a:chOff x="0" y="0"/>
            <a:chExt cx="6333363" cy="258138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33363" cy="2581402"/>
            </a:xfrm>
            <a:custGeom>
              <a:avLst/>
              <a:gdLst/>
              <a:ahLst/>
              <a:cxnLst/>
              <a:rect r="r" b="b" t="t" l="l"/>
              <a:pathLst>
                <a:path h="2581402" w="6333363">
                  <a:moveTo>
                    <a:pt x="0" y="309753"/>
                  </a:moveTo>
                  <a:cubicBezTo>
                    <a:pt x="0" y="138684"/>
                    <a:pt x="138684" y="0"/>
                    <a:pt x="309753" y="0"/>
                  </a:cubicBezTo>
                  <a:lnTo>
                    <a:pt x="6023610" y="0"/>
                  </a:lnTo>
                  <a:cubicBezTo>
                    <a:pt x="6194679" y="0"/>
                    <a:pt x="6333363" y="138684"/>
                    <a:pt x="6333363" y="309753"/>
                  </a:cubicBezTo>
                  <a:lnTo>
                    <a:pt x="6333363" y="2271649"/>
                  </a:lnTo>
                  <a:cubicBezTo>
                    <a:pt x="6333363" y="2442718"/>
                    <a:pt x="6194679" y="2581402"/>
                    <a:pt x="6023610" y="2581402"/>
                  </a:cubicBezTo>
                  <a:lnTo>
                    <a:pt x="309753" y="2581402"/>
                  </a:lnTo>
                  <a:cubicBezTo>
                    <a:pt x="138684" y="2581402"/>
                    <a:pt x="0" y="2442718"/>
                    <a:pt x="0" y="2271649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6787582" y="3081366"/>
            <a:ext cx="110385" cy="1936042"/>
            <a:chOff x="0" y="0"/>
            <a:chExt cx="147180" cy="258138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7193" cy="2581402"/>
            </a:xfrm>
            <a:custGeom>
              <a:avLst/>
              <a:gdLst/>
              <a:ahLst/>
              <a:cxnLst/>
              <a:rect r="r" b="b" t="t" l="l"/>
              <a:pathLst>
                <a:path h="2581402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581402"/>
                  </a:lnTo>
                  <a:lnTo>
                    <a:pt x="0" y="2581402"/>
                  </a:lnTo>
                  <a:close/>
                </a:path>
              </a:pathLst>
            </a:custGeom>
            <a:solidFill>
              <a:srgbClr val="AA91FF"/>
            </a:solidFill>
            <a:ln w="14299" cap="sq">
              <a:solidFill>
                <a:srgbClr val="AA91FF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7115004" y="3353886"/>
            <a:ext cx="4150071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BACKEND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115004" y="3999043"/>
            <a:ext cx="4150071" cy="81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FastAPI endpoints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Workflow orchestration • Swagger UI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621435" y="3081366"/>
            <a:ext cx="4750022" cy="1936042"/>
            <a:chOff x="0" y="0"/>
            <a:chExt cx="6333363" cy="258138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33363" cy="2581402"/>
            </a:xfrm>
            <a:custGeom>
              <a:avLst/>
              <a:gdLst/>
              <a:ahLst/>
              <a:cxnLst/>
              <a:rect r="r" b="b" t="t" l="l"/>
              <a:pathLst>
                <a:path h="2581402" w="6333363">
                  <a:moveTo>
                    <a:pt x="0" y="309753"/>
                  </a:moveTo>
                  <a:cubicBezTo>
                    <a:pt x="0" y="138684"/>
                    <a:pt x="138684" y="0"/>
                    <a:pt x="309753" y="0"/>
                  </a:cubicBezTo>
                  <a:lnTo>
                    <a:pt x="6023610" y="0"/>
                  </a:lnTo>
                  <a:cubicBezTo>
                    <a:pt x="6194679" y="0"/>
                    <a:pt x="6333363" y="138684"/>
                    <a:pt x="6333363" y="309753"/>
                  </a:cubicBezTo>
                  <a:lnTo>
                    <a:pt x="6333363" y="2271649"/>
                  </a:lnTo>
                  <a:cubicBezTo>
                    <a:pt x="6333363" y="2442718"/>
                    <a:pt x="6194679" y="2581402"/>
                    <a:pt x="6023610" y="2581402"/>
                  </a:cubicBezTo>
                  <a:lnTo>
                    <a:pt x="309753" y="2581402"/>
                  </a:lnTo>
                  <a:cubicBezTo>
                    <a:pt x="138684" y="2581402"/>
                    <a:pt x="0" y="2442718"/>
                    <a:pt x="0" y="2271649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2621435" y="3081366"/>
            <a:ext cx="110385" cy="1936042"/>
            <a:chOff x="0" y="0"/>
            <a:chExt cx="147180" cy="258138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7193" cy="2581402"/>
            </a:xfrm>
            <a:custGeom>
              <a:avLst/>
              <a:gdLst/>
              <a:ahLst/>
              <a:cxnLst/>
              <a:rect r="r" b="b" t="t" l="l"/>
              <a:pathLst>
                <a:path h="2581402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581402"/>
                  </a:lnTo>
                  <a:lnTo>
                    <a:pt x="0" y="2581402"/>
                  </a:lnTo>
                  <a:close/>
                </a:path>
              </a:pathLst>
            </a:custGeom>
            <a:solidFill>
              <a:srgbClr val="FFC55C"/>
            </a:solidFill>
            <a:ln w="14299" cap="sq">
              <a:solidFill>
                <a:srgbClr val="FFC55C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948866" y="3353886"/>
            <a:ext cx="4150071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DATA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48866" y="3999043"/>
            <a:ext cx="4150071" cy="81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Synthetic CSV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500 student records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53719" y="5689444"/>
            <a:ext cx="10583875" cy="2279209"/>
            <a:chOff x="0" y="0"/>
            <a:chExt cx="14111834" cy="303894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4111731" cy="3038856"/>
            </a:xfrm>
            <a:custGeom>
              <a:avLst/>
              <a:gdLst/>
              <a:ahLst/>
              <a:cxnLst/>
              <a:rect r="r" b="b" t="t" l="l"/>
              <a:pathLst>
                <a:path h="3038856" w="14111731">
                  <a:moveTo>
                    <a:pt x="0" y="364617"/>
                  </a:moveTo>
                  <a:cubicBezTo>
                    <a:pt x="0" y="163322"/>
                    <a:pt x="163322" y="0"/>
                    <a:pt x="364617" y="0"/>
                  </a:cubicBezTo>
                  <a:lnTo>
                    <a:pt x="13747114" y="0"/>
                  </a:lnTo>
                  <a:cubicBezTo>
                    <a:pt x="13948536" y="0"/>
                    <a:pt x="14111731" y="163322"/>
                    <a:pt x="14111731" y="364617"/>
                  </a:cubicBezTo>
                  <a:lnTo>
                    <a:pt x="14111731" y="2674239"/>
                  </a:lnTo>
                  <a:cubicBezTo>
                    <a:pt x="14111731" y="2875661"/>
                    <a:pt x="13948409" y="3038856"/>
                    <a:pt x="13747114" y="3038856"/>
                  </a:cubicBezTo>
                  <a:lnTo>
                    <a:pt x="364617" y="3038856"/>
                  </a:lnTo>
                  <a:cubicBezTo>
                    <a:pt x="163322" y="3038983"/>
                    <a:pt x="0" y="2875661"/>
                    <a:pt x="0" y="2674239"/>
                  </a:cubicBezTo>
                  <a:close/>
                </a:path>
              </a:pathLst>
            </a:custGeom>
            <a:solidFill>
              <a:srgbClr val="122C44"/>
            </a:solidFill>
            <a:ln w="14299" cap="sq">
              <a:solidFill>
                <a:srgbClr val="2D5A78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322327" y="6021067"/>
            <a:ext cx="9778032" cy="384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AGENT ORCHESTRATION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22327" y="6716925"/>
            <a:ext cx="9778032" cy="81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Planner  →  Research  →  Executor  →  Critic  →  Business Automation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Software-readiness checks run alongside the workflow.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072366" y="5689444"/>
            <a:ext cx="5299091" cy="2279209"/>
            <a:chOff x="0" y="0"/>
            <a:chExt cx="7065454" cy="303894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65391" cy="3038856"/>
            </a:xfrm>
            <a:custGeom>
              <a:avLst/>
              <a:gdLst/>
              <a:ahLst/>
              <a:cxnLst/>
              <a:rect r="r" b="b" t="t" l="l"/>
              <a:pathLst>
                <a:path h="3038856" w="7065391">
                  <a:moveTo>
                    <a:pt x="0" y="364617"/>
                  </a:moveTo>
                  <a:cubicBezTo>
                    <a:pt x="0" y="163322"/>
                    <a:pt x="163322" y="0"/>
                    <a:pt x="364617" y="0"/>
                  </a:cubicBezTo>
                  <a:lnTo>
                    <a:pt x="6700774" y="0"/>
                  </a:lnTo>
                  <a:cubicBezTo>
                    <a:pt x="6902196" y="0"/>
                    <a:pt x="7065391" y="163322"/>
                    <a:pt x="7065391" y="364617"/>
                  </a:cubicBezTo>
                  <a:lnTo>
                    <a:pt x="7065391" y="2674239"/>
                  </a:lnTo>
                  <a:cubicBezTo>
                    <a:pt x="7065391" y="2875661"/>
                    <a:pt x="6902069" y="3038856"/>
                    <a:pt x="6700774" y="3038856"/>
                  </a:cubicBezTo>
                  <a:lnTo>
                    <a:pt x="364617" y="3038856"/>
                  </a:lnTo>
                  <a:cubicBezTo>
                    <a:pt x="163322" y="3038983"/>
                    <a:pt x="0" y="2875661"/>
                    <a:pt x="0" y="2674239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2440974" y="6021067"/>
            <a:ext cx="4493247" cy="384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F756D"/>
                </a:solidFill>
                <a:latin typeface="Aptos Bold"/>
                <a:ea typeface="Aptos Bold"/>
                <a:cs typeface="Aptos Bold"/>
                <a:sym typeface="Aptos Bold"/>
              </a:rPr>
              <a:t>TOOLS &amp; GUARDRAILS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440974" y="6716925"/>
            <a:ext cx="4493247" cy="81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Gemini • Python • Pandas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Output validation • fallback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5F8FC"/>
                </a:solidFill>
                <a:latin typeface="Aptos"/>
                <a:ea typeface="Aptos"/>
                <a:cs typeface="Aptos"/>
                <a:sym typeface="Aptos"/>
              </a:rPr>
              <a:t>Faculty approval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4248131" y="8434788"/>
            <a:ext cx="9760277" cy="673179"/>
            <a:chOff x="0" y="0"/>
            <a:chExt cx="13013703" cy="89757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3013689" cy="897509"/>
            </a:xfrm>
            <a:custGeom>
              <a:avLst/>
              <a:gdLst/>
              <a:ahLst/>
              <a:cxnLst/>
              <a:rect r="r" b="b" t="t" l="l"/>
              <a:pathLst>
                <a:path h="897509" w="13013689">
                  <a:moveTo>
                    <a:pt x="0" y="107696"/>
                  </a:moveTo>
                  <a:cubicBezTo>
                    <a:pt x="0" y="48260"/>
                    <a:pt x="48260" y="0"/>
                    <a:pt x="107696" y="0"/>
                  </a:cubicBezTo>
                  <a:lnTo>
                    <a:pt x="12905994" y="0"/>
                  </a:lnTo>
                  <a:cubicBezTo>
                    <a:pt x="12965430" y="0"/>
                    <a:pt x="13013689" y="48260"/>
                    <a:pt x="13013689" y="107696"/>
                  </a:cubicBezTo>
                  <a:lnTo>
                    <a:pt x="13013689" y="789813"/>
                  </a:lnTo>
                  <a:cubicBezTo>
                    <a:pt x="13013689" y="849249"/>
                    <a:pt x="12965430" y="897509"/>
                    <a:pt x="12905994" y="897509"/>
                  </a:cubicBezTo>
                  <a:lnTo>
                    <a:pt x="107696" y="897509"/>
                  </a:lnTo>
                  <a:cubicBezTo>
                    <a:pt x="48260" y="897636"/>
                    <a:pt x="0" y="849376"/>
                    <a:pt x="0" y="789813"/>
                  </a:cubicBezTo>
                  <a:close/>
                </a:path>
              </a:pathLst>
            </a:custGeom>
            <a:solidFill>
              <a:srgbClr val="18463C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4479474" y="8583768"/>
            <a:ext cx="9297600" cy="265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OUTPUT: risk assessment + intervention draft → faculty review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07 • PROOF OF CONCEPT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Dashboard: academic overview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The interface summarizes the synthetic dataset and supports filtering and student-level exploration.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08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85092" y="2875464"/>
            <a:ext cx="16486365" cy="6259954"/>
            <a:chOff x="0" y="0"/>
            <a:chExt cx="21981820" cy="83466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81922" cy="8346694"/>
            </a:xfrm>
            <a:custGeom>
              <a:avLst/>
              <a:gdLst/>
              <a:ahLst/>
              <a:cxnLst/>
              <a:rect r="r" b="b" t="t" l="l"/>
              <a:pathLst>
                <a:path h="8346694" w="21981922">
                  <a:moveTo>
                    <a:pt x="0" y="1001649"/>
                  </a:moveTo>
                  <a:cubicBezTo>
                    <a:pt x="0" y="448437"/>
                    <a:pt x="448437" y="0"/>
                    <a:pt x="1001649" y="0"/>
                  </a:cubicBezTo>
                  <a:lnTo>
                    <a:pt x="20980273" y="0"/>
                  </a:lnTo>
                  <a:cubicBezTo>
                    <a:pt x="21533486" y="0"/>
                    <a:pt x="21981922" y="448437"/>
                    <a:pt x="21981922" y="1001649"/>
                  </a:cubicBezTo>
                  <a:lnTo>
                    <a:pt x="21981922" y="7345045"/>
                  </a:lnTo>
                  <a:cubicBezTo>
                    <a:pt x="21981922" y="7898257"/>
                    <a:pt x="21533486" y="8346694"/>
                    <a:pt x="20980273" y="8346694"/>
                  </a:cubicBezTo>
                  <a:lnTo>
                    <a:pt x="1001649" y="8346694"/>
                  </a:lnTo>
                  <a:cubicBezTo>
                    <a:pt x="448437" y="8346567"/>
                    <a:pt x="0" y="7898130"/>
                    <a:pt x="0" y="7345045"/>
                  </a:cubicBezTo>
                  <a:close/>
                </a:path>
              </a:pathLst>
            </a:custGeom>
            <a:solidFill>
              <a:srgbClr val="111C28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3811380" y="3471760"/>
            <a:ext cx="10441622" cy="5314440"/>
            <a:chOff x="0" y="0"/>
            <a:chExt cx="21486901" cy="10936122"/>
          </a:xfrm>
        </p:grpSpPr>
        <p:sp>
          <p:nvSpPr>
            <p:cNvPr name="Freeform 11" id="11" descr="image(20261019-181244).png"/>
            <p:cNvSpPr/>
            <p:nvPr/>
          </p:nvSpPr>
          <p:spPr>
            <a:xfrm flipH="false" flipV="false" rot="0">
              <a:off x="0" y="0"/>
              <a:ext cx="21486876" cy="10936051"/>
            </a:xfrm>
            <a:custGeom>
              <a:avLst/>
              <a:gdLst/>
              <a:ahLst/>
              <a:cxnLst/>
              <a:rect r="r" b="b" t="t" l="l"/>
              <a:pathLst>
                <a:path h="10936051" w="21486876">
                  <a:moveTo>
                    <a:pt x="0" y="0"/>
                  </a:moveTo>
                  <a:lnTo>
                    <a:pt x="21486876" y="0"/>
                  </a:lnTo>
                  <a:lnTo>
                    <a:pt x="21486876" y="10936051"/>
                  </a:lnTo>
                  <a:lnTo>
                    <a:pt x="0" y="10936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757" r="0" b="-1757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08 • PROOF OF CONCEPT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Agent workflow: completed and validated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Example output for synthetic student ST1001.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09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85092" y="2875464"/>
            <a:ext cx="11132944" cy="6259954"/>
            <a:chOff x="0" y="0"/>
            <a:chExt cx="14843925" cy="83466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844013" cy="8346694"/>
            </a:xfrm>
            <a:custGeom>
              <a:avLst/>
              <a:gdLst/>
              <a:ahLst/>
              <a:cxnLst/>
              <a:rect r="r" b="b" t="t" l="l"/>
              <a:pathLst>
                <a:path h="8346694" w="14844013">
                  <a:moveTo>
                    <a:pt x="0" y="1001649"/>
                  </a:moveTo>
                  <a:cubicBezTo>
                    <a:pt x="0" y="448437"/>
                    <a:pt x="448437" y="0"/>
                    <a:pt x="1001649" y="0"/>
                  </a:cubicBezTo>
                  <a:lnTo>
                    <a:pt x="13842364" y="0"/>
                  </a:lnTo>
                  <a:cubicBezTo>
                    <a:pt x="14395577" y="0"/>
                    <a:pt x="14844013" y="448437"/>
                    <a:pt x="14844013" y="1001649"/>
                  </a:cubicBezTo>
                  <a:lnTo>
                    <a:pt x="14844013" y="7345045"/>
                  </a:lnTo>
                  <a:cubicBezTo>
                    <a:pt x="14844013" y="7898257"/>
                    <a:pt x="14395577" y="8346694"/>
                    <a:pt x="13842364" y="8346694"/>
                  </a:cubicBezTo>
                  <a:lnTo>
                    <a:pt x="1001649" y="8346694"/>
                  </a:lnTo>
                  <a:cubicBezTo>
                    <a:pt x="448437" y="8346567"/>
                    <a:pt x="0" y="7898130"/>
                    <a:pt x="0" y="7345045"/>
                  </a:cubicBezTo>
                  <a:close/>
                </a:path>
              </a:pathLst>
            </a:custGeom>
            <a:solidFill>
              <a:srgbClr val="111C28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01996" y="3290226"/>
            <a:ext cx="10444233" cy="5078515"/>
            <a:chOff x="0" y="0"/>
            <a:chExt cx="20636084" cy="10034309"/>
          </a:xfrm>
        </p:grpSpPr>
        <p:sp>
          <p:nvSpPr>
            <p:cNvPr name="Freeform 11" id="11" descr="Screenshot 2026-10-19 at 11.49.18 PM.png"/>
            <p:cNvSpPr/>
            <p:nvPr/>
          </p:nvSpPr>
          <p:spPr>
            <a:xfrm flipH="false" flipV="false" rot="0">
              <a:off x="0" y="0"/>
              <a:ext cx="20636029" cy="10034244"/>
            </a:xfrm>
            <a:custGeom>
              <a:avLst/>
              <a:gdLst/>
              <a:ahLst/>
              <a:cxnLst/>
              <a:rect r="r" b="b" t="t" l="l"/>
              <a:pathLst>
                <a:path h="10034244" w="20636029">
                  <a:moveTo>
                    <a:pt x="0" y="0"/>
                  </a:moveTo>
                  <a:lnTo>
                    <a:pt x="20636029" y="0"/>
                  </a:lnTo>
                  <a:lnTo>
                    <a:pt x="20636029" y="10034244"/>
                  </a:lnTo>
                  <a:lnTo>
                    <a:pt x="0" y="10034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069" t="0" r="-1069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346905" y="2944092"/>
            <a:ext cx="5024552" cy="1455601"/>
            <a:chOff x="0" y="0"/>
            <a:chExt cx="6699402" cy="194080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699377" cy="1940814"/>
            </a:xfrm>
            <a:custGeom>
              <a:avLst/>
              <a:gdLst/>
              <a:ahLst/>
              <a:cxnLst/>
              <a:rect r="r" b="b" t="t" l="l"/>
              <a:pathLst>
                <a:path h="1940814" w="6699377">
                  <a:moveTo>
                    <a:pt x="0" y="232918"/>
                  </a:moveTo>
                  <a:cubicBezTo>
                    <a:pt x="0" y="104267"/>
                    <a:pt x="104267" y="0"/>
                    <a:pt x="232918" y="0"/>
                  </a:cubicBezTo>
                  <a:lnTo>
                    <a:pt x="6466459" y="0"/>
                  </a:lnTo>
                  <a:cubicBezTo>
                    <a:pt x="6595110" y="0"/>
                    <a:pt x="6699377" y="104267"/>
                    <a:pt x="6699377" y="232918"/>
                  </a:cubicBezTo>
                  <a:lnTo>
                    <a:pt x="6699377" y="1707896"/>
                  </a:lnTo>
                  <a:cubicBezTo>
                    <a:pt x="6699377" y="1836547"/>
                    <a:pt x="6595110" y="1940814"/>
                    <a:pt x="6466459" y="1940814"/>
                  </a:cubicBezTo>
                  <a:lnTo>
                    <a:pt x="232918" y="1940814"/>
                  </a:lnTo>
                  <a:cubicBezTo>
                    <a:pt x="104267" y="1940814"/>
                    <a:pt x="0" y="1836547"/>
                    <a:pt x="0" y="1707896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346905" y="2944092"/>
            <a:ext cx="110385" cy="1455601"/>
            <a:chOff x="0" y="0"/>
            <a:chExt cx="147180" cy="19408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7193" cy="1940814"/>
            </a:xfrm>
            <a:custGeom>
              <a:avLst/>
              <a:gdLst/>
              <a:ahLst/>
              <a:cxnLst/>
              <a:rect r="r" b="b" t="t" l="l"/>
              <a:pathLst>
                <a:path h="1940814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1940814"/>
                  </a:lnTo>
                  <a:lnTo>
                    <a:pt x="0" y="1940814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674327" y="3216612"/>
            <a:ext cx="442461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RISK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674327" y="3852243"/>
            <a:ext cx="4424610" cy="343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Moderate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346905" y="4687386"/>
            <a:ext cx="5024552" cy="1455601"/>
            <a:chOff x="0" y="0"/>
            <a:chExt cx="6699402" cy="194080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699377" cy="1940814"/>
            </a:xfrm>
            <a:custGeom>
              <a:avLst/>
              <a:gdLst/>
              <a:ahLst/>
              <a:cxnLst/>
              <a:rect r="r" b="b" t="t" l="l"/>
              <a:pathLst>
                <a:path h="1940814" w="6699377">
                  <a:moveTo>
                    <a:pt x="0" y="232918"/>
                  </a:moveTo>
                  <a:cubicBezTo>
                    <a:pt x="0" y="104267"/>
                    <a:pt x="104267" y="0"/>
                    <a:pt x="232918" y="0"/>
                  </a:cubicBezTo>
                  <a:lnTo>
                    <a:pt x="6466459" y="0"/>
                  </a:lnTo>
                  <a:cubicBezTo>
                    <a:pt x="6595110" y="0"/>
                    <a:pt x="6699377" y="104267"/>
                    <a:pt x="6699377" y="232918"/>
                  </a:cubicBezTo>
                  <a:lnTo>
                    <a:pt x="6699377" y="1707896"/>
                  </a:lnTo>
                  <a:cubicBezTo>
                    <a:pt x="6699377" y="1836547"/>
                    <a:pt x="6595110" y="1940814"/>
                    <a:pt x="6466459" y="1940814"/>
                  </a:cubicBezTo>
                  <a:lnTo>
                    <a:pt x="232918" y="1940814"/>
                  </a:lnTo>
                  <a:cubicBezTo>
                    <a:pt x="104267" y="1940814"/>
                    <a:pt x="0" y="1836547"/>
                    <a:pt x="0" y="1707896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2346905" y="4687386"/>
            <a:ext cx="110385" cy="1455601"/>
            <a:chOff x="0" y="0"/>
            <a:chExt cx="147180" cy="194080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7193" cy="1940814"/>
            </a:xfrm>
            <a:custGeom>
              <a:avLst/>
              <a:gdLst/>
              <a:ahLst/>
              <a:cxnLst/>
              <a:rect r="r" b="b" t="t" l="l"/>
              <a:pathLst>
                <a:path h="1940814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1940814"/>
                  </a:lnTo>
                  <a:lnTo>
                    <a:pt x="0" y="1940814"/>
                  </a:lnTo>
                  <a:close/>
                </a:path>
              </a:pathLst>
            </a:custGeom>
            <a:solidFill>
              <a:srgbClr val="4FDC97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674327" y="4959906"/>
            <a:ext cx="442461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VALIDATION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74327" y="5595537"/>
            <a:ext cx="4424610" cy="343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Passed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346905" y="6430680"/>
            <a:ext cx="5024552" cy="2141944"/>
            <a:chOff x="0" y="0"/>
            <a:chExt cx="6699402" cy="285592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699504" cy="2855976"/>
            </a:xfrm>
            <a:custGeom>
              <a:avLst/>
              <a:gdLst/>
              <a:ahLst/>
              <a:cxnLst/>
              <a:rect r="r" b="b" t="t" l="l"/>
              <a:pathLst>
                <a:path h="2855976" w="6699504">
                  <a:moveTo>
                    <a:pt x="0" y="342773"/>
                  </a:moveTo>
                  <a:cubicBezTo>
                    <a:pt x="0" y="153416"/>
                    <a:pt x="153416" y="0"/>
                    <a:pt x="342773" y="0"/>
                  </a:cubicBezTo>
                  <a:lnTo>
                    <a:pt x="6356731" y="0"/>
                  </a:lnTo>
                  <a:cubicBezTo>
                    <a:pt x="6545961" y="0"/>
                    <a:pt x="6699504" y="153416"/>
                    <a:pt x="6699504" y="342773"/>
                  </a:cubicBezTo>
                  <a:lnTo>
                    <a:pt x="6699504" y="2513203"/>
                  </a:lnTo>
                  <a:cubicBezTo>
                    <a:pt x="6699504" y="2702433"/>
                    <a:pt x="6546088" y="2855976"/>
                    <a:pt x="6356731" y="2855976"/>
                  </a:cubicBezTo>
                  <a:lnTo>
                    <a:pt x="342773" y="2855976"/>
                  </a:lnTo>
                  <a:cubicBezTo>
                    <a:pt x="153416" y="2855976"/>
                    <a:pt x="0" y="2702433"/>
                    <a:pt x="0" y="251320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346905" y="6430680"/>
            <a:ext cx="110385" cy="2141944"/>
            <a:chOff x="0" y="0"/>
            <a:chExt cx="147180" cy="285592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47193" cy="2855976"/>
            </a:xfrm>
            <a:custGeom>
              <a:avLst/>
              <a:gdLst/>
              <a:ahLst/>
              <a:cxnLst/>
              <a:rect r="r" b="b" t="t" l="l"/>
              <a:pathLst>
                <a:path h="2855976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855976"/>
                  </a:lnTo>
                  <a:lnTo>
                    <a:pt x="0" y="2855976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2674327" y="6703200"/>
            <a:ext cx="442461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RECOMMENDATION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674327" y="7348357"/>
            <a:ext cx="4424610" cy="102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Faculty check-in this week; agree on one attendance or assignment improvement goal.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09 • EVIDENCE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Agent trace &amp; report-ready summary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The PoC exposes agent completion states and a concise explanation of the generated assessment.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10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85092" y="2944092"/>
            <a:ext cx="9897542" cy="6122689"/>
            <a:chOff x="0" y="0"/>
            <a:chExt cx="13196722" cy="816358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196824" cy="8163687"/>
            </a:xfrm>
            <a:custGeom>
              <a:avLst/>
              <a:gdLst/>
              <a:ahLst/>
              <a:cxnLst/>
              <a:rect r="r" b="b" t="t" l="l"/>
              <a:pathLst>
                <a:path h="8163687" w="13196824">
                  <a:moveTo>
                    <a:pt x="0" y="979678"/>
                  </a:moveTo>
                  <a:cubicBezTo>
                    <a:pt x="0" y="438658"/>
                    <a:pt x="438658" y="0"/>
                    <a:pt x="979678" y="0"/>
                  </a:cubicBezTo>
                  <a:lnTo>
                    <a:pt x="12217146" y="0"/>
                  </a:lnTo>
                  <a:cubicBezTo>
                    <a:pt x="12758165" y="0"/>
                    <a:pt x="13196824" y="438658"/>
                    <a:pt x="13196824" y="979678"/>
                  </a:cubicBezTo>
                  <a:lnTo>
                    <a:pt x="13196824" y="7184009"/>
                  </a:lnTo>
                  <a:cubicBezTo>
                    <a:pt x="13196824" y="7725028"/>
                    <a:pt x="12758165" y="8163687"/>
                    <a:pt x="12217146" y="8163687"/>
                  </a:cubicBezTo>
                  <a:lnTo>
                    <a:pt x="979678" y="8163687"/>
                  </a:lnTo>
                  <a:cubicBezTo>
                    <a:pt x="438658" y="8163560"/>
                    <a:pt x="0" y="7725029"/>
                    <a:pt x="0" y="7184009"/>
                  </a:cubicBezTo>
                  <a:close/>
                </a:path>
              </a:pathLst>
            </a:custGeom>
            <a:solidFill>
              <a:srgbClr val="111C28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24808" y="4053576"/>
            <a:ext cx="9218109" cy="3871679"/>
            <a:chOff x="0" y="0"/>
            <a:chExt cx="17016452" cy="7147046"/>
          </a:xfrm>
        </p:grpSpPr>
        <p:sp>
          <p:nvSpPr>
            <p:cNvPr name="Freeform 11" id="11" descr="image(20261019-182026).png"/>
            <p:cNvSpPr/>
            <p:nvPr/>
          </p:nvSpPr>
          <p:spPr>
            <a:xfrm flipH="false" flipV="false" rot="0">
              <a:off x="0" y="0"/>
              <a:ext cx="17016436" cy="7147046"/>
            </a:xfrm>
            <a:custGeom>
              <a:avLst/>
              <a:gdLst/>
              <a:ahLst/>
              <a:cxnLst/>
              <a:rect r="r" b="b" t="t" l="l"/>
              <a:pathLst>
                <a:path h="7147046" w="17016436">
                  <a:moveTo>
                    <a:pt x="0" y="0"/>
                  </a:moveTo>
                  <a:lnTo>
                    <a:pt x="17016436" y="0"/>
                  </a:lnTo>
                  <a:lnTo>
                    <a:pt x="17016436" y="7147046"/>
                  </a:lnTo>
                  <a:lnTo>
                    <a:pt x="0" y="7147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97" t="0" r="-89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180131" y="3012729"/>
            <a:ext cx="6191326" cy="1730140"/>
            <a:chOff x="0" y="0"/>
            <a:chExt cx="8255102" cy="230685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255127" cy="2306828"/>
            </a:xfrm>
            <a:custGeom>
              <a:avLst/>
              <a:gdLst/>
              <a:ahLst/>
              <a:cxnLst/>
              <a:rect r="r" b="b" t="t" l="l"/>
              <a:pathLst>
                <a:path h="2306828" w="8255127">
                  <a:moveTo>
                    <a:pt x="0" y="276860"/>
                  </a:moveTo>
                  <a:cubicBezTo>
                    <a:pt x="0" y="123952"/>
                    <a:pt x="123952" y="0"/>
                    <a:pt x="276860" y="0"/>
                  </a:cubicBezTo>
                  <a:lnTo>
                    <a:pt x="7978267" y="0"/>
                  </a:lnTo>
                  <a:cubicBezTo>
                    <a:pt x="8131175" y="0"/>
                    <a:pt x="8255127" y="123952"/>
                    <a:pt x="8255127" y="276860"/>
                  </a:cubicBezTo>
                  <a:lnTo>
                    <a:pt x="8255127" y="2029968"/>
                  </a:lnTo>
                  <a:cubicBezTo>
                    <a:pt x="8255127" y="2182876"/>
                    <a:pt x="8131175" y="2306828"/>
                    <a:pt x="7978267" y="2306828"/>
                  </a:cubicBezTo>
                  <a:lnTo>
                    <a:pt x="276860" y="2306828"/>
                  </a:lnTo>
                  <a:cubicBezTo>
                    <a:pt x="123952" y="2306828"/>
                    <a:pt x="0" y="2182876"/>
                    <a:pt x="0" y="2029968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180131" y="3012729"/>
            <a:ext cx="110385" cy="1730140"/>
            <a:chOff x="0" y="0"/>
            <a:chExt cx="147180" cy="230685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7193" cy="2306828"/>
            </a:xfrm>
            <a:custGeom>
              <a:avLst/>
              <a:gdLst/>
              <a:ahLst/>
              <a:cxnLst/>
              <a:rect r="r" b="b" t="t" l="l"/>
              <a:pathLst>
                <a:path h="2306828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306828"/>
                  </a:lnTo>
                  <a:lnTo>
                    <a:pt x="0" y="2306828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1507553" y="3285249"/>
            <a:ext cx="5591375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EXAMPLE STUDENT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507553" y="3930406"/>
            <a:ext cx="5591375" cy="608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ST1001 • IT • Semester 5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180131" y="5071739"/>
            <a:ext cx="6191326" cy="1730140"/>
            <a:chOff x="0" y="0"/>
            <a:chExt cx="8255102" cy="230685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255127" cy="2306828"/>
            </a:xfrm>
            <a:custGeom>
              <a:avLst/>
              <a:gdLst/>
              <a:ahLst/>
              <a:cxnLst/>
              <a:rect r="r" b="b" t="t" l="l"/>
              <a:pathLst>
                <a:path h="2306828" w="8255127">
                  <a:moveTo>
                    <a:pt x="0" y="276860"/>
                  </a:moveTo>
                  <a:cubicBezTo>
                    <a:pt x="0" y="123952"/>
                    <a:pt x="123952" y="0"/>
                    <a:pt x="276860" y="0"/>
                  </a:cubicBezTo>
                  <a:lnTo>
                    <a:pt x="7978267" y="0"/>
                  </a:lnTo>
                  <a:cubicBezTo>
                    <a:pt x="8131175" y="0"/>
                    <a:pt x="8255127" y="123952"/>
                    <a:pt x="8255127" y="276860"/>
                  </a:cubicBezTo>
                  <a:lnTo>
                    <a:pt x="8255127" y="2029968"/>
                  </a:lnTo>
                  <a:cubicBezTo>
                    <a:pt x="8255127" y="2182876"/>
                    <a:pt x="8131175" y="2306828"/>
                    <a:pt x="7978267" y="2306828"/>
                  </a:cubicBezTo>
                  <a:lnTo>
                    <a:pt x="276860" y="2306828"/>
                  </a:lnTo>
                  <a:cubicBezTo>
                    <a:pt x="123952" y="2306828"/>
                    <a:pt x="0" y="2182876"/>
                    <a:pt x="0" y="2029968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1180131" y="5071739"/>
            <a:ext cx="110385" cy="1730140"/>
            <a:chOff x="0" y="0"/>
            <a:chExt cx="147180" cy="23068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7193" cy="2306828"/>
            </a:xfrm>
            <a:custGeom>
              <a:avLst/>
              <a:gdLst/>
              <a:ahLst/>
              <a:cxnLst/>
              <a:rect r="r" b="b" t="t" l="l"/>
              <a:pathLst>
                <a:path h="2306828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306828"/>
                  </a:lnTo>
                  <a:lnTo>
                    <a:pt x="0" y="2306828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507553" y="5344258"/>
            <a:ext cx="5591375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SIGNAL IDENTIFIED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507553" y="5989415"/>
            <a:ext cx="5591375" cy="608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Performance down 5.7 points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180131" y="7130748"/>
            <a:ext cx="6191326" cy="1730140"/>
            <a:chOff x="0" y="0"/>
            <a:chExt cx="8255102" cy="230685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255127" cy="2306828"/>
            </a:xfrm>
            <a:custGeom>
              <a:avLst/>
              <a:gdLst/>
              <a:ahLst/>
              <a:cxnLst/>
              <a:rect r="r" b="b" t="t" l="l"/>
              <a:pathLst>
                <a:path h="2306828" w="8255127">
                  <a:moveTo>
                    <a:pt x="0" y="276860"/>
                  </a:moveTo>
                  <a:cubicBezTo>
                    <a:pt x="0" y="123952"/>
                    <a:pt x="123952" y="0"/>
                    <a:pt x="276860" y="0"/>
                  </a:cubicBezTo>
                  <a:lnTo>
                    <a:pt x="7978267" y="0"/>
                  </a:lnTo>
                  <a:cubicBezTo>
                    <a:pt x="8131175" y="0"/>
                    <a:pt x="8255127" y="123952"/>
                    <a:pt x="8255127" y="276860"/>
                  </a:cubicBezTo>
                  <a:lnTo>
                    <a:pt x="8255127" y="2029968"/>
                  </a:lnTo>
                  <a:cubicBezTo>
                    <a:pt x="8255127" y="2182876"/>
                    <a:pt x="8131175" y="2306828"/>
                    <a:pt x="7978267" y="2306828"/>
                  </a:cubicBezTo>
                  <a:lnTo>
                    <a:pt x="276860" y="2306828"/>
                  </a:lnTo>
                  <a:cubicBezTo>
                    <a:pt x="123952" y="2306828"/>
                    <a:pt x="0" y="2182876"/>
                    <a:pt x="0" y="2029968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180131" y="7130748"/>
            <a:ext cx="110385" cy="1730140"/>
            <a:chOff x="0" y="0"/>
            <a:chExt cx="147180" cy="230685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47193" cy="2306828"/>
            </a:xfrm>
            <a:custGeom>
              <a:avLst/>
              <a:gdLst/>
              <a:ahLst/>
              <a:cxnLst/>
              <a:rect r="r" b="b" t="t" l="l"/>
              <a:pathLst>
                <a:path h="2306828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2306828"/>
                  </a:lnTo>
                  <a:lnTo>
                    <a:pt x="0" y="2306828"/>
                  </a:lnTo>
                  <a:close/>
                </a:path>
              </a:pathLst>
            </a:custGeom>
            <a:solidFill>
              <a:srgbClr val="4FDC97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1507553" y="7403268"/>
            <a:ext cx="5591375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HUMAN OVERSIGHT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507553" y="8048425"/>
            <a:ext cx="5591375" cy="608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Recommendation is advisory; faculty review is required.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0523" y="457543"/>
            <a:ext cx="12317473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32C5E8"/>
                </a:solidFill>
                <a:latin typeface="Aptos Bold"/>
                <a:ea typeface="Aptos Bold"/>
                <a:cs typeface="Aptos Bold"/>
                <a:sym typeface="Aptos Bold"/>
              </a:rPr>
              <a:t>10 • WRAP-UP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0523" y="1006612"/>
            <a:ext cx="16435492" cy="75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Results, limitations &amp; next steps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1709" y="1885121"/>
            <a:ext cx="16160963" cy="539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The prototype demonstrates a functioning workflow; real-world use would require further evaluation.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12543" y="2573474"/>
            <a:ext cx="1181071" cy="89792"/>
            <a:chOff x="0" y="0"/>
            <a:chExt cx="1574762" cy="1197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74800" cy="119761"/>
            </a:xfrm>
            <a:custGeom>
              <a:avLst/>
              <a:gdLst/>
              <a:ahLst/>
              <a:cxnLst/>
              <a:rect r="r" b="b" t="t" l="l"/>
              <a:pathLst>
                <a:path h="119761" w="1574800">
                  <a:moveTo>
                    <a:pt x="0" y="0"/>
                  </a:moveTo>
                  <a:lnTo>
                    <a:pt x="1574800" y="0"/>
                  </a:lnTo>
                  <a:lnTo>
                    <a:pt x="1574800" y="119761"/>
                  </a:lnTo>
                  <a:lnTo>
                    <a:pt x="0" y="119761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764895" y="498719"/>
            <a:ext cx="649757" cy="37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1"/>
              </a:lnSpc>
            </a:pPr>
            <a:r>
              <a:rPr lang="en-US" sz="1651" b="true">
                <a:solidFill>
                  <a:srgbClr val="A6BCCD"/>
                </a:solidFill>
                <a:latin typeface="Aptos Bold"/>
                <a:ea typeface="Aptos Bold"/>
                <a:cs typeface="Aptos Bold"/>
                <a:sym typeface="Aptos Bold"/>
              </a:rPr>
              <a:t>11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3719" y="3081366"/>
            <a:ext cx="5299091" cy="3308709"/>
            <a:chOff x="0" y="0"/>
            <a:chExt cx="7065454" cy="44116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065391" cy="4411472"/>
            </a:xfrm>
            <a:custGeom>
              <a:avLst/>
              <a:gdLst/>
              <a:ahLst/>
              <a:cxnLst/>
              <a:rect r="r" b="b" t="t" l="l"/>
              <a:pathLst>
                <a:path h="4411472" w="7065391">
                  <a:moveTo>
                    <a:pt x="0" y="529336"/>
                  </a:moveTo>
                  <a:cubicBezTo>
                    <a:pt x="0" y="236982"/>
                    <a:pt x="236982" y="0"/>
                    <a:pt x="529336" y="0"/>
                  </a:cubicBezTo>
                  <a:lnTo>
                    <a:pt x="6536055" y="0"/>
                  </a:lnTo>
                  <a:cubicBezTo>
                    <a:pt x="6828410" y="0"/>
                    <a:pt x="7065391" y="236982"/>
                    <a:pt x="7065391" y="529336"/>
                  </a:cubicBezTo>
                  <a:lnTo>
                    <a:pt x="7065391" y="3882136"/>
                  </a:lnTo>
                  <a:cubicBezTo>
                    <a:pt x="7065391" y="4174490"/>
                    <a:pt x="6828410" y="4411472"/>
                    <a:pt x="6536055" y="4411472"/>
                  </a:cubicBezTo>
                  <a:lnTo>
                    <a:pt x="529336" y="4411472"/>
                  </a:lnTo>
                  <a:cubicBezTo>
                    <a:pt x="236982" y="4411599"/>
                    <a:pt x="0" y="4174617"/>
                    <a:pt x="0" y="388226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3719" y="3081366"/>
            <a:ext cx="110385" cy="3308709"/>
            <a:chOff x="0" y="0"/>
            <a:chExt cx="147180" cy="441161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193" cy="4411599"/>
            </a:xfrm>
            <a:custGeom>
              <a:avLst/>
              <a:gdLst/>
              <a:ahLst/>
              <a:cxnLst/>
              <a:rect r="r" b="b" t="t" l="l"/>
              <a:pathLst>
                <a:path h="4411599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4411599"/>
                  </a:lnTo>
                  <a:lnTo>
                    <a:pt x="0" y="4411599"/>
                  </a:lnTo>
                  <a:close/>
                </a:path>
              </a:pathLst>
            </a:custGeom>
            <a:solidFill>
              <a:srgbClr val="4FDC97"/>
            </a:solidFill>
            <a:ln w="14299" cap="sq">
              <a:solidFill>
                <a:srgbClr val="4FDC97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281141" y="3353886"/>
            <a:ext cx="469914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WHAT WORKS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1141" y="3999043"/>
            <a:ext cx="4699140" cy="218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500 synthetic records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Dashboard filtering and search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Multi-agent workflow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Successful validation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513043" y="3081366"/>
            <a:ext cx="5299091" cy="3308709"/>
            <a:chOff x="0" y="0"/>
            <a:chExt cx="7065454" cy="441161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65391" cy="4411472"/>
            </a:xfrm>
            <a:custGeom>
              <a:avLst/>
              <a:gdLst/>
              <a:ahLst/>
              <a:cxnLst/>
              <a:rect r="r" b="b" t="t" l="l"/>
              <a:pathLst>
                <a:path h="4411472" w="7065391">
                  <a:moveTo>
                    <a:pt x="0" y="529336"/>
                  </a:moveTo>
                  <a:cubicBezTo>
                    <a:pt x="0" y="236982"/>
                    <a:pt x="236982" y="0"/>
                    <a:pt x="529336" y="0"/>
                  </a:cubicBezTo>
                  <a:lnTo>
                    <a:pt x="6536055" y="0"/>
                  </a:lnTo>
                  <a:cubicBezTo>
                    <a:pt x="6828410" y="0"/>
                    <a:pt x="7065391" y="236982"/>
                    <a:pt x="7065391" y="529336"/>
                  </a:cubicBezTo>
                  <a:lnTo>
                    <a:pt x="7065391" y="3882136"/>
                  </a:lnTo>
                  <a:cubicBezTo>
                    <a:pt x="7065391" y="4174490"/>
                    <a:pt x="6828410" y="4411472"/>
                    <a:pt x="6536055" y="4411472"/>
                  </a:cubicBezTo>
                  <a:lnTo>
                    <a:pt x="529336" y="4411472"/>
                  </a:lnTo>
                  <a:cubicBezTo>
                    <a:pt x="236982" y="4411599"/>
                    <a:pt x="0" y="4174617"/>
                    <a:pt x="0" y="388226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6513043" y="3081366"/>
            <a:ext cx="110385" cy="3308709"/>
            <a:chOff x="0" y="0"/>
            <a:chExt cx="147180" cy="441161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7193" cy="4411599"/>
            </a:xfrm>
            <a:custGeom>
              <a:avLst/>
              <a:gdLst/>
              <a:ahLst/>
              <a:cxnLst/>
              <a:rect r="r" b="b" t="t" l="l"/>
              <a:pathLst>
                <a:path h="4411599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4411599"/>
                  </a:lnTo>
                  <a:lnTo>
                    <a:pt x="0" y="4411599"/>
                  </a:lnTo>
                  <a:close/>
                </a:path>
              </a:pathLst>
            </a:custGeom>
            <a:solidFill>
              <a:srgbClr val="FF756D"/>
            </a:solidFill>
            <a:ln w="14299" cap="sq">
              <a:solidFill>
                <a:srgbClr val="FF756D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6840474" y="3353886"/>
            <a:ext cx="469914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CURRENT LIMITATIONS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840474" y="3999043"/>
            <a:ext cx="4699140" cy="218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Synthetic data only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Rule-based risk classification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No real-world accuracy evaluation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LLM output needs oversight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072366" y="3081366"/>
            <a:ext cx="5299091" cy="3308709"/>
            <a:chOff x="0" y="0"/>
            <a:chExt cx="7065454" cy="441161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65391" cy="4411472"/>
            </a:xfrm>
            <a:custGeom>
              <a:avLst/>
              <a:gdLst/>
              <a:ahLst/>
              <a:cxnLst/>
              <a:rect r="r" b="b" t="t" l="l"/>
              <a:pathLst>
                <a:path h="4411472" w="7065391">
                  <a:moveTo>
                    <a:pt x="0" y="529336"/>
                  </a:moveTo>
                  <a:cubicBezTo>
                    <a:pt x="0" y="236982"/>
                    <a:pt x="236982" y="0"/>
                    <a:pt x="529336" y="0"/>
                  </a:cubicBezTo>
                  <a:lnTo>
                    <a:pt x="6536055" y="0"/>
                  </a:lnTo>
                  <a:cubicBezTo>
                    <a:pt x="6828410" y="0"/>
                    <a:pt x="7065391" y="236982"/>
                    <a:pt x="7065391" y="529336"/>
                  </a:cubicBezTo>
                  <a:lnTo>
                    <a:pt x="7065391" y="3882136"/>
                  </a:lnTo>
                  <a:cubicBezTo>
                    <a:pt x="7065391" y="4174490"/>
                    <a:pt x="6828410" y="4411472"/>
                    <a:pt x="6536055" y="4411472"/>
                  </a:cubicBezTo>
                  <a:lnTo>
                    <a:pt x="529336" y="4411472"/>
                  </a:lnTo>
                  <a:cubicBezTo>
                    <a:pt x="236982" y="4411599"/>
                    <a:pt x="0" y="4174617"/>
                    <a:pt x="0" y="3882263"/>
                  </a:cubicBezTo>
                  <a:close/>
                </a:path>
              </a:pathLst>
            </a:custGeom>
            <a:solidFill>
              <a:srgbClr val="14273A"/>
            </a:solidFill>
            <a:ln w="14299" cap="sq">
              <a:solidFill>
                <a:srgbClr val="284258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2072366" y="3081366"/>
            <a:ext cx="110385" cy="3308709"/>
            <a:chOff x="0" y="0"/>
            <a:chExt cx="147180" cy="441161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7193" cy="4411599"/>
            </a:xfrm>
            <a:custGeom>
              <a:avLst/>
              <a:gdLst/>
              <a:ahLst/>
              <a:cxnLst/>
              <a:rect r="r" b="b" t="t" l="l"/>
              <a:pathLst>
                <a:path h="4411599" w="147193">
                  <a:moveTo>
                    <a:pt x="0" y="0"/>
                  </a:moveTo>
                  <a:lnTo>
                    <a:pt x="147193" y="0"/>
                  </a:lnTo>
                  <a:lnTo>
                    <a:pt x="147193" y="4411599"/>
                  </a:lnTo>
                  <a:lnTo>
                    <a:pt x="0" y="4411599"/>
                  </a:lnTo>
                  <a:close/>
                </a:path>
              </a:pathLst>
            </a:custGeom>
            <a:solidFill>
              <a:srgbClr val="32C5E8"/>
            </a:solidFill>
            <a:ln w="14299" cap="sq">
              <a:solidFill>
                <a:srgbClr val="32C5E8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399797" y="3353886"/>
            <a:ext cx="4699140" cy="44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F5F8FC"/>
                </a:solidFill>
                <a:latin typeface="Aptos Bold"/>
                <a:ea typeface="Aptos Bold"/>
                <a:cs typeface="Aptos Bold"/>
                <a:sym typeface="Aptos Bold"/>
              </a:rPr>
              <a:t>FUTURE SCOPE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399797" y="3999043"/>
            <a:ext cx="4699140" cy="218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Evaluate on approved anonymized data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Explain risk factors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Add audit and access controls</a:t>
            </a:r>
          </a:p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• Track intervention outcomes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53719" y="7130748"/>
            <a:ext cx="16417738" cy="1318336"/>
            <a:chOff x="0" y="0"/>
            <a:chExt cx="21890317" cy="175778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890355" cy="1757807"/>
            </a:xfrm>
            <a:custGeom>
              <a:avLst/>
              <a:gdLst/>
              <a:ahLst/>
              <a:cxnLst/>
              <a:rect r="r" b="b" t="t" l="l"/>
              <a:pathLst>
                <a:path h="1757807" w="21890355">
                  <a:moveTo>
                    <a:pt x="0" y="210947"/>
                  </a:moveTo>
                  <a:cubicBezTo>
                    <a:pt x="0" y="94488"/>
                    <a:pt x="94488" y="0"/>
                    <a:pt x="210947" y="0"/>
                  </a:cubicBezTo>
                  <a:lnTo>
                    <a:pt x="21679408" y="0"/>
                  </a:lnTo>
                  <a:cubicBezTo>
                    <a:pt x="21795868" y="0"/>
                    <a:pt x="21890355" y="94488"/>
                    <a:pt x="21890355" y="210947"/>
                  </a:cubicBezTo>
                  <a:lnTo>
                    <a:pt x="21890355" y="1546860"/>
                  </a:lnTo>
                  <a:cubicBezTo>
                    <a:pt x="21890355" y="1663319"/>
                    <a:pt x="21795868" y="1757807"/>
                    <a:pt x="21679408" y="1757807"/>
                  </a:cubicBezTo>
                  <a:lnTo>
                    <a:pt x="210947" y="1757807"/>
                  </a:lnTo>
                  <a:cubicBezTo>
                    <a:pt x="94488" y="1757807"/>
                    <a:pt x="0" y="1663319"/>
                    <a:pt x="0" y="1546860"/>
                  </a:cubicBezTo>
                  <a:close/>
                </a:path>
              </a:pathLst>
            </a:custGeom>
            <a:solidFill>
              <a:srgbClr val="113042"/>
            </a:solidFill>
            <a:ln w="14299" cap="sq">
              <a:solidFill>
                <a:srgbClr val="235A71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372676" y="7439882"/>
            <a:ext cx="15579833" cy="617706"/>
            <a:chOff x="0" y="0"/>
            <a:chExt cx="20773111" cy="82360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773109" cy="823603"/>
            </a:xfrm>
            <a:custGeom>
              <a:avLst/>
              <a:gdLst/>
              <a:ahLst/>
              <a:cxnLst/>
              <a:rect r="r" b="b" t="t" l="l"/>
              <a:pathLst>
                <a:path h="823603" w="20773109">
                  <a:moveTo>
                    <a:pt x="0" y="0"/>
                  </a:moveTo>
                  <a:lnTo>
                    <a:pt x="20773109" y="0"/>
                  </a:lnTo>
                  <a:lnTo>
                    <a:pt x="20773109" y="823603"/>
                  </a:lnTo>
                  <a:lnTo>
                    <a:pt x="0" y="82360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1455" r="0" b="-44145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773111" cy="8236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82"/>
                </a:lnSpc>
              </a:pPr>
              <a:r>
                <a:rPr lang="en-US" sz="2401" b="true">
                  <a:solidFill>
                    <a:srgbClr val="F5F8FC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Acadex AI turns academic signals into structured, reviewable support—not automated decisions.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951709" y="9832896"/>
            <a:ext cx="10944806" cy="210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ACADEX AI  •  FOUNDATIONS OF AGENTIC AI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833523" y="9805445"/>
            <a:ext cx="512493" cy="237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41"/>
              </a:lnSpc>
            </a:pPr>
            <a:r>
              <a:rPr lang="en-US" sz="1200">
                <a:solidFill>
                  <a:srgbClr val="A6BCCD"/>
                </a:solidFill>
                <a:latin typeface="Aptos"/>
                <a:ea typeface="Aptos"/>
                <a:cs typeface="Aptos"/>
                <a:sym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8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310191" y="4093480"/>
            <a:ext cx="5637312" cy="1809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729"/>
              </a:lnSpc>
            </a:pPr>
            <a:r>
              <a:rPr lang="en-US" sz="1052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DAHYes-1c-Y</dc:identifier>
  <dcterms:modified xsi:type="dcterms:W3CDTF">2011-08-01T06:04:30Z</dcterms:modified>
  <cp:revision>1</cp:revision>
  <dc:title>Acadex AI CA-3 Presentation</dc:title>
</cp:coreProperties>
</file>