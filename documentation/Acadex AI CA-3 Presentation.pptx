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</p:sldIdLst>
  <p:sldSz cx="18288000" cy="10287000"/>
  <p:notesSz cx="6858000" cy="9144000"/>
  <p:embeddedFontLst>
    <p:embeddedFont>
      <p:font typeface="Aptos Bold" charset="1" panose="020B0004020202020204"/>
      <p:regular r:id="rId24"/>
    </p:embeddedFont>
    <p:embeddedFont>
      <p:font typeface="Aptos Italics" charset="1" panose="020B0004020202090204"/>
      <p:regular r:id="rId25"/>
    </p:embeddedFont>
    <p:embeddedFont>
      <p:font typeface="Aptos" charset="1" panose="020B0004020202020204"/>
      <p:regular r:id="rId26"/>
    </p:embeddedFont>
    <p:embeddedFont>
      <p:font typeface="Lato Bold" charset="1" panose="020F0502020204030203"/>
      <p:regular r:id="rId27"/>
    </p:embeddedFont>
    <p:embeddedFont>
      <p:font typeface="Anton" charset="1" panose="00000500000000000000"/>
      <p:regular r:id="rId2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fonts/font24.fntdata" Type="http://schemas.openxmlformats.org/officeDocument/2006/relationships/font"/><Relationship Id="rId25" Target="fonts/font25.fntdata" Type="http://schemas.openxmlformats.org/officeDocument/2006/relationships/font"/><Relationship Id="rId26" Target="fonts/font26.fntdata" Type="http://schemas.openxmlformats.org/officeDocument/2006/relationships/font"/><Relationship Id="rId27" Target="fonts/font27.fntdata" Type="http://schemas.openxmlformats.org/officeDocument/2006/relationships/font"/><Relationship Id="rId28" Target="fonts/font28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pn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815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53719" y="5963974"/>
            <a:ext cx="4406846" cy="96660"/>
            <a:chOff x="0" y="0"/>
            <a:chExt cx="5875795" cy="1288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875782" cy="128905"/>
            </a:xfrm>
            <a:custGeom>
              <a:avLst/>
              <a:gdLst/>
              <a:ahLst/>
              <a:cxnLst/>
              <a:rect r="r" b="b" t="t" l="l"/>
              <a:pathLst>
                <a:path h="128905" w="5875782">
                  <a:moveTo>
                    <a:pt x="0" y="0"/>
                  </a:moveTo>
                  <a:lnTo>
                    <a:pt x="5875782" y="0"/>
                  </a:lnTo>
                  <a:lnTo>
                    <a:pt x="5875782" y="128905"/>
                  </a:lnTo>
                  <a:lnTo>
                    <a:pt x="0" y="128905"/>
                  </a:lnTo>
                  <a:close/>
                </a:path>
              </a:pathLst>
            </a:custGeom>
            <a:solidFill>
              <a:srgbClr val="FF756D"/>
            </a:solidFill>
            <a:ln w="14299" cap="sq">
              <a:solidFill>
                <a:srgbClr val="FF756D"/>
              </a:solidFill>
              <a:prstDash val="solid"/>
              <a:miter/>
            </a:ln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7812053" y="8262252"/>
            <a:ext cx="10475947" cy="2016620"/>
          </a:xfrm>
          <a:custGeom>
            <a:avLst/>
            <a:gdLst/>
            <a:ahLst/>
            <a:cxnLst/>
            <a:rect r="r" b="b" t="t" l="l"/>
            <a:pathLst>
              <a:path h="2016620" w="10475947">
                <a:moveTo>
                  <a:pt x="0" y="0"/>
                </a:moveTo>
                <a:lnTo>
                  <a:pt x="10475947" y="0"/>
                </a:lnTo>
                <a:lnTo>
                  <a:pt x="10475947" y="2016620"/>
                </a:lnTo>
                <a:lnTo>
                  <a:pt x="0" y="201662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9715500" y="280973"/>
            <a:ext cx="8572500" cy="8229600"/>
          </a:xfrm>
          <a:custGeom>
            <a:avLst/>
            <a:gdLst/>
            <a:ahLst/>
            <a:cxnLst/>
            <a:rect r="r" b="b" t="t" l="l"/>
            <a:pathLst>
              <a:path h="8229600" w="8572500">
                <a:moveTo>
                  <a:pt x="0" y="0"/>
                </a:moveTo>
                <a:lnTo>
                  <a:pt x="8572500" y="0"/>
                </a:lnTo>
                <a:lnTo>
                  <a:pt x="8572500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951709" y="859822"/>
            <a:ext cx="10670267" cy="4533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1"/>
              </a:lnSpc>
            </a:pPr>
            <a:r>
              <a:rPr lang="en-US" sz="2101" b="true">
                <a:solidFill>
                  <a:srgbClr val="F5F8FC"/>
                </a:solidFill>
                <a:latin typeface="Aptos Bold"/>
                <a:ea typeface="Aptos Bold"/>
                <a:cs typeface="Aptos Bold"/>
                <a:sym typeface="Aptos Bold"/>
              </a:rPr>
              <a:t>FOUNDATIONS OF AGENTIC AI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869347" y="1871396"/>
            <a:ext cx="11082071" cy="11301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646"/>
              </a:lnSpc>
            </a:pPr>
            <a:r>
              <a:rPr lang="en-US" sz="7205" b="true">
                <a:solidFill>
                  <a:srgbClr val="F5F8FC"/>
                </a:solidFill>
                <a:latin typeface="Aptos Bold"/>
                <a:ea typeface="Aptos Bold"/>
                <a:cs typeface="Aptos Bold"/>
                <a:sym typeface="Aptos Bold"/>
              </a:rPr>
              <a:t>ACADEX AI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51709" y="3244072"/>
            <a:ext cx="10395737" cy="15419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24"/>
              </a:lnSpc>
            </a:pPr>
            <a:r>
              <a:rPr lang="en-US" sz="4353" b="true">
                <a:solidFill>
                  <a:srgbClr val="F5F8FC"/>
                </a:solidFill>
                <a:latin typeface="Aptos Bold"/>
                <a:ea typeface="Aptos Bold"/>
                <a:cs typeface="Aptos Bold"/>
                <a:sym typeface="Aptos Bold"/>
              </a:rPr>
              <a:t>Agentic Academic Intelligence</a:t>
            </a:r>
          </a:p>
          <a:p>
            <a:pPr algn="l">
              <a:lnSpc>
                <a:spcPts val="5224"/>
              </a:lnSpc>
            </a:pPr>
            <a:r>
              <a:rPr lang="en-US" sz="4353" b="true">
                <a:solidFill>
                  <a:srgbClr val="F5F8FC"/>
                </a:solidFill>
                <a:latin typeface="Aptos Bold"/>
                <a:ea typeface="Aptos Bold"/>
                <a:cs typeface="Aptos Bold"/>
                <a:sym typeface="Aptos Bold"/>
              </a:rPr>
              <a:t>&amp; Intervention System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79160" y="5165808"/>
            <a:ext cx="9846669" cy="5811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62"/>
              </a:lnSpc>
            </a:pPr>
            <a:r>
              <a:rPr lang="en-US" sz="2551" i="true">
                <a:solidFill>
                  <a:srgbClr val="A6BCCD"/>
                </a:solidFill>
                <a:latin typeface="Aptos Italics"/>
                <a:ea typeface="Aptos Italics"/>
                <a:cs typeface="Aptos Italics"/>
                <a:sym typeface="Aptos Italics"/>
              </a:rPr>
              <a:t>From academic signals to supportive action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79160" y="7362082"/>
            <a:ext cx="10395737" cy="3752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1"/>
              </a:lnSpc>
            </a:pPr>
            <a:r>
              <a:rPr lang="en-US" sz="1501" b="true">
                <a:solidFill>
                  <a:srgbClr val="A6BCCD"/>
                </a:solidFill>
                <a:latin typeface="Aptos Bold"/>
                <a:ea typeface="Aptos Bold"/>
                <a:cs typeface="Aptos Bold"/>
                <a:sym typeface="Aptos Bold"/>
              </a:rPr>
              <a:t>SUBMITTED BY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79160" y="7911151"/>
            <a:ext cx="10670267" cy="11988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2"/>
              </a:lnSpc>
            </a:pPr>
            <a:r>
              <a:rPr lang="en-US" sz="2251" b="true">
                <a:solidFill>
                  <a:srgbClr val="F5F8FC"/>
                </a:solidFill>
                <a:latin typeface="Aptos Bold"/>
                <a:ea typeface="Aptos Bold"/>
                <a:cs typeface="Aptos Bold"/>
                <a:sym typeface="Aptos Bold"/>
              </a:rPr>
              <a:t>Khushi Harkhani  •  24070126091</a:t>
            </a:r>
          </a:p>
          <a:p>
            <a:pPr algn="l">
              <a:lnSpc>
                <a:spcPts val="2702"/>
              </a:lnSpc>
            </a:pPr>
            <a:r>
              <a:rPr lang="en-US" sz="2251" b="true">
                <a:solidFill>
                  <a:srgbClr val="F5F8FC"/>
                </a:solidFill>
                <a:latin typeface="Aptos Bold"/>
                <a:ea typeface="Aptos Bold"/>
                <a:cs typeface="Aptos Bold"/>
                <a:sym typeface="Aptos Bold"/>
              </a:rPr>
              <a:t>Khushie Agrawal  •  24070126092</a:t>
            </a:r>
          </a:p>
          <a:p>
            <a:pPr algn="l">
              <a:lnSpc>
                <a:spcPts val="2702"/>
              </a:lnSpc>
            </a:pPr>
            <a:r>
              <a:rPr lang="en-US" sz="2251" b="true">
                <a:solidFill>
                  <a:srgbClr val="F5F8FC"/>
                </a:solidFill>
                <a:latin typeface="Aptos Bold"/>
                <a:ea typeface="Aptos Bold"/>
                <a:cs typeface="Aptos Bold"/>
                <a:sym typeface="Aptos Bold"/>
              </a:rPr>
              <a:t>AIML B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815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10523" y="1006612"/>
            <a:ext cx="16435492" cy="7595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3"/>
              </a:lnSpc>
            </a:pPr>
            <a:r>
              <a:rPr lang="en-US" sz="4203" b="true">
                <a:solidFill>
                  <a:srgbClr val="F5F8FC"/>
                </a:solidFill>
                <a:latin typeface="Aptos Bold"/>
                <a:ea typeface="Aptos Bold"/>
                <a:cs typeface="Aptos Bold"/>
                <a:sym typeface="Aptos Bold"/>
              </a:rPr>
              <a:t>Problem statement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951709" y="1885121"/>
            <a:ext cx="16160963" cy="5399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>
                <a:solidFill>
                  <a:srgbClr val="A6BCCD"/>
                </a:solidFill>
                <a:latin typeface="Aptos"/>
                <a:ea typeface="Aptos"/>
                <a:cs typeface="Aptos"/>
                <a:sym typeface="Aptos"/>
              </a:rPr>
              <a:t>Academic monitoring can be fragmented; timely support depends on noticing patterns early.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912543" y="2573474"/>
            <a:ext cx="1181071" cy="89792"/>
            <a:chOff x="0" y="0"/>
            <a:chExt cx="1574762" cy="119723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574800" cy="119761"/>
            </a:xfrm>
            <a:custGeom>
              <a:avLst/>
              <a:gdLst/>
              <a:ahLst/>
              <a:cxnLst/>
              <a:rect r="r" b="b" t="t" l="l"/>
              <a:pathLst>
                <a:path h="119761" w="1574800">
                  <a:moveTo>
                    <a:pt x="0" y="0"/>
                  </a:moveTo>
                  <a:lnTo>
                    <a:pt x="1574800" y="0"/>
                  </a:lnTo>
                  <a:lnTo>
                    <a:pt x="1574800" y="119761"/>
                  </a:lnTo>
                  <a:lnTo>
                    <a:pt x="0" y="119761"/>
                  </a:lnTo>
                  <a:close/>
                </a:path>
              </a:pathLst>
            </a:custGeom>
            <a:solidFill>
              <a:srgbClr val="FF756D"/>
            </a:solidFill>
            <a:ln w="14299" cap="sq">
              <a:solidFill>
                <a:srgbClr val="FF756D"/>
              </a:solidFill>
              <a:prstDash val="solid"/>
              <a:miter/>
            </a:ln>
          </p:spPr>
        </p:sp>
      </p:grpSp>
      <p:sp>
        <p:nvSpPr>
          <p:cNvPr name="TextBox 6" id="6"/>
          <p:cNvSpPr txBox="true"/>
          <p:nvPr/>
        </p:nvSpPr>
        <p:spPr>
          <a:xfrm rot="0">
            <a:off x="16764895" y="498719"/>
            <a:ext cx="649757" cy="3752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981"/>
              </a:lnSpc>
            </a:pPr>
            <a:r>
              <a:rPr lang="en-US" sz="1651" b="true">
                <a:solidFill>
                  <a:srgbClr val="A6BCCD"/>
                </a:solidFill>
                <a:latin typeface="Aptos Bold"/>
                <a:ea typeface="Aptos Bold"/>
                <a:cs typeface="Aptos Bold"/>
                <a:sym typeface="Aptos Bold"/>
              </a:rPr>
              <a:t>02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953719" y="3081366"/>
            <a:ext cx="5299091" cy="3377346"/>
            <a:chOff x="0" y="0"/>
            <a:chExt cx="7065454" cy="4503128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7065518" cy="4503166"/>
            </a:xfrm>
            <a:custGeom>
              <a:avLst/>
              <a:gdLst/>
              <a:ahLst/>
              <a:cxnLst/>
              <a:rect r="r" b="b" t="t" l="l"/>
              <a:pathLst>
                <a:path h="4503166" w="7065518">
                  <a:moveTo>
                    <a:pt x="0" y="540385"/>
                  </a:moveTo>
                  <a:cubicBezTo>
                    <a:pt x="0" y="241935"/>
                    <a:pt x="241935" y="0"/>
                    <a:pt x="540385" y="0"/>
                  </a:cubicBezTo>
                  <a:lnTo>
                    <a:pt x="6525133" y="0"/>
                  </a:lnTo>
                  <a:cubicBezTo>
                    <a:pt x="6823583" y="0"/>
                    <a:pt x="7065518" y="241935"/>
                    <a:pt x="7065518" y="540385"/>
                  </a:cubicBezTo>
                  <a:lnTo>
                    <a:pt x="7065518" y="3962781"/>
                  </a:lnTo>
                  <a:cubicBezTo>
                    <a:pt x="7065518" y="4261231"/>
                    <a:pt x="6823583" y="4503166"/>
                    <a:pt x="6525133" y="4503166"/>
                  </a:cubicBezTo>
                  <a:lnTo>
                    <a:pt x="540385" y="4503166"/>
                  </a:lnTo>
                  <a:cubicBezTo>
                    <a:pt x="241935" y="4503166"/>
                    <a:pt x="0" y="4261231"/>
                    <a:pt x="0" y="3962781"/>
                  </a:cubicBezTo>
                  <a:close/>
                </a:path>
              </a:pathLst>
            </a:custGeom>
            <a:solidFill>
              <a:srgbClr val="14273A"/>
            </a:solidFill>
            <a:ln w="14299" cap="sq">
              <a:solidFill>
                <a:srgbClr val="284258"/>
              </a:solidFill>
              <a:prstDash val="solid"/>
              <a:miter/>
            </a:ln>
          </p:spPr>
        </p:sp>
      </p:grpSp>
      <p:grpSp>
        <p:nvGrpSpPr>
          <p:cNvPr name="Group 9" id="9"/>
          <p:cNvGrpSpPr/>
          <p:nvPr/>
        </p:nvGrpSpPr>
        <p:grpSpPr>
          <a:xfrm rot="0">
            <a:off x="953719" y="3081366"/>
            <a:ext cx="110385" cy="3377346"/>
            <a:chOff x="0" y="0"/>
            <a:chExt cx="147180" cy="4503128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47193" cy="4503166"/>
            </a:xfrm>
            <a:custGeom>
              <a:avLst/>
              <a:gdLst/>
              <a:ahLst/>
              <a:cxnLst/>
              <a:rect r="r" b="b" t="t" l="l"/>
              <a:pathLst>
                <a:path h="4503166" w="147193">
                  <a:moveTo>
                    <a:pt x="0" y="0"/>
                  </a:moveTo>
                  <a:lnTo>
                    <a:pt x="147193" y="0"/>
                  </a:lnTo>
                  <a:lnTo>
                    <a:pt x="147193" y="4503166"/>
                  </a:lnTo>
                  <a:lnTo>
                    <a:pt x="0" y="4503166"/>
                  </a:lnTo>
                  <a:close/>
                </a:path>
              </a:pathLst>
            </a:custGeom>
            <a:solidFill>
              <a:srgbClr val="FF756D"/>
            </a:solidFill>
            <a:ln w="14299" cap="sq">
              <a:solidFill>
                <a:srgbClr val="FF756D"/>
              </a:solidFill>
              <a:prstDash val="solid"/>
              <a:miter/>
            </a:ln>
          </p:spPr>
        </p:sp>
      </p:grpSp>
      <p:sp>
        <p:nvSpPr>
          <p:cNvPr name="TextBox 11" id="11"/>
          <p:cNvSpPr txBox="true"/>
          <p:nvPr/>
        </p:nvSpPr>
        <p:spPr>
          <a:xfrm rot="0">
            <a:off x="1281141" y="3353886"/>
            <a:ext cx="4699140" cy="4438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82"/>
              </a:lnSpc>
            </a:pPr>
            <a:r>
              <a:rPr lang="en-US" sz="2401" b="true">
                <a:solidFill>
                  <a:srgbClr val="F5F8FC"/>
                </a:solidFill>
                <a:latin typeface="Aptos Bold"/>
                <a:ea typeface="Aptos Bold"/>
                <a:cs typeface="Aptos Bold"/>
                <a:sym typeface="Aptos Bold"/>
              </a:rPr>
              <a:t>THE CHALLENGE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281141" y="3999043"/>
            <a:ext cx="4699140" cy="22557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2"/>
              </a:lnSpc>
            </a:pPr>
            <a:r>
              <a:rPr lang="en-US" sz="2251">
                <a:solidFill>
                  <a:srgbClr val="A6BCCD"/>
                </a:solidFill>
                <a:latin typeface="Aptos"/>
                <a:ea typeface="Aptos"/>
                <a:cs typeface="Aptos"/>
                <a:sym typeface="Aptos"/>
              </a:rPr>
              <a:t>Attendance, assessment results and assignment completion must be reviewed together to understand a student's academic situation.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6513043" y="3081366"/>
            <a:ext cx="5299091" cy="3377346"/>
            <a:chOff x="0" y="0"/>
            <a:chExt cx="7065454" cy="4503128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7065518" cy="4503166"/>
            </a:xfrm>
            <a:custGeom>
              <a:avLst/>
              <a:gdLst/>
              <a:ahLst/>
              <a:cxnLst/>
              <a:rect r="r" b="b" t="t" l="l"/>
              <a:pathLst>
                <a:path h="4503166" w="7065518">
                  <a:moveTo>
                    <a:pt x="0" y="540385"/>
                  </a:moveTo>
                  <a:cubicBezTo>
                    <a:pt x="0" y="241935"/>
                    <a:pt x="241935" y="0"/>
                    <a:pt x="540385" y="0"/>
                  </a:cubicBezTo>
                  <a:lnTo>
                    <a:pt x="6525133" y="0"/>
                  </a:lnTo>
                  <a:cubicBezTo>
                    <a:pt x="6823583" y="0"/>
                    <a:pt x="7065518" y="241935"/>
                    <a:pt x="7065518" y="540385"/>
                  </a:cubicBezTo>
                  <a:lnTo>
                    <a:pt x="7065518" y="3962781"/>
                  </a:lnTo>
                  <a:cubicBezTo>
                    <a:pt x="7065518" y="4261231"/>
                    <a:pt x="6823583" y="4503166"/>
                    <a:pt x="6525133" y="4503166"/>
                  </a:cubicBezTo>
                  <a:lnTo>
                    <a:pt x="540385" y="4503166"/>
                  </a:lnTo>
                  <a:cubicBezTo>
                    <a:pt x="241935" y="4503166"/>
                    <a:pt x="0" y="4261231"/>
                    <a:pt x="0" y="3962781"/>
                  </a:cubicBezTo>
                  <a:close/>
                </a:path>
              </a:pathLst>
            </a:custGeom>
            <a:solidFill>
              <a:srgbClr val="14273A"/>
            </a:solidFill>
            <a:ln w="14299" cap="sq">
              <a:solidFill>
                <a:srgbClr val="284258"/>
              </a:solidFill>
              <a:prstDash val="solid"/>
              <a:miter/>
            </a:ln>
          </p:spPr>
        </p:sp>
      </p:grpSp>
      <p:grpSp>
        <p:nvGrpSpPr>
          <p:cNvPr name="Group 15" id="15"/>
          <p:cNvGrpSpPr/>
          <p:nvPr/>
        </p:nvGrpSpPr>
        <p:grpSpPr>
          <a:xfrm rot="0">
            <a:off x="6513043" y="3081366"/>
            <a:ext cx="110385" cy="3377346"/>
            <a:chOff x="0" y="0"/>
            <a:chExt cx="147180" cy="4503128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47193" cy="4503166"/>
            </a:xfrm>
            <a:custGeom>
              <a:avLst/>
              <a:gdLst/>
              <a:ahLst/>
              <a:cxnLst/>
              <a:rect r="r" b="b" t="t" l="l"/>
              <a:pathLst>
                <a:path h="4503166" w="147193">
                  <a:moveTo>
                    <a:pt x="0" y="0"/>
                  </a:moveTo>
                  <a:lnTo>
                    <a:pt x="147193" y="0"/>
                  </a:lnTo>
                  <a:lnTo>
                    <a:pt x="147193" y="4503166"/>
                  </a:lnTo>
                  <a:lnTo>
                    <a:pt x="0" y="4503166"/>
                  </a:lnTo>
                  <a:close/>
                </a:path>
              </a:pathLst>
            </a:custGeom>
            <a:solidFill>
              <a:srgbClr val="FFC55C"/>
            </a:solidFill>
            <a:ln w="14299" cap="sq">
              <a:solidFill>
                <a:srgbClr val="FFC55C"/>
              </a:solidFill>
              <a:prstDash val="solid"/>
              <a:miter/>
            </a:ln>
          </p:spPr>
        </p:sp>
      </p:grpSp>
      <p:sp>
        <p:nvSpPr>
          <p:cNvPr name="TextBox 17" id="17"/>
          <p:cNvSpPr txBox="true"/>
          <p:nvPr/>
        </p:nvSpPr>
        <p:spPr>
          <a:xfrm rot="0">
            <a:off x="6840474" y="3353886"/>
            <a:ext cx="4699140" cy="4438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82"/>
              </a:lnSpc>
            </a:pPr>
            <a:r>
              <a:rPr lang="en-US" sz="2401" b="true">
                <a:solidFill>
                  <a:srgbClr val="F5F8FC"/>
                </a:solidFill>
                <a:latin typeface="Aptos Bold"/>
                <a:ea typeface="Aptos Bold"/>
                <a:cs typeface="Aptos Bold"/>
                <a:sym typeface="Aptos Bold"/>
              </a:rPr>
              <a:t>WHY IT MATTERS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6840474" y="3999043"/>
            <a:ext cx="4699140" cy="22557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2"/>
              </a:lnSpc>
            </a:pPr>
            <a:r>
              <a:rPr lang="en-US" sz="2251">
                <a:solidFill>
                  <a:srgbClr val="A6BCCD"/>
                </a:solidFill>
                <a:latin typeface="Aptos"/>
                <a:ea typeface="Aptos"/>
                <a:cs typeface="Aptos"/>
                <a:sym typeface="Aptos"/>
              </a:rPr>
              <a:t>Manual review across many records can make it harder to prioritize follow-up consistently and prepare timely support.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12072366" y="3081366"/>
            <a:ext cx="5299091" cy="3377346"/>
            <a:chOff x="0" y="0"/>
            <a:chExt cx="7065454" cy="4503128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7065518" cy="4503166"/>
            </a:xfrm>
            <a:custGeom>
              <a:avLst/>
              <a:gdLst/>
              <a:ahLst/>
              <a:cxnLst/>
              <a:rect r="r" b="b" t="t" l="l"/>
              <a:pathLst>
                <a:path h="4503166" w="7065518">
                  <a:moveTo>
                    <a:pt x="0" y="540385"/>
                  </a:moveTo>
                  <a:cubicBezTo>
                    <a:pt x="0" y="241935"/>
                    <a:pt x="241935" y="0"/>
                    <a:pt x="540385" y="0"/>
                  </a:cubicBezTo>
                  <a:lnTo>
                    <a:pt x="6525133" y="0"/>
                  </a:lnTo>
                  <a:cubicBezTo>
                    <a:pt x="6823583" y="0"/>
                    <a:pt x="7065518" y="241935"/>
                    <a:pt x="7065518" y="540385"/>
                  </a:cubicBezTo>
                  <a:lnTo>
                    <a:pt x="7065518" y="3962781"/>
                  </a:lnTo>
                  <a:cubicBezTo>
                    <a:pt x="7065518" y="4261231"/>
                    <a:pt x="6823583" y="4503166"/>
                    <a:pt x="6525133" y="4503166"/>
                  </a:cubicBezTo>
                  <a:lnTo>
                    <a:pt x="540385" y="4503166"/>
                  </a:lnTo>
                  <a:cubicBezTo>
                    <a:pt x="241935" y="4503166"/>
                    <a:pt x="0" y="4261231"/>
                    <a:pt x="0" y="3962781"/>
                  </a:cubicBezTo>
                  <a:close/>
                </a:path>
              </a:pathLst>
            </a:custGeom>
            <a:solidFill>
              <a:srgbClr val="14273A"/>
            </a:solidFill>
            <a:ln w="14299" cap="sq">
              <a:solidFill>
                <a:srgbClr val="284258"/>
              </a:solidFill>
              <a:prstDash val="solid"/>
              <a:miter/>
            </a:ln>
          </p:spPr>
        </p:sp>
      </p:grpSp>
      <p:grpSp>
        <p:nvGrpSpPr>
          <p:cNvPr name="Group 21" id="21"/>
          <p:cNvGrpSpPr/>
          <p:nvPr/>
        </p:nvGrpSpPr>
        <p:grpSpPr>
          <a:xfrm rot="0">
            <a:off x="12072366" y="3081366"/>
            <a:ext cx="110385" cy="3377346"/>
            <a:chOff x="0" y="0"/>
            <a:chExt cx="147180" cy="4503128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47193" cy="4503166"/>
            </a:xfrm>
            <a:custGeom>
              <a:avLst/>
              <a:gdLst/>
              <a:ahLst/>
              <a:cxnLst/>
              <a:rect r="r" b="b" t="t" l="l"/>
              <a:pathLst>
                <a:path h="4503166" w="147193">
                  <a:moveTo>
                    <a:pt x="0" y="0"/>
                  </a:moveTo>
                  <a:lnTo>
                    <a:pt x="147193" y="0"/>
                  </a:lnTo>
                  <a:lnTo>
                    <a:pt x="147193" y="4503166"/>
                  </a:lnTo>
                  <a:lnTo>
                    <a:pt x="0" y="4503166"/>
                  </a:lnTo>
                  <a:close/>
                </a:path>
              </a:pathLst>
            </a:custGeom>
            <a:solidFill>
              <a:srgbClr val="32C5E8"/>
            </a:solidFill>
            <a:ln w="14299" cap="sq">
              <a:solidFill>
                <a:srgbClr val="32C5E8"/>
              </a:solidFill>
              <a:prstDash val="solid"/>
              <a:miter/>
            </a:ln>
          </p:spPr>
        </p:sp>
      </p:grpSp>
      <p:sp>
        <p:nvSpPr>
          <p:cNvPr name="TextBox 23" id="23"/>
          <p:cNvSpPr txBox="true"/>
          <p:nvPr/>
        </p:nvSpPr>
        <p:spPr>
          <a:xfrm rot="0">
            <a:off x="12399797" y="3353886"/>
            <a:ext cx="4699140" cy="4438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82"/>
              </a:lnSpc>
            </a:pPr>
            <a:r>
              <a:rPr lang="en-US" sz="2401" b="true">
                <a:solidFill>
                  <a:srgbClr val="F5F8FC"/>
                </a:solidFill>
                <a:latin typeface="Aptos Bold"/>
                <a:ea typeface="Aptos Bold"/>
                <a:cs typeface="Aptos Bold"/>
                <a:sym typeface="Aptos Bold"/>
              </a:rPr>
              <a:t>DOMAIN JUSTIFICATION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2399797" y="3999043"/>
            <a:ext cx="4699140" cy="22557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2"/>
              </a:lnSpc>
            </a:pPr>
            <a:r>
              <a:rPr lang="en-US" sz="2251">
                <a:solidFill>
                  <a:srgbClr val="A6BCCD"/>
                </a:solidFill>
                <a:latin typeface="Aptos"/>
                <a:ea typeface="Aptos"/>
                <a:cs typeface="Aptos"/>
                <a:sym typeface="Aptos"/>
              </a:rPr>
              <a:t>Education is a useful agentic AI setting because multiple indicators need to be examined, checked and translated into next steps.</a:t>
            </a:r>
          </a:p>
        </p:txBody>
      </p:sp>
      <p:grpSp>
        <p:nvGrpSpPr>
          <p:cNvPr name="Group 25" id="25"/>
          <p:cNvGrpSpPr/>
          <p:nvPr/>
        </p:nvGrpSpPr>
        <p:grpSpPr>
          <a:xfrm rot="0">
            <a:off x="953719" y="6993484"/>
            <a:ext cx="16417738" cy="1524238"/>
            <a:chOff x="0" y="0"/>
            <a:chExt cx="21890317" cy="2032318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21890227" cy="2032254"/>
            </a:xfrm>
            <a:custGeom>
              <a:avLst/>
              <a:gdLst/>
              <a:ahLst/>
              <a:cxnLst/>
              <a:rect r="r" b="b" t="t" l="l"/>
              <a:pathLst>
                <a:path h="2032254" w="21890227">
                  <a:moveTo>
                    <a:pt x="0" y="243840"/>
                  </a:moveTo>
                  <a:cubicBezTo>
                    <a:pt x="0" y="109220"/>
                    <a:pt x="109220" y="0"/>
                    <a:pt x="243840" y="0"/>
                  </a:cubicBezTo>
                  <a:lnTo>
                    <a:pt x="21646387" y="0"/>
                  </a:lnTo>
                  <a:cubicBezTo>
                    <a:pt x="21781134" y="0"/>
                    <a:pt x="21890227" y="109220"/>
                    <a:pt x="21890227" y="243840"/>
                  </a:cubicBezTo>
                  <a:lnTo>
                    <a:pt x="21890227" y="1788414"/>
                  </a:lnTo>
                  <a:cubicBezTo>
                    <a:pt x="21890227" y="1923161"/>
                    <a:pt x="21781007" y="2032254"/>
                    <a:pt x="21646387" y="2032254"/>
                  </a:cubicBezTo>
                  <a:lnTo>
                    <a:pt x="243840" y="2032254"/>
                  </a:lnTo>
                  <a:cubicBezTo>
                    <a:pt x="109093" y="2032254"/>
                    <a:pt x="0" y="1923034"/>
                    <a:pt x="0" y="1788414"/>
                  </a:cubicBezTo>
                  <a:close/>
                </a:path>
              </a:pathLst>
            </a:custGeom>
            <a:solidFill>
              <a:srgbClr val="113042"/>
            </a:solidFill>
            <a:ln w="14299" cap="sq">
              <a:solidFill>
                <a:srgbClr val="235A71"/>
              </a:solidFill>
              <a:prstDash val="solid"/>
              <a:miter/>
            </a:ln>
          </p:spPr>
        </p:sp>
      </p:grpSp>
      <p:grpSp>
        <p:nvGrpSpPr>
          <p:cNvPr name="Group 27" id="27"/>
          <p:cNvGrpSpPr/>
          <p:nvPr/>
        </p:nvGrpSpPr>
        <p:grpSpPr>
          <a:xfrm rot="0">
            <a:off x="1372676" y="7384980"/>
            <a:ext cx="15511196" cy="754971"/>
            <a:chOff x="0" y="0"/>
            <a:chExt cx="20681594" cy="1006627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20681598" cy="1006626"/>
            </a:xfrm>
            <a:custGeom>
              <a:avLst/>
              <a:gdLst/>
              <a:ahLst/>
              <a:cxnLst/>
              <a:rect r="r" b="b" t="t" l="l"/>
              <a:pathLst>
                <a:path h="1006626" w="20681598">
                  <a:moveTo>
                    <a:pt x="0" y="0"/>
                  </a:moveTo>
                  <a:lnTo>
                    <a:pt x="20681598" y="0"/>
                  </a:lnTo>
                  <a:lnTo>
                    <a:pt x="20681598" y="1006626"/>
                  </a:lnTo>
                  <a:lnTo>
                    <a:pt x="0" y="100662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50328" r="0" b="-350328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0"/>
              <a:ext cx="20681594" cy="100662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422"/>
                </a:lnSpc>
              </a:pPr>
              <a:r>
                <a:rPr lang="en-US" sz="2852" b="true">
                  <a:solidFill>
                    <a:srgbClr val="F5F8FC"/>
                  </a:solidFill>
                  <a:latin typeface="Aptos Bold"/>
                  <a:ea typeface="Aptos Bold"/>
                  <a:cs typeface="Aptos Bold"/>
                  <a:sym typeface="Aptos Bold"/>
                </a:rPr>
                <a:t>Acadex AI is a decision-support PoC—not an automated academic decision-maker.</a:t>
              </a:r>
            </a:p>
          </p:txBody>
        </p:sp>
      </p:grpSp>
      <p:sp>
        <p:nvSpPr>
          <p:cNvPr name="TextBox 30" id="30"/>
          <p:cNvSpPr txBox="true"/>
          <p:nvPr/>
        </p:nvSpPr>
        <p:spPr>
          <a:xfrm rot="0">
            <a:off x="951709" y="9832896"/>
            <a:ext cx="10944806" cy="2105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41"/>
              </a:lnSpc>
            </a:pPr>
            <a:r>
              <a:rPr lang="en-US" sz="1200">
                <a:solidFill>
                  <a:srgbClr val="A6BCCD"/>
                </a:solidFill>
                <a:latin typeface="Aptos"/>
                <a:ea typeface="Aptos"/>
                <a:cs typeface="Aptos"/>
                <a:sym typeface="Aptos"/>
              </a:rPr>
              <a:t>ACADEX AI  •  FOUNDATIONS OF AGENTIC AI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6833523" y="9805445"/>
            <a:ext cx="512493" cy="2379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441"/>
              </a:lnSpc>
            </a:pPr>
            <a:r>
              <a:rPr lang="en-US" sz="1200">
                <a:solidFill>
                  <a:srgbClr val="A6BCCD"/>
                </a:solidFill>
                <a:latin typeface="Aptos"/>
                <a:ea typeface="Aptos"/>
                <a:cs typeface="Aptos"/>
                <a:sym typeface="Aptos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815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10523" y="1006612"/>
            <a:ext cx="16435492" cy="7595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3"/>
              </a:lnSpc>
            </a:pPr>
            <a:r>
              <a:rPr lang="en-US" sz="4203" b="true">
                <a:solidFill>
                  <a:srgbClr val="F5F8FC"/>
                </a:solidFill>
                <a:latin typeface="Aptos Bold"/>
                <a:ea typeface="Aptos Bold"/>
                <a:cs typeface="Aptos Bold"/>
                <a:sym typeface="Aptos Bold"/>
              </a:rPr>
              <a:t>Objectives &amp; proposed solution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951709" y="1885121"/>
            <a:ext cx="16160963" cy="5399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>
                <a:solidFill>
                  <a:srgbClr val="A6BCCD"/>
                </a:solidFill>
                <a:latin typeface="Aptos"/>
                <a:ea typeface="Aptos"/>
                <a:cs typeface="Aptos"/>
                <a:sym typeface="Aptos"/>
              </a:rPr>
              <a:t>Bring student indicators into one workflow and support faculty review.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912543" y="2573474"/>
            <a:ext cx="1181071" cy="89792"/>
            <a:chOff x="0" y="0"/>
            <a:chExt cx="1574762" cy="119723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574800" cy="119761"/>
            </a:xfrm>
            <a:custGeom>
              <a:avLst/>
              <a:gdLst/>
              <a:ahLst/>
              <a:cxnLst/>
              <a:rect r="r" b="b" t="t" l="l"/>
              <a:pathLst>
                <a:path h="119761" w="1574800">
                  <a:moveTo>
                    <a:pt x="0" y="0"/>
                  </a:moveTo>
                  <a:lnTo>
                    <a:pt x="1574800" y="0"/>
                  </a:lnTo>
                  <a:lnTo>
                    <a:pt x="1574800" y="119761"/>
                  </a:lnTo>
                  <a:lnTo>
                    <a:pt x="0" y="119761"/>
                  </a:lnTo>
                  <a:close/>
                </a:path>
              </a:pathLst>
            </a:custGeom>
            <a:solidFill>
              <a:srgbClr val="FF756D"/>
            </a:solidFill>
            <a:ln w="14299" cap="sq">
              <a:solidFill>
                <a:srgbClr val="FF756D"/>
              </a:solidFill>
              <a:prstDash val="solid"/>
              <a:miter/>
            </a:ln>
          </p:spPr>
        </p:sp>
      </p:grpSp>
      <p:sp>
        <p:nvSpPr>
          <p:cNvPr name="TextBox 6" id="6"/>
          <p:cNvSpPr txBox="true"/>
          <p:nvPr/>
        </p:nvSpPr>
        <p:spPr>
          <a:xfrm rot="0">
            <a:off x="16764895" y="498719"/>
            <a:ext cx="649757" cy="3752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981"/>
              </a:lnSpc>
            </a:pPr>
            <a:r>
              <a:rPr lang="en-US" sz="1651" b="true">
                <a:solidFill>
                  <a:srgbClr val="A6BCCD"/>
                </a:solidFill>
                <a:latin typeface="Aptos Bold"/>
                <a:ea typeface="Aptos Bold"/>
                <a:cs typeface="Aptos Bold"/>
                <a:sym typeface="Aptos Bold"/>
              </a:rPr>
              <a:t>03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1228258" y="3355896"/>
            <a:ext cx="151562" cy="151562"/>
            <a:chOff x="0" y="0"/>
            <a:chExt cx="202082" cy="202082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02184" cy="202184"/>
            </a:xfrm>
            <a:custGeom>
              <a:avLst/>
              <a:gdLst/>
              <a:ahLst/>
              <a:cxnLst/>
              <a:rect r="r" b="b" t="t" l="l"/>
              <a:pathLst>
                <a:path h="202184" w="202184">
                  <a:moveTo>
                    <a:pt x="0" y="101092"/>
                  </a:moveTo>
                  <a:cubicBezTo>
                    <a:pt x="0" y="45212"/>
                    <a:pt x="45212" y="0"/>
                    <a:pt x="101092" y="0"/>
                  </a:cubicBezTo>
                  <a:cubicBezTo>
                    <a:pt x="156972" y="0"/>
                    <a:pt x="202184" y="45212"/>
                    <a:pt x="202184" y="101092"/>
                  </a:cubicBezTo>
                  <a:cubicBezTo>
                    <a:pt x="202184" y="156972"/>
                    <a:pt x="156972" y="202184"/>
                    <a:pt x="101092" y="202184"/>
                  </a:cubicBezTo>
                  <a:cubicBezTo>
                    <a:pt x="45212" y="202184"/>
                    <a:pt x="0" y="156845"/>
                    <a:pt x="0" y="101092"/>
                  </a:cubicBezTo>
                  <a:close/>
                </a:path>
              </a:pathLst>
            </a:custGeom>
            <a:solidFill>
              <a:srgbClr val="32C5E8"/>
            </a:solidFill>
            <a:ln w="14299" cap="sq">
              <a:solidFill>
                <a:srgbClr val="32C5E8"/>
              </a:solidFill>
              <a:prstDash val="solid"/>
              <a:miter/>
            </a:ln>
          </p:spPr>
        </p:sp>
      </p:grpSp>
      <p:sp>
        <p:nvSpPr>
          <p:cNvPr name="TextBox 9" id="9"/>
          <p:cNvSpPr txBox="true"/>
          <p:nvPr/>
        </p:nvSpPr>
        <p:spPr>
          <a:xfrm rot="0">
            <a:off x="1569406" y="3244072"/>
            <a:ext cx="7883747" cy="896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2"/>
              </a:lnSpc>
            </a:pPr>
            <a:r>
              <a:rPr lang="en-US" sz="2251">
                <a:solidFill>
                  <a:srgbClr val="F5F8FC"/>
                </a:solidFill>
                <a:latin typeface="Aptos"/>
                <a:ea typeface="Aptos"/>
                <a:cs typeface="Aptos"/>
                <a:sym typeface="Aptos"/>
              </a:rPr>
              <a:t>Explore synthetic student records in an interactive dashboard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1228258" y="4289317"/>
            <a:ext cx="151562" cy="151562"/>
            <a:chOff x="0" y="0"/>
            <a:chExt cx="202082" cy="202082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02184" cy="202184"/>
            </a:xfrm>
            <a:custGeom>
              <a:avLst/>
              <a:gdLst/>
              <a:ahLst/>
              <a:cxnLst/>
              <a:rect r="r" b="b" t="t" l="l"/>
              <a:pathLst>
                <a:path h="202184" w="202184">
                  <a:moveTo>
                    <a:pt x="0" y="101092"/>
                  </a:moveTo>
                  <a:cubicBezTo>
                    <a:pt x="0" y="45212"/>
                    <a:pt x="45212" y="0"/>
                    <a:pt x="101092" y="0"/>
                  </a:cubicBezTo>
                  <a:cubicBezTo>
                    <a:pt x="156972" y="0"/>
                    <a:pt x="202184" y="45212"/>
                    <a:pt x="202184" y="101092"/>
                  </a:cubicBezTo>
                  <a:cubicBezTo>
                    <a:pt x="202184" y="156972"/>
                    <a:pt x="156972" y="202184"/>
                    <a:pt x="101092" y="202184"/>
                  </a:cubicBezTo>
                  <a:cubicBezTo>
                    <a:pt x="45212" y="202184"/>
                    <a:pt x="0" y="156845"/>
                    <a:pt x="0" y="101092"/>
                  </a:cubicBezTo>
                  <a:close/>
                </a:path>
              </a:pathLst>
            </a:custGeom>
            <a:solidFill>
              <a:srgbClr val="32C5E8"/>
            </a:solidFill>
            <a:ln w="14299" cap="sq">
              <a:solidFill>
                <a:srgbClr val="32C5E8"/>
              </a:solidFill>
              <a:prstDash val="solid"/>
              <a:miter/>
            </a:ln>
          </p:spPr>
        </p:sp>
      </p:grpSp>
      <p:sp>
        <p:nvSpPr>
          <p:cNvPr name="TextBox 12" id="12"/>
          <p:cNvSpPr txBox="true"/>
          <p:nvPr/>
        </p:nvSpPr>
        <p:spPr>
          <a:xfrm rot="0">
            <a:off x="1569406" y="4177484"/>
            <a:ext cx="7883747" cy="896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2"/>
              </a:lnSpc>
            </a:pPr>
            <a:r>
              <a:rPr lang="en-US" sz="2251">
                <a:solidFill>
                  <a:srgbClr val="F5F8FC"/>
                </a:solidFill>
                <a:latin typeface="Aptos"/>
                <a:ea typeface="Aptos"/>
                <a:cs typeface="Aptos"/>
                <a:sym typeface="Aptos"/>
              </a:rPr>
              <a:t>Assess risk using implemented Python rules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1228258" y="5222729"/>
            <a:ext cx="151562" cy="151562"/>
            <a:chOff x="0" y="0"/>
            <a:chExt cx="202082" cy="202082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02184" cy="202184"/>
            </a:xfrm>
            <a:custGeom>
              <a:avLst/>
              <a:gdLst/>
              <a:ahLst/>
              <a:cxnLst/>
              <a:rect r="r" b="b" t="t" l="l"/>
              <a:pathLst>
                <a:path h="202184" w="202184">
                  <a:moveTo>
                    <a:pt x="0" y="101092"/>
                  </a:moveTo>
                  <a:cubicBezTo>
                    <a:pt x="0" y="45212"/>
                    <a:pt x="45212" y="0"/>
                    <a:pt x="101092" y="0"/>
                  </a:cubicBezTo>
                  <a:cubicBezTo>
                    <a:pt x="156972" y="0"/>
                    <a:pt x="202184" y="45212"/>
                    <a:pt x="202184" y="101092"/>
                  </a:cubicBezTo>
                  <a:cubicBezTo>
                    <a:pt x="202184" y="156972"/>
                    <a:pt x="156972" y="202184"/>
                    <a:pt x="101092" y="202184"/>
                  </a:cubicBezTo>
                  <a:cubicBezTo>
                    <a:pt x="45212" y="202184"/>
                    <a:pt x="0" y="156845"/>
                    <a:pt x="0" y="101092"/>
                  </a:cubicBezTo>
                  <a:close/>
                </a:path>
              </a:pathLst>
            </a:custGeom>
            <a:solidFill>
              <a:srgbClr val="32C5E8"/>
            </a:solidFill>
            <a:ln w="14299" cap="sq">
              <a:solidFill>
                <a:srgbClr val="32C5E8"/>
              </a:solidFill>
              <a:prstDash val="solid"/>
              <a:miter/>
            </a:ln>
          </p:spPr>
        </p:sp>
      </p:grpSp>
      <p:sp>
        <p:nvSpPr>
          <p:cNvPr name="TextBox 15" id="15"/>
          <p:cNvSpPr txBox="true"/>
          <p:nvPr/>
        </p:nvSpPr>
        <p:spPr>
          <a:xfrm rot="0">
            <a:off x="1569406" y="5110905"/>
            <a:ext cx="7883747" cy="896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2"/>
              </a:lnSpc>
            </a:pPr>
            <a:r>
              <a:rPr lang="en-US" sz="2251">
                <a:solidFill>
                  <a:srgbClr val="F5F8FC"/>
                </a:solidFill>
                <a:latin typeface="Aptos"/>
                <a:ea typeface="Aptos"/>
                <a:cs typeface="Aptos"/>
                <a:sym typeface="Aptos"/>
              </a:rPr>
              <a:t>Coordinate specialized agents for analysis and review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1228258" y="6156150"/>
            <a:ext cx="151562" cy="151562"/>
            <a:chOff x="0" y="0"/>
            <a:chExt cx="202082" cy="202082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02184" cy="202184"/>
            </a:xfrm>
            <a:custGeom>
              <a:avLst/>
              <a:gdLst/>
              <a:ahLst/>
              <a:cxnLst/>
              <a:rect r="r" b="b" t="t" l="l"/>
              <a:pathLst>
                <a:path h="202184" w="202184">
                  <a:moveTo>
                    <a:pt x="0" y="101092"/>
                  </a:moveTo>
                  <a:cubicBezTo>
                    <a:pt x="0" y="45212"/>
                    <a:pt x="45212" y="0"/>
                    <a:pt x="101092" y="0"/>
                  </a:cubicBezTo>
                  <a:cubicBezTo>
                    <a:pt x="156972" y="0"/>
                    <a:pt x="202184" y="45212"/>
                    <a:pt x="202184" y="101092"/>
                  </a:cubicBezTo>
                  <a:cubicBezTo>
                    <a:pt x="202184" y="156972"/>
                    <a:pt x="156972" y="202184"/>
                    <a:pt x="101092" y="202184"/>
                  </a:cubicBezTo>
                  <a:cubicBezTo>
                    <a:pt x="45212" y="202184"/>
                    <a:pt x="0" y="156845"/>
                    <a:pt x="0" y="101092"/>
                  </a:cubicBezTo>
                  <a:close/>
                </a:path>
              </a:pathLst>
            </a:custGeom>
            <a:solidFill>
              <a:srgbClr val="32C5E8"/>
            </a:solidFill>
            <a:ln w="14299" cap="sq">
              <a:solidFill>
                <a:srgbClr val="32C5E8"/>
              </a:solidFill>
              <a:prstDash val="solid"/>
              <a:miter/>
            </a:ln>
          </p:spPr>
        </p:sp>
      </p:grpSp>
      <p:sp>
        <p:nvSpPr>
          <p:cNvPr name="TextBox 18" id="18"/>
          <p:cNvSpPr txBox="true"/>
          <p:nvPr/>
        </p:nvSpPr>
        <p:spPr>
          <a:xfrm rot="0">
            <a:off x="1569406" y="6044317"/>
            <a:ext cx="7883747" cy="896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2"/>
              </a:lnSpc>
            </a:pPr>
            <a:r>
              <a:rPr lang="en-US" sz="2251">
                <a:solidFill>
                  <a:srgbClr val="F5F8FC"/>
                </a:solidFill>
                <a:latin typeface="Aptos"/>
                <a:ea typeface="Aptos"/>
                <a:cs typeface="Aptos"/>
                <a:sym typeface="Aptos"/>
              </a:rPr>
              <a:t>Validate results before presenting recommendations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1228258" y="7089562"/>
            <a:ext cx="151562" cy="151562"/>
            <a:chOff x="0" y="0"/>
            <a:chExt cx="202082" cy="202082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202184" cy="202184"/>
            </a:xfrm>
            <a:custGeom>
              <a:avLst/>
              <a:gdLst/>
              <a:ahLst/>
              <a:cxnLst/>
              <a:rect r="r" b="b" t="t" l="l"/>
              <a:pathLst>
                <a:path h="202184" w="202184">
                  <a:moveTo>
                    <a:pt x="0" y="101092"/>
                  </a:moveTo>
                  <a:cubicBezTo>
                    <a:pt x="0" y="45212"/>
                    <a:pt x="45212" y="0"/>
                    <a:pt x="101092" y="0"/>
                  </a:cubicBezTo>
                  <a:cubicBezTo>
                    <a:pt x="156972" y="0"/>
                    <a:pt x="202184" y="45212"/>
                    <a:pt x="202184" y="101092"/>
                  </a:cubicBezTo>
                  <a:cubicBezTo>
                    <a:pt x="202184" y="156972"/>
                    <a:pt x="156972" y="202184"/>
                    <a:pt x="101092" y="202184"/>
                  </a:cubicBezTo>
                  <a:cubicBezTo>
                    <a:pt x="45212" y="202184"/>
                    <a:pt x="0" y="156845"/>
                    <a:pt x="0" y="101092"/>
                  </a:cubicBezTo>
                  <a:close/>
                </a:path>
              </a:pathLst>
            </a:custGeom>
            <a:solidFill>
              <a:srgbClr val="32C5E8"/>
            </a:solidFill>
            <a:ln w="14299" cap="sq">
              <a:solidFill>
                <a:srgbClr val="32C5E8"/>
              </a:solidFill>
              <a:prstDash val="solid"/>
              <a:miter/>
            </a:ln>
          </p:spPr>
        </p:sp>
      </p:grpSp>
      <p:sp>
        <p:nvSpPr>
          <p:cNvPr name="TextBox 21" id="21"/>
          <p:cNvSpPr txBox="true"/>
          <p:nvPr/>
        </p:nvSpPr>
        <p:spPr>
          <a:xfrm rot="0">
            <a:off x="1569406" y="6977739"/>
            <a:ext cx="7883747" cy="896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2"/>
              </a:lnSpc>
            </a:pPr>
            <a:r>
              <a:rPr lang="en-US" sz="2251">
                <a:solidFill>
                  <a:srgbClr val="F5F8FC"/>
                </a:solidFill>
                <a:latin typeface="Aptos"/>
                <a:ea typeface="Aptos"/>
                <a:cs typeface="Aptos"/>
                <a:sym typeface="Aptos"/>
              </a:rPr>
              <a:t>Keep intervention suggestions subject to human approval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10150631" y="3081366"/>
            <a:ext cx="7014924" cy="5161817"/>
            <a:chOff x="0" y="0"/>
            <a:chExt cx="9353232" cy="6882422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9353169" cy="6882385"/>
            </a:xfrm>
            <a:custGeom>
              <a:avLst/>
              <a:gdLst/>
              <a:ahLst/>
              <a:cxnLst/>
              <a:rect r="r" b="b" t="t" l="l"/>
              <a:pathLst>
                <a:path h="6882385" w="9353169">
                  <a:moveTo>
                    <a:pt x="0" y="825881"/>
                  </a:moveTo>
                  <a:cubicBezTo>
                    <a:pt x="0" y="369824"/>
                    <a:pt x="369824" y="0"/>
                    <a:pt x="825881" y="0"/>
                  </a:cubicBezTo>
                  <a:lnTo>
                    <a:pt x="8527288" y="0"/>
                  </a:lnTo>
                  <a:cubicBezTo>
                    <a:pt x="8983472" y="0"/>
                    <a:pt x="9353169" y="369824"/>
                    <a:pt x="9353169" y="825881"/>
                  </a:cubicBezTo>
                  <a:lnTo>
                    <a:pt x="9353169" y="6056503"/>
                  </a:lnTo>
                  <a:cubicBezTo>
                    <a:pt x="9353169" y="6512687"/>
                    <a:pt x="8983345" y="6882385"/>
                    <a:pt x="8527288" y="6882385"/>
                  </a:cubicBezTo>
                  <a:lnTo>
                    <a:pt x="825881" y="6882385"/>
                  </a:lnTo>
                  <a:cubicBezTo>
                    <a:pt x="369824" y="6882384"/>
                    <a:pt x="0" y="6512687"/>
                    <a:pt x="0" y="6056503"/>
                  </a:cubicBezTo>
                  <a:close/>
                </a:path>
              </a:pathLst>
            </a:custGeom>
            <a:solidFill>
              <a:srgbClr val="14273A"/>
            </a:solidFill>
            <a:ln w="14299" cap="sq">
              <a:solidFill>
                <a:srgbClr val="284258"/>
              </a:solidFill>
              <a:prstDash val="solid"/>
              <a:miter/>
            </a:ln>
          </p:spPr>
        </p:sp>
      </p:grpSp>
      <p:sp>
        <p:nvSpPr>
          <p:cNvPr name="TextBox 24" id="24"/>
          <p:cNvSpPr txBox="true"/>
          <p:nvPr/>
        </p:nvSpPr>
        <p:spPr>
          <a:xfrm rot="0">
            <a:off x="10656503" y="3518602"/>
            <a:ext cx="6003179" cy="5124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82"/>
              </a:lnSpc>
            </a:pPr>
            <a:r>
              <a:rPr lang="en-US" sz="2401" b="true">
                <a:solidFill>
                  <a:srgbClr val="32C5E8"/>
                </a:solidFill>
                <a:latin typeface="Aptos Bold"/>
                <a:ea typeface="Aptos Bold"/>
                <a:cs typeface="Aptos Bold"/>
                <a:sym typeface="Aptos Bold"/>
              </a:rPr>
              <a:t>PROPOSED SOLUTION</a:t>
            </a:r>
          </a:p>
        </p:txBody>
      </p:sp>
      <p:grpSp>
        <p:nvGrpSpPr>
          <p:cNvPr name="Group 25" id="25"/>
          <p:cNvGrpSpPr/>
          <p:nvPr/>
        </p:nvGrpSpPr>
        <p:grpSpPr>
          <a:xfrm rot="0">
            <a:off x="10699699" y="4454033"/>
            <a:ext cx="2004670" cy="906532"/>
            <a:chOff x="0" y="0"/>
            <a:chExt cx="2672893" cy="120871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2672842" cy="1208659"/>
            </a:xfrm>
            <a:custGeom>
              <a:avLst/>
              <a:gdLst/>
              <a:ahLst/>
              <a:cxnLst/>
              <a:rect r="r" b="b" t="t" l="l"/>
              <a:pathLst>
                <a:path h="1208659" w="2672842">
                  <a:moveTo>
                    <a:pt x="0" y="145034"/>
                  </a:moveTo>
                  <a:cubicBezTo>
                    <a:pt x="0" y="64897"/>
                    <a:pt x="64897" y="0"/>
                    <a:pt x="145034" y="0"/>
                  </a:cubicBezTo>
                  <a:lnTo>
                    <a:pt x="2527808" y="0"/>
                  </a:lnTo>
                  <a:cubicBezTo>
                    <a:pt x="2607945" y="0"/>
                    <a:pt x="2672842" y="64897"/>
                    <a:pt x="2672842" y="145034"/>
                  </a:cubicBezTo>
                  <a:lnTo>
                    <a:pt x="2672842" y="1063625"/>
                  </a:lnTo>
                  <a:cubicBezTo>
                    <a:pt x="2672842" y="1143762"/>
                    <a:pt x="2607945" y="1208659"/>
                    <a:pt x="2527808" y="1208659"/>
                  </a:cubicBezTo>
                  <a:lnTo>
                    <a:pt x="145034" y="1208659"/>
                  </a:lnTo>
                  <a:cubicBezTo>
                    <a:pt x="64897" y="1208659"/>
                    <a:pt x="0" y="1143762"/>
                    <a:pt x="0" y="1063625"/>
                  </a:cubicBezTo>
                  <a:close/>
                </a:path>
              </a:pathLst>
            </a:custGeom>
            <a:solidFill>
              <a:srgbClr val="1D3E55"/>
            </a:solidFill>
            <a:ln w="14299" cap="sq">
              <a:solidFill>
                <a:srgbClr val="1D3E55"/>
              </a:solidFill>
              <a:prstDash val="solid"/>
              <a:miter/>
            </a:ln>
          </p:spPr>
        </p:sp>
      </p:grpSp>
      <p:grpSp>
        <p:nvGrpSpPr>
          <p:cNvPr name="Group 27" id="27"/>
          <p:cNvGrpSpPr/>
          <p:nvPr/>
        </p:nvGrpSpPr>
        <p:grpSpPr>
          <a:xfrm rot="0">
            <a:off x="10775480" y="4639637"/>
            <a:ext cx="1853108" cy="480431"/>
            <a:chOff x="0" y="0"/>
            <a:chExt cx="2470810" cy="640575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2470810" cy="640580"/>
            </a:xfrm>
            <a:custGeom>
              <a:avLst/>
              <a:gdLst/>
              <a:ahLst/>
              <a:cxnLst/>
              <a:rect r="r" b="b" t="t" l="l"/>
              <a:pathLst>
                <a:path h="640580" w="2470810">
                  <a:moveTo>
                    <a:pt x="0" y="0"/>
                  </a:moveTo>
                  <a:lnTo>
                    <a:pt x="2470810" y="0"/>
                  </a:lnTo>
                  <a:lnTo>
                    <a:pt x="2470810" y="640580"/>
                  </a:lnTo>
                  <a:lnTo>
                    <a:pt x="0" y="6405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5156" r="0" b="-25156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0"/>
              <a:ext cx="2470810" cy="6405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01"/>
                </a:lnSpc>
              </a:pPr>
              <a:r>
                <a:rPr lang="en-US" sz="1501" b="true">
                  <a:solidFill>
                    <a:srgbClr val="F5F8FC"/>
                  </a:solidFill>
                  <a:latin typeface="Aptos Bold"/>
                  <a:ea typeface="Aptos Bold"/>
                  <a:cs typeface="Aptos Bold"/>
                  <a:sym typeface="Aptos Bold"/>
                </a:rPr>
                <a:t>Student data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12758699" y="5620807"/>
            <a:ext cx="2004670" cy="906532"/>
            <a:chOff x="0" y="0"/>
            <a:chExt cx="2672893" cy="120871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2672842" cy="1208659"/>
            </a:xfrm>
            <a:custGeom>
              <a:avLst/>
              <a:gdLst/>
              <a:ahLst/>
              <a:cxnLst/>
              <a:rect r="r" b="b" t="t" l="l"/>
              <a:pathLst>
                <a:path h="1208659" w="2672842">
                  <a:moveTo>
                    <a:pt x="0" y="145034"/>
                  </a:moveTo>
                  <a:cubicBezTo>
                    <a:pt x="0" y="64897"/>
                    <a:pt x="64897" y="0"/>
                    <a:pt x="145034" y="0"/>
                  </a:cubicBezTo>
                  <a:lnTo>
                    <a:pt x="2527808" y="0"/>
                  </a:lnTo>
                  <a:cubicBezTo>
                    <a:pt x="2607945" y="0"/>
                    <a:pt x="2672842" y="64897"/>
                    <a:pt x="2672842" y="145034"/>
                  </a:cubicBezTo>
                  <a:lnTo>
                    <a:pt x="2672842" y="1063625"/>
                  </a:lnTo>
                  <a:cubicBezTo>
                    <a:pt x="2672842" y="1143762"/>
                    <a:pt x="2607945" y="1208659"/>
                    <a:pt x="2527808" y="1208659"/>
                  </a:cubicBezTo>
                  <a:lnTo>
                    <a:pt x="145034" y="1208659"/>
                  </a:lnTo>
                  <a:cubicBezTo>
                    <a:pt x="64897" y="1208659"/>
                    <a:pt x="0" y="1143762"/>
                    <a:pt x="0" y="1063625"/>
                  </a:cubicBezTo>
                  <a:close/>
                </a:path>
              </a:pathLst>
            </a:custGeom>
            <a:solidFill>
              <a:srgbClr val="284670"/>
            </a:solidFill>
            <a:ln w="14299" cap="sq">
              <a:solidFill>
                <a:srgbClr val="284670"/>
              </a:solidFill>
              <a:prstDash val="solid"/>
              <a:miter/>
            </a:ln>
          </p:spPr>
        </p:sp>
      </p:grpSp>
      <p:grpSp>
        <p:nvGrpSpPr>
          <p:cNvPr name="Group 32" id="32"/>
          <p:cNvGrpSpPr/>
          <p:nvPr/>
        </p:nvGrpSpPr>
        <p:grpSpPr>
          <a:xfrm rot="0">
            <a:off x="12834490" y="5806402"/>
            <a:ext cx="1853108" cy="480431"/>
            <a:chOff x="0" y="0"/>
            <a:chExt cx="2470810" cy="640575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2470810" cy="640580"/>
            </a:xfrm>
            <a:custGeom>
              <a:avLst/>
              <a:gdLst/>
              <a:ahLst/>
              <a:cxnLst/>
              <a:rect r="r" b="b" t="t" l="l"/>
              <a:pathLst>
                <a:path h="640580" w="2470810">
                  <a:moveTo>
                    <a:pt x="0" y="0"/>
                  </a:moveTo>
                  <a:lnTo>
                    <a:pt x="2470810" y="0"/>
                  </a:lnTo>
                  <a:lnTo>
                    <a:pt x="2470810" y="640580"/>
                  </a:lnTo>
                  <a:lnTo>
                    <a:pt x="0" y="6405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5156" r="0" b="-25156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0"/>
              <a:ext cx="2470810" cy="6405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01"/>
                </a:lnSpc>
              </a:pPr>
              <a:r>
                <a:rPr lang="en-US" sz="1501" b="true">
                  <a:solidFill>
                    <a:srgbClr val="F5F8FC"/>
                  </a:solidFill>
                  <a:latin typeface="Aptos Bold"/>
                  <a:ea typeface="Aptos Bold"/>
                  <a:cs typeface="Aptos Bold"/>
                  <a:sym typeface="Aptos Bold"/>
                </a:rPr>
                <a:t>Agent workflow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14817709" y="6787582"/>
            <a:ext cx="2004670" cy="906532"/>
            <a:chOff x="0" y="0"/>
            <a:chExt cx="2672893" cy="120871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2672842" cy="1208659"/>
            </a:xfrm>
            <a:custGeom>
              <a:avLst/>
              <a:gdLst/>
              <a:ahLst/>
              <a:cxnLst/>
              <a:rect r="r" b="b" t="t" l="l"/>
              <a:pathLst>
                <a:path h="1208659" w="2672842">
                  <a:moveTo>
                    <a:pt x="0" y="145034"/>
                  </a:moveTo>
                  <a:cubicBezTo>
                    <a:pt x="0" y="64897"/>
                    <a:pt x="64897" y="0"/>
                    <a:pt x="145034" y="0"/>
                  </a:cubicBezTo>
                  <a:lnTo>
                    <a:pt x="2527808" y="0"/>
                  </a:lnTo>
                  <a:cubicBezTo>
                    <a:pt x="2607945" y="0"/>
                    <a:pt x="2672842" y="64897"/>
                    <a:pt x="2672842" y="145034"/>
                  </a:cubicBezTo>
                  <a:lnTo>
                    <a:pt x="2672842" y="1063625"/>
                  </a:lnTo>
                  <a:cubicBezTo>
                    <a:pt x="2672842" y="1143762"/>
                    <a:pt x="2607945" y="1208659"/>
                    <a:pt x="2527808" y="1208659"/>
                  </a:cubicBezTo>
                  <a:lnTo>
                    <a:pt x="145034" y="1208659"/>
                  </a:lnTo>
                  <a:cubicBezTo>
                    <a:pt x="64897" y="1208659"/>
                    <a:pt x="0" y="1143762"/>
                    <a:pt x="0" y="1063625"/>
                  </a:cubicBezTo>
                  <a:close/>
                </a:path>
              </a:pathLst>
            </a:custGeom>
            <a:solidFill>
              <a:srgbClr val="184E43"/>
            </a:solidFill>
            <a:ln w="14299" cap="sq">
              <a:solidFill>
                <a:srgbClr val="184E43"/>
              </a:solidFill>
              <a:prstDash val="solid"/>
              <a:miter/>
            </a:ln>
          </p:spPr>
        </p:sp>
      </p:grpSp>
      <p:grpSp>
        <p:nvGrpSpPr>
          <p:cNvPr name="Group 37" id="37"/>
          <p:cNvGrpSpPr/>
          <p:nvPr/>
        </p:nvGrpSpPr>
        <p:grpSpPr>
          <a:xfrm rot="0">
            <a:off x="14893500" y="6973176"/>
            <a:ext cx="1853108" cy="480431"/>
            <a:chOff x="0" y="0"/>
            <a:chExt cx="2470810" cy="640575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2470810" cy="640580"/>
            </a:xfrm>
            <a:custGeom>
              <a:avLst/>
              <a:gdLst/>
              <a:ahLst/>
              <a:cxnLst/>
              <a:rect r="r" b="b" t="t" l="l"/>
              <a:pathLst>
                <a:path h="640580" w="2470810">
                  <a:moveTo>
                    <a:pt x="0" y="0"/>
                  </a:moveTo>
                  <a:lnTo>
                    <a:pt x="2470810" y="0"/>
                  </a:lnTo>
                  <a:lnTo>
                    <a:pt x="2470810" y="640580"/>
                  </a:lnTo>
                  <a:lnTo>
                    <a:pt x="0" y="6405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5156" r="0" b="-25156"/>
              </a:stretch>
            </a:blipFill>
          </p:spPr>
        </p:sp>
        <p:sp>
          <p:nvSpPr>
            <p:cNvPr name="TextBox 39" id="39"/>
            <p:cNvSpPr txBox="true"/>
            <p:nvPr/>
          </p:nvSpPr>
          <p:spPr>
            <a:xfrm>
              <a:off x="0" y="0"/>
              <a:ext cx="2470810" cy="6405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01"/>
                </a:lnSpc>
              </a:pPr>
              <a:r>
                <a:rPr lang="en-US" sz="1501" b="true">
                  <a:solidFill>
                    <a:srgbClr val="F5F8FC"/>
                  </a:solidFill>
                  <a:latin typeface="Aptos Bold"/>
                  <a:ea typeface="Aptos Bold"/>
                  <a:cs typeface="Aptos Bold"/>
                  <a:sym typeface="Aptos Bold"/>
                </a:rPr>
                <a:t>Validated action</a:t>
              </a:r>
            </a:p>
          </p:txBody>
        </p:sp>
      </p:grpSp>
      <p:sp>
        <p:nvSpPr>
          <p:cNvPr name="AutoShape 40" id="40"/>
          <p:cNvSpPr/>
          <p:nvPr/>
        </p:nvSpPr>
        <p:spPr>
          <a:xfrm rot="3559380">
            <a:off x="12471530" y="5261534"/>
            <a:ext cx="863184" cy="0"/>
          </a:xfrm>
          <a:prstGeom prst="line">
            <a:avLst/>
          </a:prstGeom>
          <a:ln cap="rnd" w="19050">
            <a:solidFill>
              <a:srgbClr val="32C5E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1" id="41"/>
          <p:cNvSpPr/>
          <p:nvPr/>
        </p:nvSpPr>
        <p:spPr>
          <a:xfrm rot="3804000">
            <a:off x="14512681" y="6428308"/>
            <a:ext cx="830275" cy="0"/>
          </a:xfrm>
          <a:prstGeom prst="line">
            <a:avLst/>
          </a:prstGeom>
          <a:ln cap="rnd" w="19050">
            <a:solidFill>
              <a:srgbClr val="32C5E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42" id="42"/>
          <p:cNvSpPr txBox="true"/>
          <p:nvPr/>
        </p:nvSpPr>
        <p:spPr>
          <a:xfrm rot="0">
            <a:off x="10725131" y="7773886"/>
            <a:ext cx="5865914" cy="4438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651" i="true">
                <a:solidFill>
                  <a:srgbClr val="A6BCCD"/>
                </a:solidFill>
                <a:latin typeface="Aptos Italics"/>
                <a:ea typeface="Aptos Italics"/>
                <a:cs typeface="Aptos Italics"/>
                <a:sym typeface="Aptos Italics"/>
              </a:rPr>
              <a:t>Human-in-the-loop throughout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951709" y="9832896"/>
            <a:ext cx="10944806" cy="2105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41"/>
              </a:lnSpc>
            </a:pPr>
            <a:r>
              <a:rPr lang="en-US" sz="1200">
                <a:solidFill>
                  <a:srgbClr val="A6BCCD"/>
                </a:solidFill>
                <a:latin typeface="Aptos"/>
                <a:ea typeface="Aptos"/>
                <a:cs typeface="Aptos"/>
                <a:sym typeface="Aptos"/>
              </a:rPr>
              <a:t>ACADEX AI  •  FOUNDATIONS OF AGENTIC AI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16833523" y="9805445"/>
            <a:ext cx="512493" cy="2379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441"/>
              </a:lnSpc>
            </a:pPr>
            <a:r>
              <a:rPr lang="en-US" sz="1200">
                <a:solidFill>
                  <a:srgbClr val="A6BCCD"/>
                </a:solidFill>
                <a:latin typeface="Aptos"/>
                <a:ea typeface="Aptos"/>
                <a:cs typeface="Aptos"/>
                <a:sym typeface="Aptos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815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10523" y="1006612"/>
            <a:ext cx="16435492" cy="7595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3"/>
              </a:lnSpc>
            </a:pPr>
            <a:r>
              <a:rPr lang="en-US" sz="4203" b="true">
                <a:solidFill>
                  <a:srgbClr val="F5F8FC"/>
                </a:solidFill>
                <a:latin typeface="Aptos Bold"/>
                <a:ea typeface="Aptos Bold"/>
                <a:cs typeface="Aptos Bold"/>
                <a:sym typeface="Aptos Bold"/>
              </a:rPr>
              <a:t>Methodology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951709" y="1885121"/>
            <a:ext cx="16160963" cy="5399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>
                <a:solidFill>
                  <a:srgbClr val="A6BCCD"/>
                </a:solidFill>
                <a:latin typeface="Aptos"/>
                <a:ea typeface="Aptos"/>
                <a:cs typeface="Aptos"/>
                <a:sym typeface="Aptos"/>
              </a:rPr>
              <a:t>A repeatable pipeline from synthetic records to a faculty-reviewed next step.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912543" y="2573474"/>
            <a:ext cx="1181071" cy="89792"/>
            <a:chOff x="0" y="0"/>
            <a:chExt cx="1574762" cy="119723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574800" cy="119761"/>
            </a:xfrm>
            <a:custGeom>
              <a:avLst/>
              <a:gdLst/>
              <a:ahLst/>
              <a:cxnLst/>
              <a:rect r="r" b="b" t="t" l="l"/>
              <a:pathLst>
                <a:path h="119761" w="1574800">
                  <a:moveTo>
                    <a:pt x="0" y="0"/>
                  </a:moveTo>
                  <a:lnTo>
                    <a:pt x="1574800" y="0"/>
                  </a:lnTo>
                  <a:lnTo>
                    <a:pt x="1574800" y="119761"/>
                  </a:lnTo>
                  <a:lnTo>
                    <a:pt x="0" y="119761"/>
                  </a:lnTo>
                  <a:close/>
                </a:path>
              </a:pathLst>
            </a:custGeom>
            <a:solidFill>
              <a:srgbClr val="FF756D"/>
            </a:solidFill>
            <a:ln w="14299" cap="sq">
              <a:solidFill>
                <a:srgbClr val="FF756D"/>
              </a:solidFill>
              <a:prstDash val="solid"/>
              <a:miter/>
            </a:ln>
          </p:spPr>
        </p:sp>
      </p:grpSp>
      <p:sp>
        <p:nvSpPr>
          <p:cNvPr name="TextBox 6" id="6"/>
          <p:cNvSpPr txBox="true"/>
          <p:nvPr/>
        </p:nvSpPr>
        <p:spPr>
          <a:xfrm rot="0">
            <a:off x="16764895" y="498719"/>
            <a:ext cx="649757" cy="3752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981"/>
              </a:lnSpc>
            </a:pPr>
            <a:r>
              <a:rPr lang="en-US" sz="1651" b="true">
                <a:solidFill>
                  <a:srgbClr val="A6BCCD"/>
                </a:solidFill>
                <a:latin typeface="Aptos Bold"/>
                <a:ea typeface="Aptos Bold"/>
                <a:cs typeface="Aptos Bold"/>
                <a:sym typeface="Aptos Bold"/>
              </a:rPr>
              <a:t>04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953719" y="3081366"/>
            <a:ext cx="5161817" cy="1908591"/>
            <a:chOff x="0" y="0"/>
            <a:chExt cx="6882422" cy="2544788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6882511" cy="2544826"/>
            </a:xfrm>
            <a:custGeom>
              <a:avLst/>
              <a:gdLst/>
              <a:ahLst/>
              <a:cxnLst/>
              <a:rect r="r" b="b" t="t" l="l"/>
              <a:pathLst>
                <a:path h="2544826" w="6882511">
                  <a:moveTo>
                    <a:pt x="0" y="305435"/>
                  </a:moveTo>
                  <a:cubicBezTo>
                    <a:pt x="0" y="136779"/>
                    <a:pt x="136779" y="0"/>
                    <a:pt x="305435" y="0"/>
                  </a:cubicBezTo>
                  <a:lnTo>
                    <a:pt x="6577076" y="0"/>
                  </a:lnTo>
                  <a:cubicBezTo>
                    <a:pt x="6745732" y="0"/>
                    <a:pt x="6882511" y="136779"/>
                    <a:pt x="6882511" y="305435"/>
                  </a:cubicBezTo>
                  <a:lnTo>
                    <a:pt x="6882511" y="2239391"/>
                  </a:lnTo>
                  <a:cubicBezTo>
                    <a:pt x="6882511" y="2408047"/>
                    <a:pt x="6745732" y="2544826"/>
                    <a:pt x="6577076" y="2544826"/>
                  </a:cubicBezTo>
                  <a:lnTo>
                    <a:pt x="305435" y="2544826"/>
                  </a:lnTo>
                  <a:cubicBezTo>
                    <a:pt x="136779" y="2544826"/>
                    <a:pt x="0" y="2408047"/>
                    <a:pt x="0" y="2239391"/>
                  </a:cubicBezTo>
                  <a:close/>
                </a:path>
              </a:pathLst>
            </a:custGeom>
            <a:solidFill>
              <a:srgbClr val="14273A"/>
            </a:solidFill>
            <a:ln w="14299" cap="sq">
              <a:solidFill>
                <a:srgbClr val="284258"/>
              </a:solidFill>
              <a:prstDash val="solid"/>
              <a:miter/>
            </a:ln>
          </p:spPr>
        </p:sp>
      </p:grpSp>
      <p:grpSp>
        <p:nvGrpSpPr>
          <p:cNvPr name="Group 9" id="9"/>
          <p:cNvGrpSpPr/>
          <p:nvPr/>
        </p:nvGrpSpPr>
        <p:grpSpPr>
          <a:xfrm rot="0">
            <a:off x="1200798" y="3328445"/>
            <a:ext cx="673179" cy="453552"/>
            <a:chOff x="0" y="0"/>
            <a:chExt cx="897572" cy="604736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97509" cy="604647"/>
            </a:xfrm>
            <a:custGeom>
              <a:avLst/>
              <a:gdLst/>
              <a:ahLst/>
              <a:cxnLst/>
              <a:rect r="r" b="b" t="t" l="l"/>
              <a:pathLst>
                <a:path h="604647" w="897509">
                  <a:moveTo>
                    <a:pt x="0" y="72517"/>
                  </a:moveTo>
                  <a:cubicBezTo>
                    <a:pt x="0" y="32512"/>
                    <a:pt x="32512" y="0"/>
                    <a:pt x="72517" y="0"/>
                  </a:cubicBezTo>
                  <a:lnTo>
                    <a:pt x="824992" y="0"/>
                  </a:lnTo>
                  <a:cubicBezTo>
                    <a:pt x="865124" y="0"/>
                    <a:pt x="897509" y="32512"/>
                    <a:pt x="897509" y="72517"/>
                  </a:cubicBezTo>
                  <a:lnTo>
                    <a:pt x="897509" y="532130"/>
                  </a:lnTo>
                  <a:cubicBezTo>
                    <a:pt x="897509" y="572262"/>
                    <a:pt x="864997" y="604647"/>
                    <a:pt x="824992" y="604647"/>
                  </a:cubicBezTo>
                  <a:lnTo>
                    <a:pt x="72517" y="604647"/>
                  </a:lnTo>
                  <a:cubicBezTo>
                    <a:pt x="32512" y="604774"/>
                    <a:pt x="0" y="572262"/>
                    <a:pt x="0" y="532130"/>
                  </a:cubicBezTo>
                  <a:close/>
                </a:path>
              </a:pathLst>
            </a:custGeom>
            <a:solidFill>
              <a:srgbClr val="32C5E8"/>
            </a:solidFill>
            <a:ln w="14299" cap="sq">
              <a:solidFill>
                <a:srgbClr val="32C5E8"/>
              </a:solidFill>
              <a:prstDash val="solid"/>
              <a:miter/>
            </a:ln>
          </p:spPr>
        </p:sp>
      </p:grpSp>
      <p:grpSp>
        <p:nvGrpSpPr>
          <p:cNvPr name="Group 11" id="11"/>
          <p:cNvGrpSpPr/>
          <p:nvPr/>
        </p:nvGrpSpPr>
        <p:grpSpPr>
          <a:xfrm rot="0">
            <a:off x="1207951" y="3369907"/>
            <a:ext cx="658882" cy="329441"/>
            <a:chOff x="0" y="0"/>
            <a:chExt cx="878510" cy="439255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78510" cy="439255"/>
            </a:xfrm>
            <a:custGeom>
              <a:avLst/>
              <a:gdLst/>
              <a:ahLst/>
              <a:cxnLst/>
              <a:rect r="r" b="b" t="t" l="l"/>
              <a:pathLst>
                <a:path h="439255" w="878510">
                  <a:moveTo>
                    <a:pt x="0" y="0"/>
                  </a:moveTo>
                  <a:lnTo>
                    <a:pt x="878510" y="0"/>
                  </a:lnTo>
                  <a:lnTo>
                    <a:pt x="878510" y="439255"/>
                  </a:lnTo>
                  <a:lnTo>
                    <a:pt x="0" y="439255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4151" t="0" r="-14151" b="0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9525"/>
              <a:ext cx="878510" cy="4487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621"/>
                </a:lnSpc>
              </a:pPr>
              <a:r>
                <a:rPr lang="en-US" sz="1351" b="true">
                  <a:solidFill>
                    <a:srgbClr val="081522"/>
                  </a:solidFill>
                  <a:latin typeface="Aptos Bold"/>
                  <a:ea typeface="Aptos Bold"/>
                  <a:cs typeface="Aptos Bold"/>
                  <a:sym typeface="Aptos Bold"/>
                </a:rPr>
                <a:t>01</a:t>
              </a: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2077298" y="3344361"/>
            <a:ext cx="3669640" cy="3573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1"/>
              </a:lnSpc>
            </a:pPr>
            <a:r>
              <a:rPr lang="en-US" sz="2101" b="true">
                <a:solidFill>
                  <a:srgbClr val="F5F8FC"/>
                </a:solidFill>
                <a:latin typeface="Aptos Bold"/>
                <a:ea typeface="Aptos Bold"/>
                <a:cs typeface="Aptos Bold"/>
                <a:sym typeface="Aptos Bold"/>
              </a:rPr>
              <a:t>LOAD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253690" y="3999043"/>
            <a:ext cx="4561875" cy="7183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>
                <a:solidFill>
                  <a:srgbClr val="A6BCCD"/>
                </a:solidFill>
                <a:latin typeface="Aptos"/>
                <a:ea typeface="Aptos"/>
                <a:cs typeface="Aptos"/>
                <a:sym typeface="Aptos"/>
              </a:rPr>
              <a:t>Read synthetic CSV records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6650307" y="3081366"/>
            <a:ext cx="5161817" cy="1908591"/>
            <a:chOff x="0" y="0"/>
            <a:chExt cx="6882422" cy="2544788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6882511" cy="2544826"/>
            </a:xfrm>
            <a:custGeom>
              <a:avLst/>
              <a:gdLst/>
              <a:ahLst/>
              <a:cxnLst/>
              <a:rect r="r" b="b" t="t" l="l"/>
              <a:pathLst>
                <a:path h="2544826" w="6882511">
                  <a:moveTo>
                    <a:pt x="0" y="305435"/>
                  </a:moveTo>
                  <a:cubicBezTo>
                    <a:pt x="0" y="136779"/>
                    <a:pt x="136779" y="0"/>
                    <a:pt x="305435" y="0"/>
                  </a:cubicBezTo>
                  <a:lnTo>
                    <a:pt x="6577076" y="0"/>
                  </a:lnTo>
                  <a:cubicBezTo>
                    <a:pt x="6745732" y="0"/>
                    <a:pt x="6882511" y="136779"/>
                    <a:pt x="6882511" y="305435"/>
                  </a:cubicBezTo>
                  <a:lnTo>
                    <a:pt x="6882511" y="2239391"/>
                  </a:lnTo>
                  <a:cubicBezTo>
                    <a:pt x="6882511" y="2408047"/>
                    <a:pt x="6745732" y="2544826"/>
                    <a:pt x="6577076" y="2544826"/>
                  </a:cubicBezTo>
                  <a:lnTo>
                    <a:pt x="305435" y="2544826"/>
                  </a:lnTo>
                  <a:cubicBezTo>
                    <a:pt x="136779" y="2544826"/>
                    <a:pt x="0" y="2408047"/>
                    <a:pt x="0" y="2239391"/>
                  </a:cubicBezTo>
                  <a:close/>
                </a:path>
              </a:pathLst>
            </a:custGeom>
            <a:solidFill>
              <a:srgbClr val="14273A"/>
            </a:solidFill>
            <a:ln w="14299" cap="sq">
              <a:solidFill>
                <a:srgbClr val="284258"/>
              </a:solidFill>
              <a:prstDash val="solid"/>
              <a:miter/>
            </a:ln>
          </p:spPr>
        </p:sp>
      </p:grpSp>
      <p:grpSp>
        <p:nvGrpSpPr>
          <p:cNvPr name="Group 18" id="18"/>
          <p:cNvGrpSpPr/>
          <p:nvPr/>
        </p:nvGrpSpPr>
        <p:grpSpPr>
          <a:xfrm rot="0">
            <a:off x="6897395" y="3328445"/>
            <a:ext cx="673179" cy="453552"/>
            <a:chOff x="0" y="0"/>
            <a:chExt cx="897572" cy="604736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897509" cy="604647"/>
            </a:xfrm>
            <a:custGeom>
              <a:avLst/>
              <a:gdLst/>
              <a:ahLst/>
              <a:cxnLst/>
              <a:rect r="r" b="b" t="t" l="l"/>
              <a:pathLst>
                <a:path h="604647" w="897509">
                  <a:moveTo>
                    <a:pt x="0" y="72517"/>
                  </a:moveTo>
                  <a:cubicBezTo>
                    <a:pt x="0" y="32512"/>
                    <a:pt x="32512" y="0"/>
                    <a:pt x="72517" y="0"/>
                  </a:cubicBezTo>
                  <a:lnTo>
                    <a:pt x="824992" y="0"/>
                  </a:lnTo>
                  <a:cubicBezTo>
                    <a:pt x="865124" y="0"/>
                    <a:pt x="897509" y="32512"/>
                    <a:pt x="897509" y="72517"/>
                  </a:cubicBezTo>
                  <a:lnTo>
                    <a:pt x="897509" y="532130"/>
                  </a:lnTo>
                  <a:cubicBezTo>
                    <a:pt x="897509" y="572262"/>
                    <a:pt x="864997" y="604647"/>
                    <a:pt x="824992" y="604647"/>
                  </a:cubicBezTo>
                  <a:lnTo>
                    <a:pt x="72517" y="604647"/>
                  </a:lnTo>
                  <a:cubicBezTo>
                    <a:pt x="32512" y="604774"/>
                    <a:pt x="0" y="572262"/>
                    <a:pt x="0" y="532130"/>
                  </a:cubicBezTo>
                  <a:close/>
                </a:path>
              </a:pathLst>
            </a:custGeom>
            <a:solidFill>
              <a:srgbClr val="AA91FF"/>
            </a:solidFill>
            <a:ln w="14299" cap="sq">
              <a:solidFill>
                <a:srgbClr val="AA91FF"/>
              </a:solidFill>
              <a:prstDash val="solid"/>
              <a:miter/>
            </a:ln>
          </p:spPr>
        </p:sp>
      </p:grpSp>
      <p:grpSp>
        <p:nvGrpSpPr>
          <p:cNvPr name="Group 20" id="20"/>
          <p:cNvGrpSpPr/>
          <p:nvPr/>
        </p:nvGrpSpPr>
        <p:grpSpPr>
          <a:xfrm rot="0">
            <a:off x="6904539" y="3369907"/>
            <a:ext cx="658882" cy="329441"/>
            <a:chOff x="0" y="0"/>
            <a:chExt cx="878510" cy="439255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878510" cy="439255"/>
            </a:xfrm>
            <a:custGeom>
              <a:avLst/>
              <a:gdLst/>
              <a:ahLst/>
              <a:cxnLst/>
              <a:rect r="r" b="b" t="t" l="l"/>
              <a:pathLst>
                <a:path h="439255" w="878510">
                  <a:moveTo>
                    <a:pt x="0" y="0"/>
                  </a:moveTo>
                  <a:lnTo>
                    <a:pt x="878510" y="0"/>
                  </a:lnTo>
                  <a:lnTo>
                    <a:pt x="878510" y="439255"/>
                  </a:lnTo>
                  <a:lnTo>
                    <a:pt x="0" y="439255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4151" t="0" r="-14151" b="0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9525"/>
              <a:ext cx="878510" cy="4487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621"/>
                </a:lnSpc>
              </a:pPr>
              <a:r>
                <a:rPr lang="en-US" sz="1351" b="true">
                  <a:solidFill>
                    <a:srgbClr val="081522"/>
                  </a:solidFill>
                  <a:latin typeface="Aptos Bold"/>
                  <a:ea typeface="Aptos Bold"/>
                  <a:cs typeface="Aptos Bold"/>
                  <a:sym typeface="Aptos Bold"/>
                </a:rPr>
                <a:t>02</a:t>
              </a:r>
            </a:p>
          </p:txBody>
        </p:sp>
      </p:grpSp>
      <p:sp>
        <p:nvSpPr>
          <p:cNvPr name="TextBox 23" id="23"/>
          <p:cNvSpPr txBox="true"/>
          <p:nvPr/>
        </p:nvSpPr>
        <p:spPr>
          <a:xfrm rot="0">
            <a:off x="7773886" y="3344361"/>
            <a:ext cx="3669640" cy="3573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1"/>
              </a:lnSpc>
            </a:pPr>
            <a:r>
              <a:rPr lang="en-US" sz="2101" b="true">
                <a:solidFill>
                  <a:srgbClr val="F5F8FC"/>
                </a:solidFill>
                <a:latin typeface="Aptos Bold"/>
                <a:ea typeface="Aptos Bold"/>
                <a:cs typeface="Aptos Bold"/>
                <a:sym typeface="Aptos Bold"/>
              </a:rPr>
              <a:t>SELECT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6950288" y="3999043"/>
            <a:ext cx="4561875" cy="7183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>
                <a:solidFill>
                  <a:srgbClr val="A6BCCD"/>
                </a:solidFill>
                <a:latin typeface="Aptos"/>
                <a:ea typeface="Aptos"/>
                <a:cs typeface="Aptos"/>
                <a:sym typeface="Aptos"/>
              </a:rPr>
              <a:t>Choose a student and indicators</a:t>
            </a:r>
          </a:p>
        </p:txBody>
      </p:sp>
      <p:grpSp>
        <p:nvGrpSpPr>
          <p:cNvPr name="Group 25" id="25"/>
          <p:cNvGrpSpPr/>
          <p:nvPr/>
        </p:nvGrpSpPr>
        <p:grpSpPr>
          <a:xfrm rot="0">
            <a:off x="12346905" y="3081366"/>
            <a:ext cx="5161817" cy="1908591"/>
            <a:chOff x="0" y="0"/>
            <a:chExt cx="6882422" cy="2544788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6882511" cy="2544826"/>
            </a:xfrm>
            <a:custGeom>
              <a:avLst/>
              <a:gdLst/>
              <a:ahLst/>
              <a:cxnLst/>
              <a:rect r="r" b="b" t="t" l="l"/>
              <a:pathLst>
                <a:path h="2544826" w="6882511">
                  <a:moveTo>
                    <a:pt x="0" y="305435"/>
                  </a:moveTo>
                  <a:cubicBezTo>
                    <a:pt x="0" y="136779"/>
                    <a:pt x="136779" y="0"/>
                    <a:pt x="305435" y="0"/>
                  </a:cubicBezTo>
                  <a:lnTo>
                    <a:pt x="6577076" y="0"/>
                  </a:lnTo>
                  <a:cubicBezTo>
                    <a:pt x="6745732" y="0"/>
                    <a:pt x="6882511" y="136779"/>
                    <a:pt x="6882511" y="305435"/>
                  </a:cubicBezTo>
                  <a:lnTo>
                    <a:pt x="6882511" y="2239391"/>
                  </a:lnTo>
                  <a:cubicBezTo>
                    <a:pt x="6882511" y="2408047"/>
                    <a:pt x="6745732" y="2544826"/>
                    <a:pt x="6577076" y="2544826"/>
                  </a:cubicBezTo>
                  <a:lnTo>
                    <a:pt x="305435" y="2544826"/>
                  </a:lnTo>
                  <a:cubicBezTo>
                    <a:pt x="136779" y="2544826"/>
                    <a:pt x="0" y="2408047"/>
                    <a:pt x="0" y="2239391"/>
                  </a:cubicBezTo>
                  <a:close/>
                </a:path>
              </a:pathLst>
            </a:custGeom>
            <a:solidFill>
              <a:srgbClr val="14273A"/>
            </a:solidFill>
            <a:ln w="14299" cap="sq">
              <a:solidFill>
                <a:srgbClr val="284258"/>
              </a:solidFill>
              <a:prstDash val="solid"/>
              <a:miter/>
            </a:ln>
          </p:spPr>
        </p:sp>
      </p:grpSp>
      <p:grpSp>
        <p:nvGrpSpPr>
          <p:cNvPr name="Group 27" id="27"/>
          <p:cNvGrpSpPr/>
          <p:nvPr/>
        </p:nvGrpSpPr>
        <p:grpSpPr>
          <a:xfrm rot="0">
            <a:off x="12593984" y="3328445"/>
            <a:ext cx="673179" cy="453552"/>
            <a:chOff x="0" y="0"/>
            <a:chExt cx="897572" cy="604736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897509" cy="604647"/>
            </a:xfrm>
            <a:custGeom>
              <a:avLst/>
              <a:gdLst/>
              <a:ahLst/>
              <a:cxnLst/>
              <a:rect r="r" b="b" t="t" l="l"/>
              <a:pathLst>
                <a:path h="604647" w="897509">
                  <a:moveTo>
                    <a:pt x="0" y="72517"/>
                  </a:moveTo>
                  <a:cubicBezTo>
                    <a:pt x="0" y="32512"/>
                    <a:pt x="32512" y="0"/>
                    <a:pt x="72517" y="0"/>
                  </a:cubicBezTo>
                  <a:lnTo>
                    <a:pt x="824992" y="0"/>
                  </a:lnTo>
                  <a:cubicBezTo>
                    <a:pt x="865124" y="0"/>
                    <a:pt x="897509" y="32512"/>
                    <a:pt x="897509" y="72517"/>
                  </a:cubicBezTo>
                  <a:lnTo>
                    <a:pt x="897509" y="532130"/>
                  </a:lnTo>
                  <a:cubicBezTo>
                    <a:pt x="897509" y="572262"/>
                    <a:pt x="864997" y="604647"/>
                    <a:pt x="824992" y="604647"/>
                  </a:cubicBezTo>
                  <a:lnTo>
                    <a:pt x="72517" y="604647"/>
                  </a:lnTo>
                  <a:cubicBezTo>
                    <a:pt x="32512" y="604774"/>
                    <a:pt x="0" y="572262"/>
                    <a:pt x="0" y="532130"/>
                  </a:cubicBezTo>
                  <a:close/>
                </a:path>
              </a:pathLst>
            </a:custGeom>
            <a:solidFill>
              <a:srgbClr val="FFC55C"/>
            </a:solidFill>
            <a:ln w="14299" cap="sq">
              <a:solidFill>
                <a:srgbClr val="FFC55C"/>
              </a:solidFill>
              <a:prstDash val="solid"/>
              <a:miter/>
            </a:ln>
          </p:spPr>
        </p:sp>
      </p:grpSp>
      <p:grpSp>
        <p:nvGrpSpPr>
          <p:cNvPr name="Group 29" id="29"/>
          <p:cNvGrpSpPr/>
          <p:nvPr/>
        </p:nvGrpSpPr>
        <p:grpSpPr>
          <a:xfrm rot="0">
            <a:off x="12601137" y="3369907"/>
            <a:ext cx="658882" cy="329441"/>
            <a:chOff x="0" y="0"/>
            <a:chExt cx="878510" cy="439255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878510" cy="439255"/>
            </a:xfrm>
            <a:custGeom>
              <a:avLst/>
              <a:gdLst/>
              <a:ahLst/>
              <a:cxnLst/>
              <a:rect r="r" b="b" t="t" l="l"/>
              <a:pathLst>
                <a:path h="439255" w="878510">
                  <a:moveTo>
                    <a:pt x="0" y="0"/>
                  </a:moveTo>
                  <a:lnTo>
                    <a:pt x="878510" y="0"/>
                  </a:lnTo>
                  <a:lnTo>
                    <a:pt x="878510" y="439255"/>
                  </a:lnTo>
                  <a:lnTo>
                    <a:pt x="0" y="439255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4151" t="0" r="-14151" b="0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9525"/>
              <a:ext cx="878510" cy="4487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621"/>
                </a:lnSpc>
              </a:pPr>
              <a:r>
                <a:rPr lang="en-US" sz="1351" b="true">
                  <a:solidFill>
                    <a:srgbClr val="081522"/>
                  </a:solidFill>
                  <a:latin typeface="Aptos Bold"/>
                  <a:ea typeface="Aptos Bold"/>
                  <a:cs typeface="Aptos Bold"/>
                  <a:sym typeface="Aptos Bold"/>
                </a:rPr>
                <a:t>03</a:t>
              </a:r>
            </a:p>
          </p:txBody>
        </p:sp>
      </p:grpSp>
      <p:sp>
        <p:nvSpPr>
          <p:cNvPr name="TextBox 32" id="32"/>
          <p:cNvSpPr txBox="true"/>
          <p:nvPr/>
        </p:nvSpPr>
        <p:spPr>
          <a:xfrm rot="0">
            <a:off x="13470474" y="3344361"/>
            <a:ext cx="3669640" cy="3573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1"/>
              </a:lnSpc>
            </a:pPr>
            <a:r>
              <a:rPr lang="en-US" sz="2101" b="true">
                <a:solidFill>
                  <a:srgbClr val="F5F8FC"/>
                </a:solidFill>
                <a:latin typeface="Aptos Bold"/>
                <a:ea typeface="Aptos Bold"/>
                <a:cs typeface="Aptos Bold"/>
                <a:sym typeface="Aptos Bold"/>
              </a:rPr>
              <a:t>ORCHESTRATE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2646876" y="3999043"/>
            <a:ext cx="4561875" cy="7183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>
                <a:solidFill>
                  <a:srgbClr val="A6BCCD"/>
                </a:solidFill>
                <a:latin typeface="Aptos"/>
                <a:ea typeface="Aptos"/>
                <a:cs typeface="Aptos"/>
                <a:sym typeface="Aptos"/>
              </a:rPr>
              <a:t>Coordinate specialized agent tasks</a:t>
            </a:r>
          </a:p>
        </p:txBody>
      </p:sp>
      <p:grpSp>
        <p:nvGrpSpPr>
          <p:cNvPr name="Group 34" id="34"/>
          <p:cNvGrpSpPr/>
          <p:nvPr/>
        </p:nvGrpSpPr>
        <p:grpSpPr>
          <a:xfrm rot="0">
            <a:off x="953719" y="5620807"/>
            <a:ext cx="5161817" cy="1908591"/>
            <a:chOff x="0" y="0"/>
            <a:chExt cx="6882422" cy="2544788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6882511" cy="2544826"/>
            </a:xfrm>
            <a:custGeom>
              <a:avLst/>
              <a:gdLst/>
              <a:ahLst/>
              <a:cxnLst/>
              <a:rect r="r" b="b" t="t" l="l"/>
              <a:pathLst>
                <a:path h="2544826" w="6882511">
                  <a:moveTo>
                    <a:pt x="0" y="305435"/>
                  </a:moveTo>
                  <a:cubicBezTo>
                    <a:pt x="0" y="136779"/>
                    <a:pt x="136779" y="0"/>
                    <a:pt x="305435" y="0"/>
                  </a:cubicBezTo>
                  <a:lnTo>
                    <a:pt x="6577076" y="0"/>
                  </a:lnTo>
                  <a:cubicBezTo>
                    <a:pt x="6745732" y="0"/>
                    <a:pt x="6882511" y="136779"/>
                    <a:pt x="6882511" y="305435"/>
                  </a:cubicBezTo>
                  <a:lnTo>
                    <a:pt x="6882511" y="2239391"/>
                  </a:lnTo>
                  <a:cubicBezTo>
                    <a:pt x="6882511" y="2408047"/>
                    <a:pt x="6745732" y="2544826"/>
                    <a:pt x="6577076" y="2544826"/>
                  </a:cubicBezTo>
                  <a:lnTo>
                    <a:pt x="305435" y="2544826"/>
                  </a:lnTo>
                  <a:cubicBezTo>
                    <a:pt x="136779" y="2544826"/>
                    <a:pt x="0" y="2408047"/>
                    <a:pt x="0" y="2239391"/>
                  </a:cubicBezTo>
                  <a:close/>
                </a:path>
              </a:pathLst>
            </a:custGeom>
            <a:solidFill>
              <a:srgbClr val="14273A"/>
            </a:solidFill>
            <a:ln w="14299" cap="sq">
              <a:solidFill>
                <a:srgbClr val="284258"/>
              </a:solidFill>
              <a:prstDash val="solid"/>
              <a:miter/>
            </a:ln>
          </p:spPr>
        </p:sp>
      </p:grpSp>
      <p:grpSp>
        <p:nvGrpSpPr>
          <p:cNvPr name="Group 36" id="36"/>
          <p:cNvGrpSpPr/>
          <p:nvPr/>
        </p:nvGrpSpPr>
        <p:grpSpPr>
          <a:xfrm rot="0">
            <a:off x="1200798" y="5867886"/>
            <a:ext cx="673179" cy="453552"/>
            <a:chOff x="0" y="0"/>
            <a:chExt cx="897572" cy="604736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897509" cy="604647"/>
            </a:xfrm>
            <a:custGeom>
              <a:avLst/>
              <a:gdLst/>
              <a:ahLst/>
              <a:cxnLst/>
              <a:rect r="r" b="b" t="t" l="l"/>
              <a:pathLst>
                <a:path h="604647" w="897509">
                  <a:moveTo>
                    <a:pt x="0" y="72517"/>
                  </a:moveTo>
                  <a:cubicBezTo>
                    <a:pt x="0" y="32512"/>
                    <a:pt x="32512" y="0"/>
                    <a:pt x="72517" y="0"/>
                  </a:cubicBezTo>
                  <a:lnTo>
                    <a:pt x="824992" y="0"/>
                  </a:lnTo>
                  <a:cubicBezTo>
                    <a:pt x="865124" y="0"/>
                    <a:pt x="897509" y="32512"/>
                    <a:pt x="897509" y="72517"/>
                  </a:cubicBezTo>
                  <a:lnTo>
                    <a:pt x="897509" y="532130"/>
                  </a:lnTo>
                  <a:cubicBezTo>
                    <a:pt x="897509" y="572262"/>
                    <a:pt x="864997" y="604647"/>
                    <a:pt x="824992" y="604647"/>
                  </a:cubicBezTo>
                  <a:lnTo>
                    <a:pt x="72517" y="604647"/>
                  </a:lnTo>
                  <a:cubicBezTo>
                    <a:pt x="32512" y="604774"/>
                    <a:pt x="0" y="572262"/>
                    <a:pt x="0" y="532130"/>
                  </a:cubicBezTo>
                  <a:close/>
                </a:path>
              </a:pathLst>
            </a:custGeom>
            <a:solidFill>
              <a:srgbClr val="FF756D"/>
            </a:solidFill>
            <a:ln w="14299" cap="sq">
              <a:solidFill>
                <a:srgbClr val="FF756D"/>
              </a:solidFill>
              <a:prstDash val="solid"/>
              <a:miter/>
            </a:ln>
          </p:spPr>
        </p:sp>
      </p:grpSp>
      <p:grpSp>
        <p:nvGrpSpPr>
          <p:cNvPr name="Group 38" id="38"/>
          <p:cNvGrpSpPr/>
          <p:nvPr/>
        </p:nvGrpSpPr>
        <p:grpSpPr>
          <a:xfrm rot="0">
            <a:off x="1207951" y="5909358"/>
            <a:ext cx="658882" cy="329441"/>
            <a:chOff x="0" y="0"/>
            <a:chExt cx="878510" cy="439255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878510" cy="439255"/>
            </a:xfrm>
            <a:custGeom>
              <a:avLst/>
              <a:gdLst/>
              <a:ahLst/>
              <a:cxnLst/>
              <a:rect r="r" b="b" t="t" l="l"/>
              <a:pathLst>
                <a:path h="439255" w="878510">
                  <a:moveTo>
                    <a:pt x="0" y="0"/>
                  </a:moveTo>
                  <a:lnTo>
                    <a:pt x="878510" y="0"/>
                  </a:lnTo>
                  <a:lnTo>
                    <a:pt x="878510" y="439255"/>
                  </a:lnTo>
                  <a:lnTo>
                    <a:pt x="0" y="439255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4151" t="0" r="-14151" b="0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9525"/>
              <a:ext cx="878510" cy="4487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621"/>
                </a:lnSpc>
              </a:pPr>
              <a:r>
                <a:rPr lang="en-US" sz="1351" b="true">
                  <a:solidFill>
                    <a:srgbClr val="081522"/>
                  </a:solidFill>
                  <a:latin typeface="Aptos Bold"/>
                  <a:ea typeface="Aptos Bold"/>
                  <a:cs typeface="Aptos Bold"/>
                  <a:sym typeface="Aptos Bold"/>
                </a:rPr>
                <a:t>04</a:t>
              </a:r>
            </a:p>
          </p:txBody>
        </p:sp>
      </p:grpSp>
      <p:sp>
        <p:nvSpPr>
          <p:cNvPr name="TextBox 41" id="41"/>
          <p:cNvSpPr txBox="true"/>
          <p:nvPr/>
        </p:nvSpPr>
        <p:spPr>
          <a:xfrm rot="0">
            <a:off x="2077298" y="5883802"/>
            <a:ext cx="3669640" cy="3573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1"/>
              </a:lnSpc>
            </a:pPr>
            <a:r>
              <a:rPr lang="en-US" sz="2101" b="true">
                <a:solidFill>
                  <a:srgbClr val="F5F8FC"/>
                </a:solidFill>
                <a:latin typeface="Aptos Bold"/>
                <a:ea typeface="Aptos Bold"/>
                <a:cs typeface="Aptos Bold"/>
                <a:sym typeface="Aptos Bold"/>
              </a:rPr>
              <a:t>ASSESS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1253690" y="6538484"/>
            <a:ext cx="4561875" cy="7183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>
                <a:solidFill>
                  <a:srgbClr val="A6BCCD"/>
                </a:solidFill>
                <a:latin typeface="Aptos"/>
                <a:ea typeface="Aptos"/>
                <a:cs typeface="Aptos"/>
                <a:sym typeface="Aptos"/>
              </a:rPr>
              <a:t>Python rules classify risk</a:t>
            </a:r>
          </a:p>
        </p:txBody>
      </p:sp>
      <p:grpSp>
        <p:nvGrpSpPr>
          <p:cNvPr name="Group 43" id="43"/>
          <p:cNvGrpSpPr/>
          <p:nvPr/>
        </p:nvGrpSpPr>
        <p:grpSpPr>
          <a:xfrm rot="0">
            <a:off x="6650307" y="5620807"/>
            <a:ext cx="5161817" cy="1908591"/>
            <a:chOff x="0" y="0"/>
            <a:chExt cx="6882422" cy="2544788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6882511" cy="2544826"/>
            </a:xfrm>
            <a:custGeom>
              <a:avLst/>
              <a:gdLst/>
              <a:ahLst/>
              <a:cxnLst/>
              <a:rect r="r" b="b" t="t" l="l"/>
              <a:pathLst>
                <a:path h="2544826" w="6882511">
                  <a:moveTo>
                    <a:pt x="0" y="305435"/>
                  </a:moveTo>
                  <a:cubicBezTo>
                    <a:pt x="0" y="136779"/>
                    <a:pt x="136779" y="0"/>
                    <a:pt x="305435" y="0"/>
                  </a:cubicBezTo>
                  <a:lnTo>
                    <a:pt x="6577076" y="0"/>
                  </a:lnTo>
                  <a:cubicBezTo>
                    <a:pt x="6745732" y="0"/>
                    <a:pt x="6882511" y="136779"/>
                    <a:pt x="6882511" y="305435"/>
                  </a:cubicBezTo>
                  <a:lnTo>
                    <a:pt x="6882511" y="2239391"/>
                  </a:lnTo>
                  <a:cubicBezTo>
                    <a:pt x="6882511" y="2408047"/>
                    <a:pt x="6745732" y="2544826"/>
                    <a:pt x="6577076" y="2544826"/>
                  </a:cubicBezTo>
                  <a:lnTo>
                    <a:pt x="305435" y="2544826"/>
                  </a:lnTo>
                  <a:cubicBezTo>
                    <a:pt x="136779" y="2544826"/>
                    <a:pt x="0" y="2408047"/>
                    <a:pt x="0" y="2239391"/>
                  </a:cubicBezTo>
                  <a:close/>
                </a:path>
              </a:pathLst>
            </a:custGeom>
            <a:solidFill>
              <a:srgbClr val="14273A"/>
            </a:solidFill>
            <a:ln w="14299" cap="sq">
              <a:solidFill>
                <a:srgbClr val="284258"/>
              </a:solidFill>
              <a:prstDash val="solid"/>
              <a:miter/>
            </a:ln>
          </p:spPr>
        </p:sp>
      </p:grpSp>
      <p:grpSp>
        <p:nvGrpSpPr>
          <p:cNvPr name="Group 45" id="45"/>
          <p:cNvGrpSpPr/>
          <p:nvPr/>
        </p:nvGrpSpPr>
        <p:grpSpPr>
          <a:xfrm rot="0">
            <a:off x="6897395" y="5867886"/>
            <a:ext cx="673179" cy="453552"/>
            <a:chOff x="0" y="0"/>
            <a:chExt cx="897572" cy="604736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897509" cy="604647"/>
            </a:xfrm>
            <a:custGeom>
              <a:avLst/>
              <a:gdLst/>
              <a:ahLst/>
              <a:cxnLst/>
              <a:rect r="r" b="b" t="t" l="l"/>
              <a:pathLst>
                <a:path h="604647" w="897509">
                  <a:moveTo>
                    <a:pt x="0" y="72517"/>
                  </a:moveTo>
                  <a:cubicBezTo>
                    <a:pt x="0" y="32512"/>
                    <a:pt x="32512" y="0"/>
                    <a:pt x="72517" y="0"/>
                  </a:cubicBezTo>
                  <a:lnTo>
                    <a:pt x="824992" y="0"/>
                  </a:lnTo>
                  <a:cubicBezTo>
                    <a:pt x="865124" y="0"/>
                    <a:pt x="897509" y="32512"/>
                    <a:pt x="897509" y="72517"/>
                  </a:cubicBezTo>
                  <a:lnTo>
                    <a:pt x="897509" y="532130"/>
                  </a:lnTo>
                  <a:cubicBezTo>
                    <a:pt x="897509" y="572262"/>
                    <a:pt x="864997" y="604647"/>
                    <a:pt x="824992" y="604647"/>
                  </a:cubicBezTo>
                  <a:lnTo>
                    <a:pt x="72517" y="604647"/>
                  </a:lnTo>
                  <a:cubicBezTo>
                    <a:pt x="32512" y="604774"/>
                    <a:pt x="0" y="572262"/>
                    <a:pt x="0" y="532130"/>
                  </a:cubicBezTo>
                  <a:close/>
                </a:path>
              </a:pathLst>
            </a:custGeom>
            <a:solidFill>
              <a:srgbClr val="32C5E8"/>
            </a:solidFill>
            <a:ln w="14299" cap="sq">
              <a:solidFill>
                <a:srgbClr val="32C5E8"/>
              </a:solidFill>
              <a:prstDash val="solid"/>
              <a:miter/>
            </a:ln>
          </p:spPr>
        </p:sp>
      </p:grpSp>
      <p:grpSp>
        <p:nvGrpSpPr>
          <p:cNvPr name="Group 47" id="47"/>
          <p:cNvGrpSpPr/>
          <p:nvPr/>
        </p:nvGrpSpPr>
        <p:grpSpPr>
          <a:xfrm rot="0">
            <a:off x="6904539" y="5909358"/>
            <a:ext cx="658882" cy="329441"/>
            <a:chOff x="0" y="0"/>
            <a:chExt cx="878510" cy="439255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878510" cy="439255"/>
            </a:xfrm>
            <a:custGeom>
              <a:avLst/>
              <a:gdLst/>
              <a:ahLst/>
              <a:cxnLst/>
              <a:rect r="r" b="b" t="t" l="l"/>
              <a:pathLst>
                <a:path h="439255" w="878510">
                  <a:moveTo>
                    <a:pt x="0" y="0"/>
                  </a:moveTo>
                  <a:lnTo>
                    <a:pt x="878510" y="0"/>
                  </a:lnTo>
                  <a:lnTo>
                    <a:pt x="878510" y="439255"/>
                  </a:lnTo>
                  <a:lnTo>
                    <a:pt x="0" y="439255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4151" t="0" r="-14151" b="0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-9525"/>
              <a:ext cx="878510" cy="4487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621"/>
                </a:lnSpc>
              </a:pPr>
              <a:r>
                <a:rPr lang="en-US" sz="1351" b="true">
                  <a:solidFill>
                    <a:srgbClr val="081522"/>
                  </a:solidFill>
                  <a:latin typeface="Aptos Bold"/>
                  <a:ea typeface="Aptos Bold"/>
                  <a:cs typeface="Aptos Bold"/>
                  <a:sym typeface="Aptos Bold"/>
                </a:rPr>
                <a:t>05</a:t>
              </a:r>
            </a:p>
          </p:txBody>
        </p:sp>
      </p:grpSp>
      <p:sp>
        <p:nvSpPr>
          <p:cNvPr name="TextBox 50" id="50"/>
          <p:cNvSpPr txBox="true"/>
          <p:nvPr/>
        </p:nvSpPr>
        <p:spPr>
          <a:xfrm rot="0">
            <a:off x="7773886" y="5883802"/>
            <a:ext cx="3669640" cy="3573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1"/>
              </a:lnSpc>
            </a:pPr>
            <a:r>
              <a:rPr lang="en-US" sz="2101" b="true">
                <a:solidFill>
                  <a:srgbClr val="F5F8FC"/>
                </a:solidFill>
                <a:latin typeface="Aptos Bold"/>
                <a:ea typeface="Aptos Bold"/>
                <a:cs typeface="Aptos Bold"/>
                <a:sym typeface="Aptos Bold"/>
              </a:rPr>
              <a:t>VALIDATE</a:t>
            </a:r>
          </a:p>
        </p:txBody>
      </p:sp>
      <p:sp>
        <p:nvSpPr>
          <p:cNvPr name="TextBox 51" id="51"/>
          <p:cNvSpPr txBox="true"/>
          <p:nvPr/>
        </p:nvSpPr>
        <p:spPr>
          <a:xfrm rot="0">
            <a:off x="6950288" y="6538484"/>
            <a:ext cx="4561875" cy="7183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>
                <a:solidFill>
                  <a:srgbClr val="A6BCCD"/>
                </a:solidFill>
                <a:latin typeface="Aptos"/>
                <a:ea typeface="Aptos"/>
                <a:cs typeface="Aptos"/>
                <a:sym typeface="Aptos"/>
              </a:rPr>
              <a:t>Check result structure and consistency</a:t>
            </a:r>
          </a:p>
        </p:txBody>
      </p:sp>
      <p:grpSp>
        <p:nvGrpSpPr>
          <p:cNvPr name="Group 52" id="52"/>
          <p:cNvGrpSpPr/>
          <p:nvPr/>
        </p:nvGrpSpPr>
        <p:grpSpPr>
          <a:xfrm rot="0">
            <a:off x="12346905" y="5620807"/>
            <a:ext cx="5161817" cy="1908591"/>
            <a:chOff x="0" y="0"/>
            <a:chExt cx="6882422" cy="2544788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6882511" cy="2544826"/>
            </a:xfrm>
            <a:custGeom>
              <a:avLst/>
              <a:gdLst/>
              <a:ahLst/>
              <a:cxnLst/>
              <a:rect r="r" b="b" t="t" l="l"/>
              <a:pathLst>
                <a:path h="2544826" w="6882511">
                  <a:moveTo>
                    <a:pt x="0" y="305435"/>
                  </a:moveTo>
                  <a:cubicBezTo>
                    <a:pt x="0" y="136779"/>
                    <a:pt x="136779" y="0"/>
                    <a:pt x="305435" y="0"/>
                  </a:cubicBezTo>
                  <a:lnTo>
                    <a:pt x="6577076" y="0"/>
                  </a:lnTo>
                  <a:cubicBezTo>
                    <a:pt x="6745732" y="0"/>
                    <a:pt x="6882511" y="136779"/>
                    <a:pt x="6882511" y="305435"/>
                  </a:cubicBezTo>
                  <a:lnTo>
                    <a:pt x="6882511" y="2239391"/>
                  </a:lnTo>
                  <a:cubicBezTo>
                    <a:pt x="6882511" y="2408047"/>
                    <a:pt x="6745732" y="2544826"/>
                    <a:pt x="6577076" y="2544826"/>
                  </a:cubicBezTo>
                  <a:lnTo>
                    <a:pt x="305435" y="2544826"/>
                  </a:lnTo>
                  <a:cubicBezTo>
                    <a:pt x="136779" y="2544826"/>
                    <a:pt x="0" y="2408047"/>
                    <a:pt x="0" y="2239391"/>
                  </a:cubicBezTo>
                  <a:close/>
                </a:path>
              </a:pathLst>
            </a:custGeom>
            <a:solidFill>
              <a:srgbClr val="14273A"/>
            </a:solidFill>
            <a:ln w="14299" cap="sq">
              <a:solidFill>
                <a:srgbClr val="284258"/>
              </a:solidFill>
              <a:prstDash val="solid"/>
              <a:miter/>
            </a:ln>
          </p:spPr>
        </p:sp>
      </p:grpSp>
      <p:grpSp>
        <p:nvGrpSpPr>
          <p:cNvPr name="Group 54" id="54"/>
          <p:cNvGrpSpPr/>
          <p:nvPr/>
        </p:nvGrpSpPr>
        <p:grpSpPr>
          <a:xfrm rot="0">
            <a:off x="12593984" y="5867886"/>
            <a:ext cx="673179" cy="453552"/>
            <a:chOff x="0" y="0"/>
            <a:chExt cx="897572" cy="604736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897509" cy="604647"/>
            </a:xfrm>
            <a:custGeom>
              <a:avLst/>
              <a:gdLst/>
              <a:ahLst/>
              <a:cxnLst/>
              <a:rect r="r" b="b" t="t" l="l"/>
              <a:pathLst>
                <a:path h="604647" w="897509">
                  <a:moveTo>
                    <a:pt x="0" y="72517"/>
                  </a:moveTo>
                  <a:cubicBezTo>
                    <a:pt x="0" y="32512"/>
                    <a:pt x="32512" y="0"/>
                    <a:pt x="72517" y="0"/>
                  </a:cubicBezTo>
                  <a:lnTo>
                    <a:pt x="824992" y="0"/>
                  </a:lnTo>
                  <a:cubicBezTo>
                    <a:pt x="865124" y="0"/>
                    <a:pt x="897509" y="32512"/>
                    <a:pt x="897509" y="72517"/>
                  </a:cubicBezTo>
                  <a:lnTo>
                    <a:pt x="897509" y="532130"/>
                  </a:lnTo>
                  <a:cubicBezTo>
                    <a:pt x="897509" y="572262"/>
                    <a:pt x="864997" y="604647"/>
                    <a:pt x="824992" y="604647"/>
                  </a:cubicBezTo>
                  <a:lnTo>
                    <a:pt x="72517" y="604647"/>
                  </a:lnTo>
                  <a:cubicBezTo>
                    <a:pt x="32512" y="604774"/>
                    <a:pt x="0" y="572262"/>
                    <a:pt x="0" y="532130"/>
                  </a:cubicBezTo>
                  <a:close/>
                </a:path>
              </a:pathLst>
            </a:custGeom>
            <a:solidFill>
              <a:srgbClr val="4FDC97"/>
            </a:solidFill>
            <a:ln w="14299" cap="sq">
              <a:solidFill>
                <a:srgbClr val="4FDC97"/>
              </a:solidFill>
              <a:prstDash val="solid"/>
              <a:miter/>
            </a:ln>
          </p:spPr>
        </p:sp>
      </p:grpSp>
      <p:grpSp>
        <p:nvGrpSpPr>
          <p:cNvPr name="Group 56" id="56"/>
          <p:cNvGrpSpPr/>
          <p:nvPr/>
        </p:nvGrpSpPr>
        <p:grpSpPr>
          <a:xfrm rot="0">
            <a:off x="12601137" y="5909358"/>
            <a:ext cx="658882" cy="329441"/>
            <a:chOff x="0" y="0"/>
            <a:chExt cx="878510" cy="439255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878510" cy="439255"/>
            </a:xfrm>
            <a:custGeom>
              <a:avLst/>
              <a:gdLst/>
              <a:ahLst/>
              <a:cxnLst/>
              <a:rect r="r" b="b" t="t" l="l"/>
              <a:pathLst>
                <a:path h="439255" w="878510">
                  <a:moveTo>
                    <a:pt x="0" y="0"/>
                  </a:moveTo>
                  <a:lnTo>
                    <a:pt x="878510" y="0"/>
                  </a:lnTo>
                  <a:lnTo>
                    <a:pt x="878510" y="439255"/>
                  </a:lnTo>
                  <a:lnTo>
                    <a:pt x="0" y="439255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4151" t="0" r="-14151" b="0"/>
              </a:stretch>
            </a:blipFill>
          </p:spPr>
        </p:sp>
        <p:sp>
          <p:nvSpPr>
            <p:cNvPr name="TextBox 58" id="58"/>
            <p:cNvSpPr txBox="true"/>
            <p:nvPr/>
          </p:nvSpPr>
          <p:spPr>
            <a:xfrm>
              <a:off x="0" y="-9525"/>
              <a:ext cx="878510" cy="4487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621"/>
                </a:lnSpc>
              </a:pPr>
              <a:r>
                <a:rPr lang="en-US" sz="1351" b="true">
                  <a:solidFill>
                    <a:srgbClr val="081522"/>
                  </a:solidFill>
                  <a:latin typeface="Aptos Bold"/>
                  <a:ea typeface="Aptos Bold"/>
                  <a:cs typeface="Aptos Bold"/>
                  <a:sym typeface="Aptos Bold"/>
                </a:rPr>
                <a:t>06</a:t>
              </a:r>
            </a:p>
          </p:txBody>
        </p:sp>
      </p:grpSp>
      <p:sp>
        <p:nvSpPr>
          <p:cNvPr name="TextBox 59" id="59"/>
          <p:cNvSpPr txBox="true"/>
          <p:nvPr/>
        </p:nvSpPr>
        <p:spPr>
          <a:xfrm rot="0">
            <a:off x="13470474" y="5883802"/>
            <a:ext cx="3669640" cy="3573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1"/>
              </a:lnSpc>
            </a:pPr>
            <a:r>
              <a:rPr lang="en-US" sz="2101" b="true">
                <a:solidFill>
                  <a:srgbClr val="F5F8FC"/>
                </a:solidFill>
                <a:latin typeface="Aptos Bold"/>
                <a:ea typeface="Aptos Bold"/>
                <a:cs typeface="Aptos Bold"/>
                <a:sym typeface="Aptos Bold"/>
              </a:rPr>
              <a:t>RECOMMEND</a:t>
            </a:r>
          </a:p>
        </p:txBody>
      </p:sp>
      <p:sp>
        <p:nvSpPr>
          <p:cNvPr name="TextBox 60" id="60"/>
          <p:cNvSpPr txBox="true"/>
          <p:nvPr/>
        </p:nvSpPr>
        <p:spPr>
          <a:xfrm rot="0">
            <a:off x="12646876" y="6538484"/>
            <a:ext cx="4561875" cy="7183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>
                <a:solidFill>
                  <a:srgbClr val="A6BCCD"/>
                </a:solidFill>
                <a:latin typeface="Aptos"/>
                <a:ea typeface="Aptos"/>
                <a:cs typeface="Aptos"/>
                <a:sym typeface="Aptos"/>
              </a:rPr>
              <a:t>Prepare a draft for faculty review</a:t>
            </a:r>
          </a:p>
        </p:txBody>
      </p:sp>
      <p:grpSp>
        <p:nvGrpSpPr>
          <p:cNvPr name="Group 61" id="61"/>
          <p:cNvGrpSpPr/>
          <p:nvPr/>
        </p:nvGrpSpPr>
        <p:grpSpPr>
          <a:xfrm rot="0">
            <a:off x="953719" y="8503415"/>
            <a:ext cx="16417738" cy="590817"/>
            <a:chOff x="0" y="0"/>
            <a:chExt cx="21890317" cy="787756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21890228" cy="787781"/>
            </a:xfrm>
            <a:custGeom>
              <a:avLst/>
              <a:gdLst/>
              <a:ahLst/>
              <a:cxnLst/>
              <a:rect r="r" b="b" t="t" l="l"/>
              <a:pathLst>
                <a:path h="787781" w="21890228">
                  <a:moveTo>
                    <a:pt x="0" y="94488"/>
                  </a:moveTo>
                  <a:cubicBezTo>
                    <a:pt x="0" y="42291"/>
                    <a:pt x="42291" y="0"/>
                    <a:pt x="94488" y="0"/>
                  </a:cubicBezTo>
                  <a:lnTo>
                    <a:pt x="21795739" y="0"/>
                  </a:lnTo>
                  <a:cubicBezTo>
                    <a:pt x="21847936" y="0"/>
                    <a:pt x="21890228" y="42291"/>
                    <a:pt x="21890228" y="94488"/>
                  </a:cubicBezTo>
                  <a:lnTo>
                    <a:pt x="21890228" y="693293"/>
                  </a:lnTo>
                  <a:cubicBezTo>
                    <a:pt x="21890228" y="745490"/>
                    <a:pt x="21847936" y="787781"/>
                    <a:pt x="21795739" y="787781"/>
                  </a:cubicBezTo>
                  <a:lnTo>
                    <a:pt x="94488" y="787781"/>
                  </a:lnTo>
                  <a:cubicBezTo>
                    <a:pt x="42291" y="787781"/>
                    <a:pt x="0" y="745490"/>
                    <a:pt x="0" y="693293"/>
                  </a:cubicBezTo>
                  <a:close/>
                </a:path>
              </a:pathLst>
            </a:custGeom>
            <a:solidFill>
              <a:srgbClr val="113042"/>
            </a:solidFill>
            <a:ln w="14299" cap="sq">
              <a:solidFill>
                <a:srgbClr val="235A71"/>
              </a:solidFill>
              <a:prstDash val="solid"/>
              <a:miter/>
            </a:ln>
          </p:spPr>
        </p:sp>
      </p:grpSp>
      <p:sp>
        <p:nvSpPr>
          <p:cNvPr name="TextBox 63" id="63"/>
          <p:cNvSpPr txBox="true"/>
          <p:nvPr/>
        </p:nvSpPr>
        <p:spPr>
          <a:xfrm rot="0">
            <a:off x="1185062" y="8611219"/>
            <a:ext cx="15955061" cy="2654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01"/>
              </a:lnSpc>
            </a:pPr>
            <a:r>
              <a:rPr lang="en-US" sz="1501">
                <a:solidFill>
                  <a:srgbClr val="F5F8FC"/>
                </a:solidFill>
                <a:latin typeface="Aptos"/>
                <a:ea typeface="Aptos"/>
                <a:cs typeface="Aptos"/>
                <a:sym typeface="Aptos"/>
              </a:rPr>
              <a:t>Data used in this demonstration is synthetic; risk labels are illustrative triage outputs.</a:t>
            </a:r>
          </a:p>
        </p:txBody>
      </p:sp>
      <p:sp>
        <p:nvSpPr>
          <p:cNvPr name="TextBox 64" id="64"/>
          <p:cNvSpPr txBox="true"/>
          <p:nvPr/>
        </p:nvSpPr>
        <p:spPr>
          <a:xfrm rot="0">
            <a:off x="951709" y="9832896"/>
            <a:ext cx="10944806" cy="2105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41"/>
              </a:lnSpc>
            </a:pPr>
            <a:r>
              <a:rPr lang="en-US" sz="1200">
                <a:solidFill>
                  <a:srgbClr val="A6BCCD"/>
                </a:solidFill>
                <a:latin typeface="Aptos"/>
                <a:ea typeface="Aptos"/>
                <a:cs typeface="Aptos"/>
                <a:sym typeface="Aptos"/>
              </a:rPr>
              <a:t>ACADEX AI  •  FOUNDATIONS OF AGENTIC AI</a:t>
            </a:r>
          </a:p>
        </p:txBody>
      </p:sp>
      <p:sp>
        <p:nvSpPr>
          <p:cNvPr name="TextBox 65" id="65"/>
          <p:cNvSpPr txBox="true"/>
          <p:nvPr/>
        </p:nvSpPr>
        <p:spPr>
          <a:xfrm rot="0">
            <a:off x="16833523" y="9805445"/>
            <a:ext cx="512493" cy="2379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441"/>
              </a:lnSpc>
            </a:pPr>
            <a:r>
              <a:rPr lang="en-US" sz="1200">
                <a:solidFill>
                  <a:srgbClr val="A6BCCD"/>
                </a:solidFill>
                <a:latin typeface="Aptos"/>
                <a:ea typeface="Aptos"/>
                <a:cs typeface="Aptos"/>
                <a:sym typeface="Aptos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bg>
      <p:bgPr>
        <a:solidFill>
          <a:srgbClr val="0815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10523" y="1006612"/>
            <a:ext cx="16435492" cy="7595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3"/>
              </a:lnSpc>
            </a:pPr>
            <a:r>
              <a:rPr lang="en-US" sz="4203" b="true">
                <a:solidFill>
                  <a:srgbClr val="F5F8FC"/>
                </a:solidFill>
                <a:latin typeface="Aptos Bold"/>
                <a:ea typeface="Aptos Bold"/>
                <a:cs typeface="Aptos Bold"/>
                <a:sym typeface="Aptos Bold"/>
              </a:rPr>
              <a:t>Agent roles &amp; responsibilities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951709" y="1885121"/>
            <a:ext cx="16160963" cy="5399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>
                <a:solidFill>
                  <a:srgbClr val="A6BCCD"/>
                </a:solidFill>
                <a:latin typeface="Aptos"/>
                <a:ea typeface="Aptos"/>
                <a:cs typeface="Aptos"/>
                <a:sym typeface="Aptos"/>
              </a:rPr>
              <a:t>Specialized roles separate planning, execution, critique, readiness checks and follow-up preparation.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912543" y="2573474"/>
            <a:ext cx="1181071" cy="89792"/>
            <a:chOff x="0" y="0"/>
            <a:chExt cx="1574762" cy="119723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574800" cy="119761"/>
            </a:xfrm>
            <a:custGeom>
              <a:avLst/>
              <a:gdLst/>
              <a:ahLst/>
              <a:cxnLst/>
              <a:rect r="r" b="b" t="t" l="l"/>
              <a:pathLst>
                <a:path h="119761" w="1574800">
                  <a:moveTo>
                    <a:pt x="0" y="0"/>
                  </a:moveTo>
                  <a:lnTo>
                    <a:pt x="1574800" y="0"/>
                  </a:lnTo>
                  <a:lnTo>
                    <a:pt x="1574800" y="119761"/>
                  </a:lnTo>
                  <a:lnTo>
                    <a:pt x="0" y="119761"/>
                  </a:lnTo>
                  <a:close/>
                </a:path>
              </a:pathLst>
            </a:custGeom>
            <a:solidFill>
              <a:srgbClr val="FF756D"/>
            </a:solidFill>
            <a:ln w="14299" cap="sq">
              <a:solidFill>
                <a:srgbClr val="FF756D"/>
              </a:solidFill>
              <a:prstDash val="solid"/>
              <a:miter/>
            </a:ln>
          </p:spPr>
        </p:sp>
      </p:grpSp>
      <p:sp>
        <p:nvSpPr>
          <p:cNvPr name="TextBox 6" id="6"/>
          <p:cNvSpPr txBox="true"/>
          <p:nvPr/>
        </p:nvSpPr>
        <p:spPr>
          <a:xfrm rot="0">
            <a:off x="16764895" y="498719"/>
            <a:ext cx="649757" cy="3752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981"/>
              </a:lnSpc>
            </a:pPr>
            <a:r>
              <a:rPr lang="en-US" sz="1651" b="true">
                <a:solidFill>
                  <a:srgbClr val="A6BCCD"/>
                </a:solidFill>
                <a:latin typeface="Aptos Bold"/>
                <a:ea typeface="Aptos Bold"/>
                <a:cs typeface="Aptos Bold"/>
                <a:sym typeface="Aptos Bold"/>
              </a:rPr>
              <a:t>05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953719" y="3081366"/>
            <a:ext cx="5161817" cy="1963493"/>
            <a:chOff x="0" y="0"/>
            <a:chExt cx="6882422" cy="2617991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6882511" cy="2617978"/>
            </a:xfrm>
            <a:custGeom>
              <a:avLst/>
              <a:gdLst/>
              <a:ahLst/>
              <a:cxnLst/>
              <a:rect r="r" b="b" t="t" l="l"/>
              <a:pathLst>
                <a:path h="2617978" w="6882511">
                  <a:moveTo>
                    <a:pt x="0" y="314198"/>
                  </a:moveTo>
                  <a:cubicBezTo>
                    <a:pt x="0" y="140716"/>
                    <a:pt x="140716" y="0"/>
                    <a:pt x="314198" y="0"/>
                  </a:cubicBezTo>
                  <a:lnTo>
                    <a:pt x="6568313" y="0"/>
                  </a:lnTo>
                  <a:cubicBezTo>
                    <a:pt x="6741795" y="0"/>
                    <a:pt x="6882511" y="140716"/>
                    <a:pt x="6882511" y="314198"/>
                  </a:cubicBezTo>
                  <a:lnTo>
                    <a:pt x="6882511" y="2303780"/>
                  </a:lnTo>
                  <a:cubicBezTo>
                    <a:pt x="6882511" y="2477262"/>
                    <a:pt x="6741795" y="2617978"/>
                    <a:pt x="6568313" y="2617978"/>
                  </a:cubicBezTo>
                  <a:lnTo>
                    <a:pt x="314198" y="2617978"/>
                  </a:lnTo>
                  <a:cubicBezTo>
                    <a:pt x="140716" y="2617978"/>
                    <a:pt x="0" y="2477389"/>
                    <a:pt x="0" y="2303780"/>
                  </a:cubicBezTo>
                  <a:close/>
                </a:path>
              </a:pathLst>
            </a:custGeom>
            <a:solidFill>
              <a:srgbClr val="14273A"/>
            </a:solidFill>
            <a:ln w="14299" cap="sq">
              <a:solidFill>
                <a:srgbClr val="284258"/>
              </a:solidFill>
              <a:prstDash val="solid"/>
              <a:miter/>
            </a:ln>
          </p:spPr>
        </p:sp>
      </p:grpSp>
      <p:grpSp>
        <p:nvGrpSpPr>
          <p:cNvPr name="Group 9" id="9"/>
          <p:cNvGrpSpPr/>
          <p:nvPr/>
        </p:nvGrpSpPr>
        <p:grpSpPr>
          <a:xfrm rot="0">
            <a:off x="953719" y="3081366"/>
            <a:ext cx="124111" cy="1963493"/>
            <a:chOff x="0" y="0"/>
            <a:chExt cx="165481" cy="2617991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65481" cy="2617978"/>
            </a:xfrm>
            <a:custGeom>
              <a:avLst/>
              <a:gdLst/>
              <a:ahLst/>
              <a:cxnLst/>
              <a:rect r="r" b="b" t="t" l="l"/>
              <a:pathLst>
                <a:path h="2617978" w="165481">
                  <a:moveTo>
                    <a:pt x="0" y="0"/>
                  </a:moveTo>
                  <a:lnTo>
                    <a:pt x="165481" y="0"/>
                  </a:lnTo>
                  <a:lnTo>
                    <a:pt x="165481" y="2617978"/>
                  </a:lnTo>
                  <a:lnTo>
                    <a:pt x="0" y="2617978"/>
                  </a:lnTo>
                  <a:close/>
                </a:path>
              </a:pathLst>
            </a:custGeom>
            <a:solidFill>
              <a:srgbClr val="32C5E8"/>
            </a:solidFill>
            <a:ln w="14299" cap="sq">
              <a:solidFill>
                <a:srgbClr val="32C5E8"/>
              </a:solidFill>
              <a:prstDash val="solid"/>
              <a:miter/>
            </a:ln>
          </p:spPr>
        </p:sp>
      </p:grpSp>
      <p:sp>
        <p:nvSpPr>
          <p:cNvPr name="TextBox 11" id="11"/>
          <p:cNvSpPr txBox="true"/>
          <p:nvPr/>
        </p:nvSpPr>
        <p:spPr>
          <a:xfrm rot="0">
            <a:off x="1322327" y="3408788"/>
            <a:ext cx="4355973" cy="4026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2"/>
              </a:lnSpc>
            </a:pPr>
            <a:r>
              <a:rPr lang="en-US" sz="2251" b="true">
                <a:solidFill>
                  <a:srgbClr val="F5F8FC"/>
                </a:solidFill>
                <a:latin typeface="Aptos Bold"/>
                <a:ea typeface="Aptos Bold"/>
                <a:cs typeface="Aptos Bold"/>
                <a:sym typeface="Aptos Bold"/>
              </a:rPr>
              <a:t>Planner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322327" y="4040219"/>
            <a:ext cx="4355973" cy="7595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>
                <a:solidFill>
                  <a:srgbClr val="A6BCCD"/>
                </a:solidFill>
                <a:latin typeface="Aptos"/>
                <a:ea typeface="Aptos"/>
                <a:cs typeface="Aptos"/>
                <a:sym typeface="Aptos"/>
              </a:rPr>
              <a:t>Organizes the workflow</a:t>
            </a:r>
          </a:p>
          <a:p>
            <a:pPr algn="l">
              <a:lnSpc>
                <a:spcPts val="2161"/>
              </a:lnSpc>
            </a:pPr>
            <a:r>
              <a:rPr lang="en-US" sz="1801">
                <a:solidFill>
                  <a:srgbClr val="A6BCCD"/>
                </a:solidFill>
                <a:latin typeface="Aptos"/>
                <a:ea typeface="Aptos"/>
                <a:cs typeface="Aptos"/>
                <a:sym typeface="Aptos"/>
              </a:rPr>
              <a:t>and analysis steps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6650307" y="3081366"/>
            <a:ext cx="5161817" cy="1963493"/>
            <a:chOff x="0" y="0"/>
            <a:chExt cx="6882422" cy="2617991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6882511" cy="2617978"/>
            </a:xfrm>
            <a:custGeom>
              <a:avLst/>
              <a:gdLst/>
              <a:ahLst/>
              <a:cxnLst/>
              <a:rect r="r" b="b" t="t" l="l"/>
              <a:pathLst>
                <a:path h="2617978" w="6882511">
                  <a:moveTo>
                    <a:pt x="0" y="314198"/>
                  </a:moveTo>
                  <a:cubicBezTo>
                    <a:pt x="0" y="140716"/>
                    <a:pt x="140716" y="0"/>
                    <a:pt x="314198" y="0"/>
                  </a:cubicBezTo>
                  <a:lnTo>
                    <a:pt x="6568313" y="0"/>
                  </a:lnTo>
                  <a:cubicBezTo>
                    <a:pt x="6741795" y="0"/>
                    <a:pt x="6882511" y="140716"/>
                    <a:pt x="6882511" y="314198"/>
                  </a:cubicBezTo>
                  <a:lnTo>
                    <a:pt x="6882511" y="2303780"/>
                  </a:lnTo>
                  <a:cubicBezTo>
                    <a:pt x="6882511" y="2477262"/>
                    <a:pt x="6741795" y="2617978"/>
                    <a:pt x="6568313" y="2617978"/>
                  </a:cubicBezTo>
                  <a:lnTo>
                    <a:pt x="314198" y="2617978"/>
                  </a:lnTo>
                  <a:cubicBezTo>
                    <a:pt x="140716" y="2617978"/>
                    <a:pt x="0" y="2477389"/>
                    <a:pt x="0" y="2303780"/>
                  </a:cubicBezTo>
                  <a:close/>
                </a:path>
              </a:pathLst>
            </a:custGeom>
            <a:solidFill>
              <a:srgbClr val="14273A"/>
            </a:solidFill>
            <a:ln w="14299" cap="sq">
              <a:solidFill>
                <a:srgbClr val="284258"/>
              </a:solidFill>
              <a:prstDash val="solid"/>
              <a:miter/>
            </a:ln>
          </p:spPr>
        </p:sp>
      </p:grpSp>
      <p:grpSp>
        <p:nvGrpSpPr>
          <p:cNvPr name="Group 15" id="15"/>
          <p:cNvGrpSpPr/>
          <p:nvPr/>
        </p:nvGrpSpPr>
        <p:grpSpPr>
          <a:xfrm rot="0">
            <a:off x="6650307" y="3081366"/>
            <a:ext cx="124111" cy="1963493"/>
            <a:chOff x="0" y="0"/>
            <a:chExt cx="165481" cy="2617991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65481" cy="2617978"/>
            </a:xfrm>
            <a:custGeom>
              <a:avLst/>
              <a:gdLst/>
              <a:ahLst/>
              <a:cxnLst/>
              <a:rect r="r" b="b" t="t" l="l"/>
              <a:pathLst>
                <a:path h="2617978" w="165481">
                  <a:moveTo>
                    <a:pt x="0" y="0"/>
                  </a:moveTo>
                  <a:lnTo>
                    <a:pt x="165481" y="0"/>
                  </a:lnTo>
                  <a:lnTo>
                    <a:pt x="165481" y="2617978"/>
                  </a:lnTo>
                  <a:lnTo>
                    <a:pt x="0" y="2617978"/>
                  </a:lnTo>
                  <a:close/>
                </a:path>
              </a:pathLst>
            </a:custGeom>
            <a:solidFill>
              <a:srgbClr val="AA91FF"/>
            </a:solidFill>
            <a:ln w="14299" cap="sq">
              <a:solidFill>
                <a:srgbClr val="AA91FF"/>
              </a:solidFill>
              <a:prstDash val="solid"/>
              <a:miter/>
            </a:ln>
          </p:spPr>
        </p:sp>
      </p:grpSp>
      <p:sp>
        <p:nvSpPr>
          <p:cNvPr name="TextBox 17" id="17"/>
          <p:cNvSpPr txBox="true"/>
          <p:nvPr/>
        </p:nvSpPr>
        <p:spPr>
          <a:xfrm rot="0">
            <a:off x="7018915" y="3408788"/>
            <a:ext cx="4355973" cy="4026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2"/>
              </a:lnSpc>
            </a:pPr>
            <a:r>
              <a:rPr lang="en-US" sz="2251" b="true">
                <a:solidFill>
                  <a:srgbClr val="F5F8FC"/>
                </a:solidFill>
                <a:latin typeface="Aptos Bold"/>
                <a:ea typeface="Aptos Bold"/>
                <a:cs typeface="Aptos Bold"/>
                <a:sym typeface="Aptos Bold"/>
              </a:rPr>
              <a:t>Research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7018915" y="4040219"/>
            <a:ext cx="4355973" cy="7595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>
                <a:solidFill>
                  <a:srgbClr val="A6BCCD"/>
                </a:solidFill>
                <a:latin typeface="Aptos"/>
                <a:ea typeface="Aptos"/>
                <a:cs typeface="Aptos"/>
                <a:sym typeface="Aptos"/>
              </a:rPr>
              <a:t>Examines academic</a:t>
            </a:r>
          </a:p>
          <a:p>
            <a:pPr algn="l">
              <a:lnSpc>
                <a:spcPts val="2161"/>
              </a:lnSpc>
            </a:pPr>
            <a:r>
              <a:rPr lang="en-US" sz="1801">
                <a:solidFill>
                  <a:srgbClr val="A6BCCD"/>
                </a:solidFill>
                <a:latin typeface="Aptos"/>
                <a:ea typeface="Aptos"/>
                <a:cs typeface="Aptos"/>
                <a:sym typeface="Aptos"/>
              </a:rPr>
              <a:t>indicators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12346905" y="3081366"/>
            <a:ext cx="5161817" cy="1963493"/>
            <a:chOff x="0" y="0"/>
            <a:chExt cx="6882422" cy="2617991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6882511" cy="2617978"/>
            </a:xfrm>
            <a:custGeom>
              <a:avLst/>
              <a:gdLst/>
              <a:ahLst/>
              <a:cxnLst/>
              <a:rect r="r" b="b" t="t" l="l"/>
              <a:pathLst>
                <a:path h="2617978" w="6882511">
                  <a:moveTo>
                    <a:pt x="0" y="314198"/>
                  </a:moveTo>
                  <a:cubicBezTo>
                    <a:pt x="0" y="140716"/>
                    <a:pt x="140716" y="0"/>
                    <a:pt x="314198" y="0"/>
                  </a:cubicBezTo>
                  <a:lnTo>
                    <a:pt x="6568313" y="0"/>
                  </a:lnTo>
                  <a:cubicBezTo>
                    <a:pt x="6741795" y="0"/>
                    <a:pt x="6882511" y="140716"/>
                    <a:pt x="6882511" y="314198"/>
                  </a:cubicBezTo>
                  <a:lnTo>
                    <a:pt x="6882511" y="2303780"/>
                  </a:lnTo>
                  <a:cubicBezTo>
                    <a:pt x="6882511" y="2477262"/>
                    <a:pt x="6741795" y="2617978"/>
                    <a:pt x="6568313" y="2617978"/>
                  </a:cubicBezTo>
                  <a:lnTo>
                    <a:pt x="314198" y="2617978"/>
                  </a:lnTo>
                  <a:cubicBezTo>
                    <a:pt x="140716" y="2617978"/>
                    <a:pt x="0" y="2477389"/>
                    <a:pt x="0" y="2303780"/>
                  </a:cubicBezTo>
                  <a:close/>
                </a:path>
              </a:pathLst>
            </a:custGeom>
            <a:solidFill>
              <a:srgbClr val="14273A"/>
            </a:solidFill>
            <a:ln w="14299" cap="sq">
              <a:solidFill>
                <a:srgbClr val="284258"/>
              </a:solidFill>
              <a:prstDash val="solid"/>
              <a:miter/>
            </a:ln>
          </p:spPr>
        </p:sp>
      </p:grpSp>
      <p:grpSp>
        <p:nvGrpSpPr>
          <p:cNvPr name="Group 21" id="21"/>
          <p:cNvGrpSpPr/>
          <p:nvPr/>
        </p:nvGrpSpPr>
        <p:grpSpPr>
          <a:xfrm rot="0">
            <a:off x="12346905" y="3081366"/>
            <a:ext cx="124111" cy="1963493"/>
            <a:chOff x="0" y="0"/>
            <a:chExt cx="165481" cy="2617991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65481" cy="2617978"/>
            </a:xfrm>
            <a:custGeom>
              <a:avLst/>
              <a:gdLst/>
              <a:ahLst/>
              <a:cxnLst/>
              <a:rect r="r" b="b" t="t" l="l"/>
              <a:pathLst>
                <a:path h="2617978" w="165481">
                  <a:moveTo>
                    <a:pt x="0" y="0"/>
                  </a:moveTo>
                  <a:lnTo>
                    <a:pt x="165481" y="0"/>
                  </a:lnTo>
                  <a:lnTo>
                    <a:pt x="165481" y="2617978"/>
                  </a:lnTo>
                  <a:lnTo>
                    <a:pt x="0" y="2617978"/>
                  </a:lnTo>
                  <a:close/>
                </a:path>
              </a:pathLst>
            </a:custGeom>
            <a:solidFill>
              <a:srgbClr val="FFC55C"/>
            </a:solidFill>
            <a:ln w="14299" cap="sq">
              <a:solidFill>
                <a:srgbClr val="FFC55C"/>
              </a:solidFill>
              <a:prstDash val="solid"/>
              <a:miter/>
            </a:ln>
          </p:spPr>
        </p:sp>
      </p:grpSp>
      <p:sp>
        <p:nvSpPr>
          <p:cNvPr name="TextBox 23" id="23"/>
          <p:cNvSpPr txBox="true"/>
          <p:nvPr/>
        </p:nvSpPr>
        <p:spPr>
          <a:xfrm rot="0">
            <a:off x="12715504" y="3408788"/>
            <a:ext cx="4355973" cy="4026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2"/>
              </a:lnSpc>
            </a:pPr>
            <a:r>
              <a:rPr lang="en-US" sz="2251" b="true">
                <a:solidFill>
                  <a:srgbClr val="F5F8FC"/>
                </a:solidFill>
                <a:latin typeface="Aptos Bold"/>
                <a:ea typeface="Aptos Bold"/>
                <a:cs typeface="Aptos Bold"/>
                <a:sym typeface="Aptos Bold"/>
              </a:rPr>
              <a:t>Executor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2715504" y="4040219"/>
            <a:ext cx="4355973" cy="7595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>
                <a:solidFill>
                  <a:srgbClr val="A6BCCD"/>
                </a:solidFill>
                <a:latin typeface="Aptos"/>
                <a:ea typeface="Aptos"/>
                <a:cs typeface="Aptos"/>
                <a:sym typeface="Aptos"/>
              </a:rPr>
              <a:t>Applies Python rules</a:t>
            </a:r>
          </a:p>
          <a:p>
            <a:pPr algn="l">
              <a:lnSpc>
                <a:spcPts val="2161"/>
              </a:lnSpc>
            </a:pPr>
            <a:r>
              <a:rPr lang="en-US" sz="1801">
                <a:solidFill>
                  <a:srgbClr val="A6BCCD"/>
                </a:solidFill>
                <a:latin typeface="Aptos"/>
                <a:ea typeface="Aptos"/>
                <a:cs typeface="Aptos"/>
                <a:sym typeface="Aptos"/>
              </a:rPr>
              <a:t>and structures results</a:t>
            </a:r>
          </a:p>
        </p:txBody>
      </p:sp>
      <p:grpSp>
        <p:nvGrpSpPr>
          <p:cNvPr name="Group 25" id="25"/>
          <p:cNvGrpSpPr/>
          <p:nvPr/>
        </p:nvGrpSpPr>
        <p:grpSpPr>
          <a:xfrm rot="0">
            <a:off x="953719" y="5620807"/>
            <a:ext cx="5161817" cy="1963493"/>
            <a:chOff x="0" y="0"/>
            <a:chExt cx="6882422" cy="2617991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6882511" cy="2617978"/>
            </a:xfrm>
            <a:custGeom>
              <a:avLst/>
              <a:gdLst/>
              <a:ahLst/>
              <a:cxnLst/>
              <a:rect r="r" b="b" t="t" l="l"/>
              <a:pathLst>
                <a:path h="2617978" w="6882511">
                  <a:moveTo>
                    <a:pt x="0" y="314198"/>
                  </a:moveTo>
                  <a:cubicBezTo>
                    <a:pt x="0" y="140716"/>
                    <a:pt x="140716" y="0"/>
                    <a:pt x="314198" y="0"/>
                  </a:cubicBezTo>
                  <a:lnTo>
                    <a:pt x="6568313" y="0"/>
                  </a:lnTo>
                  <a:cubicBezTo>
                    <a:pt x="6741795" y="0"/>
                    <a:pt x="6882511" y="140716"/>
                    <a:pt x="6882511" y="314198"/>
                  </a:cubicBezTo>
                  <a:lnTo>
                    <a:pt x="6882511" y="2303780"/>
                  </a:lnTo>
                  <a:cubicBezTo>
                    <a:pt x="6882511" y="2477262"/>
                    <a:pt x="6741795" y="2617978"/>
                    <a:pt x="6568313" y="2617978"/>
                  </a:cubicBezTo>
                  <a:lnTo>
                    <a:pt x="314198" y="2617978"/>
                  </a:lnTo>
                  <a:cubicBezTo>
                    <a:pt x="140716" y="2617978"/>
                    <a:pt x="0" y="2477389"/>
                    <a:pt x="0" y="2303780"/>
                  </a:cubicBezTo>
                  <a:close/>
                </a:path>
              </a:pathLst>
            </a:custGeom>
            <a:solidFill>
              <a:srgbClr val="14273A"/>
            </a:solidFill>
            <a:ln w="14299" cap="sq">
              <a:solidFill>
                <a:srgbClr val="284258"/>
              </a:solidFill>
              <a:prstDash val="solid"/>
              <a:miter/>
            </a:ln>
          </p:spPr>
        </p:sp>
      </p:grpSp>
      <p:grpSp>
        <p:nvGrpSpPr>
          <p:cNvPr name="Group 27" id="27"/>
          <p:cNvGrpSpPr/>
          <p:nvPr/>
        </p:nvGrpSpPr>
        <p:grpSpPr>
          <a:xfrm rot="0">
            <a:off x="953719" y="5620807"/>
            <a:ext cx="124111" cy="1963493"/>
            <a:chOff x="0" y="0"/>
            <a:chExt cx="165481" cy="2617991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65481" cy="2617978"/>
            </a:xfrm>
            <a:custGeom>
              <a:avLst/>
              <a:gdLst/>
              <a:ahLst/>
              <a:cxnLst/>
              <a:rect r="r" b="b" t="t" l="l"/>
              <a:pathLst>
                <a:path h="2617978" w="165481">
                  <a:moveTo>
                    <a:pt x="0" y="0"/>
                  </a:moveTo>
                  <a:lnTo>
                    <a:pt x="165481" y="0"/>
                  </a:lnTo>
                  <a:lnTo>
                    <a:pt x="165481" y="2617978"/>
                  </a:lnTo>
                  <a:lnTo>
                    <a:pt x="0" y="2617978"/>
                  </a:lnTo>
                  <a:close/>
                </a:path>
              </a:pathLst>
            </a:custGeom>
            <a:solidFill>
              <a:srgbClr val="FF756D"/>
            </a:solidFill>
            <a:ln w="14299" cap="sq">
              <a:solidFill>
                <a:srgbClr val="FF756D"/>
              </a:solidFill>
              <a:prstDash val="solid"/>
              <a:miter/>
            </a:ln>
          </p:spPr>
        </p:sp>
      </p:grpSp>
      <p:sp>
        <p:nvSpPr>
          <p:cNvPr name="TextBox 29" id="29"/>
          <p:cNvSpPr txBox="true"/>
          <p:nvPr/>
        </p:nvSpPr>
        <p:spPr>
          <a:xfrm rot="0">
            <a:off x="1322327" y="5948229"/>
            <a:ext cx="4355973" cy="4026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2"/>
              </a:lnSpc>
            </a:pPr>
            <a:r>
              <a:rPr lang="en-US" sz="2251" b="true">
                <a:solidFill>
                  <a:srgbClr val="F5F8FC"/>
                </a:solidFill>
                <a:latin typeface="Aptos Bold"/>
                <a:ea typeface="Aptos Bold"/>
                <a:cs typeface="Aptos Bold"/>
                <a:sym typeface="Aptos Bold"/>
              </a:rPr>
              <a:t>Critic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322327" y="6579660"/>
            <a:ext cx="4355973" cy="7595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>
                <a:solidFill>
                  <a:srgbClr val="A6BCCD"/>
                </a:solidFill>
                <a:latin typeface="Aptos"/>
                <a:ea typeface="Aptos"/>
                <a:cs typeface="Aptos"/>
                <a:sym typeface="Aptos"/>
              </a:rPr>
              <a:t>Reviews consistency</a:t>
            </a:r>
          </a:p>
          <a:p>
            <a:pPr algn="l">
              <a:lnSpc>
                <a:spcPts val="2161"/>
              </a:lnSpc>
            </a:pPr>
            <a:r>
              <a:rPr lang="en-US" sz="1801">
                <a:solidFill>
                  <a:srgbClr val="A6BCCD"/>
                </a:solidFill>
                <a:latin typeface="Aptos"/>
                <a:ea typeface="Aptos"/>
                <a:cs typeface="Aptos"/>
                <a:sym typeface="Aptos"/>
              </a:rPr>
              <a:t>of results</a:t>
            </a:r>
          </a:p>
        </p:txBody>
      </p:sp>
      <p:grpSp>
        <p:nvGrpSpPr>
          <p:cNvPr name="Group 31" id="31"/>
          <p:cNvGrpSpPr/>
          <p:nvPr/>
        </p:nvGrpSpPr>
        <p:grpSpPr>
          <a:xfrm rot="0">
            <a:off x="6650307" y="5620807"/>
            <a:ext cx="5161817" cy="1963493"/>
            <a:chOff x="0" y="0"/>
            <a:chExt cx="6882422" cy="2617991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6882511" cy="2617978"/>
            </a:xfrm>
            <a:custGeom>
              <a:avLst/>
              <a:gdLst/>
              <a:ahLst/>
              <a:cxnLst/>
              <a:rect r="r" b="b" t="t" l="l"/>
              <a:pathLst>
                <a:path h="2617978" w="6882511">
                  <a:moveTo>
                    <a:pt x="0" y="314198"/>
                  </a:moveTo>
                  <a:cubicBezTo>
                    <a:pt x="0" y="140716"/>
                    <a:pt x="140716" y="0"/>
                    <a:pt x="314198" y="0"/>
                  </a:cubicBezTo>
                  <a:lnTo>
                    <a:pt x="6568313" y="0"/>
                  </a:lnTo>
                  <a:cubicBezTo>
                    <a:pt x="6741795" y="0"/>
                    <a:pt x="6882511" y="140716"/>
                    <a:pt x="6882511" y="314198"/>
                  </a:cubicBezTo>
                  <a:lnTo>
                    <a:pt x="6882511" y="2303780"/>
                  </a:lnTo>
                  <a:cubicBezTo>
                    <a:pt x="6882511" y="2477262"/>
                    <a:pt x="6741795" y="2617978"/>
                    <a:pt x="6568313" y="2617978"/>
                  </a:cubicBezTo>
                  <a:lnTo>
                    <a:pt x="314198" y="2617978"/>
                  </a:lnTo>
                  <a:cubicBezTo>
                    <a:pt x="140716" y="2617978"/>
                    <a:pt x="0" y="2477389"/>
                    <a:pt x="0" y="2303780"/>
                  </a:cubicBezTo>
                  <a:close/>
                </a:path>
              </a:pathLst>
            </a:custGeom>
            <a:solidFill>
              <a:srgbClr val="14273A"/>
            </a:solidFill>
            <a:ln w="14299" cap="sq">
              <a:solidFill>
                <a:srgbClr val="284258"/>
              </a:solidFill>
              <a:prstDash val="solid"/>
              <a:miter/>
            </a:ln>
          </p:spPr>
        </p:sp>
      </p:grpSp>
      <p:grpSp>
        <p:nvGrpSpPr>
          <p:cNvPr name="Group 33" id="33"/>
          <p:cNvGrpSpPr/>
          <p:nvPr/>
        </p:nvGrpSpPr>
        <p:grpSpPr>
          <a:xfrm rot="0">
            <a:off x="6650307" y="5620807"/>
            <a:ext cx="124111" cy="1963493"/>
            <a:chOff x="0" y="0"/>
            <a:chExt cx="165481" cy="2617991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165481" cy="2617978"/>
            </a:xfrm>
            <a:custGeom>
              <a:avLst/>
              <a:gdLst/>
              <a:ahLst/>
              <a:cxnLst/>
              <a:rect r="r" b="b" t="t" l="l"/>
              <a:pathLst>
                <a:path h="2617978" w="165481">
                  <a:moveTo>
                    <a:pt x="0" y="0"/>
                  </a:moveTo>
                  <a:lnTo>
                    <a:pt x="165481" y="0"/>
                  </a:lnTo>
                  <a:lnTo>
                    <a:pt x="165481" y="2617978"/>
                  </a:lnTo>
                  <a:lnTo>
                    <a:pt x="0" y="2617978"/>
                  </a:lnTo>
                  <a:close/>
                </a:path>
              </a:pathLst>
            </a:custGeom>
            <a:solidFill>
              <a:srgbClr val="32C5E8"/>
            </a:solidFill>
            <a:ln w="14299" cap="sq">
              <a:solidFill>
                <a:srgbClr val="32C5E8"/>
              </a:solidFill>
              <a:prstDash val="solid"/>
              <a:miter/>
            </a:ln>
          </p:spPr>
        </p:sp>
      </p:grpSp>
      <p:sp>
        <p:nvSpPr>
          <p:cNvPr name="TextBox 35" id="35"/>
          <p:cNvSpPr txBox="true"/>
          <p:nvPr/>
        </p:nvSpPr>
        <p:spPr>
          <a:xfrm rot="0">
            <a:off x="7018915" y="5948229"/>
            <a:ext cx="4355973" cy="4026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2"/>
              </a:lnSpc>
            </a:pPr>
            <a:r>
              <a:rPr lang="en-US" sz="2251" b="true">
                <a:solidFill>
                  <a:srgbClr val="F5F8FC"/>
                </a:solidFill>
                <a:latin typeface="Aptos Bold"/>
                <a:ea typeface="Aptos Bold"/>
                <a:cs typeface="Aptos Bold"/>
                <a:sym typeface="Aptos Bold"/>
              </a:rPr>
              <a:t>Software Development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7018915" y="6579660"/>
            <a:ext cx="4355973" cy="7595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>
                <a:solidFill>
                  <a:srgbClr val="A6BCCD"/>
                </a:solidFill>
                <a:latin typeface="Aptos"/>
                <a:ea typeface="Aptos"/>
                <a:cs typeface="Aptos"/>
                <a:sym typeface="Aptos"/>
              </a:rPr>
              <a:t>Checks schema, required</a:t>
            </a:r>
          </a:p>
          <a:p>
            <a:pPr algn="l">
              <a:lnSpc>
                <a:spcPts val="2161"/>
              </a:lnSpc>
            </a:pPr>
            <a:r>
              <a:rPr lang="en-US" sz="1801">
                <a:solidFill>
                  <a:srgbClr val="A6BCCD"/>
                </a:solidFill>
                <a:latin typeface="Aptos"/>
                <a:ea typeface="Aptos"/>
                <a:cs typeface="Aptos"/>
                <a:sym typeface="Aptos"/>
              </a:rPr>
              <a:t>fields and record IDs</a:t>
            </a:r>
          </a:p>
        </p:txBody>
      </p:sp>
      <p:grpSp>
        <p:nvGrpSpPr>
          <p:cNvPr name="Group 37" id="37"/>
          <p:cNvGrpSpPr/>
          <p:nvPr/>
        </p:nvGrpSpPr>
        <p:grpSpPr>
          <a:xfrm rot="0">
            <a:off x="12346905" y="5620807"/>
            <a:ext cx="5161817" cy="1963493"/>
            <a:chOff x="0" y="0"/>
            <a:chExt cx="6882422" cy="2617991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6882511" cy="2617978"/>
            </a:xfrm>
            <a:custGeom>
              <a:avLst/>
              <a:gdLst/>
              <a:ahLst/>
              <a:cxnLst/>
              <a:rect r="r" b="b" t="t" l="l"/>
              <a:pathLst>
                <a:path h="2617978" w="6882511">
                  <a:moveTo>
                    <a:pt x="0" y="314198"/>
                  </a:moveTo>
                  <a:cubicBezTo>
                    <a:pt x="0" y="140716"/>
                    <a:pt x="140716" y="0"/>
                    <a:pt x="314198" y="0"/>
                  </a:cubicBezTo>
                  <a:lnTo>
                    <a:pt x="6568313" y="0"/>
                  </a:lnTo>
                  <a:cubicBezTo>
                    <a:pt x="6741795" y="0"/>
                    <a:pt x="6882511" y="140716"/>
                    <a:pt x="6882511" y="314198"/>
                  </a:cubicBezTo>
                  <a:lnTo>
                    <a:pt x="6882511" y="2303780"/>
                  </a:lnTo>
                  <a:cubicBezTo>
                    <a:pt x="6882511" y="2477262"/>
                    <a:pt x="6741795" y="2617978"/>
                    <a:pt x="6568313" y="2617978"/>
                  </a:cubicBezTo>
                  <a:lnTo>
                    <a:pt x="314198" y="2617978"/>
                  </a:lnTo>
                  <a:cubicBezTo>
                    <a:pt x="140716" y="2617978"/>
                    <a:pt x="0" y="2477389"/>
                    <a:pt x="0" y="2303780"/>
                  </a:cubicBezTo>
                  <a:close/>
                </a:path>
              </a:pathLst>
            </a:custGeom>
            <a:solidFill>
              <a:srgbClr val="14273A"/>
            </a:solidFill>
            <a:ln w="14299" cap="sq">
              <a:solidFill>
                <a:srgbClr val="284258"/>
              </a:solidFill>
              <a:prstDash val="solid"/>
              <a:miter/>
            </a:ln>
          </p:spPr>
        </p:sp>
      </p:grpSp>
      <p:grpSp>
        <p:nvGrpSpPr>
          <p:cNvPr name="Group 39" id="39"/>
          <p:cNvGrpSpPr/>
          <p:nvPr/>
        </p:nvGrpSpPr>
        <p:grpSpPr>
          <a:xfrm rot="0">
            <a:off x="12346905" y="5620807"/>
            <a:ext cx="124111" cy="1963493"/>
            <a:chOff x="0" y="0"/>
            <a:chExt cx="165481" cy="2617991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165481" cy="2617978"/>
            </a:xfrm>
            <a:custGeom>
              <a:avLst/>
              <a:gdLst/>
              <a:ahLst/>
              <a:cxnLst/>
              <a:rect r="r" b="b" t="t" l="l"/>
              <a:pathLst>
                <a:path h="2617978" w="165481">
                  <a:moveTo>
                    <a:pt x="0" y="0"/>
                  </a:moveTo>
                  <a:lnTo>
                    <a:pt x="165481" y="0"/>
                  </a:lnTo>
                  <a:lnTo>
                    <a:pt x="165481" y="2617978"/>
                  </a:lnTo>
                  <a:lnTo>
                    <a:pt x="0" y="2617978"/>
                  </a:lnTo>
                  <a:close/>
                </a:path>
              </a:pathLst>
            </a:custGeom>
            <a:solidFill>
              <a:srgbClr val="4FDC97"/>
            </a:solidFill>
            <a:ln w="14299" cap="sq">
              <a:solidFill>
                <a:srgbClr val="4FDC97"/>
              </a:solidFill>
              <a:prstDash val="solid"/>
              <a:miter/>
            </a:ln>
          </p:spPr>
        </p:sp>
      </p:grpSp>
      <p:sp>
        <p:nvSpPr>
          <p:cNvPr name="TextBox 41" id="41"/>
          <p:cNvSpPr txBox="true"/>
          <p:nvPr/>
        </p:nvSpPr>
        <p:spPr>
          <a:xfrm rot="0">
            <a:off x="12715504" y="5948229"/>
            <a:ext cx="4355973" cy="4026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2"/>
              </a:lnSpc>
            </a:pPr>
            <a:r>
              <a:rPr lang="en-US" sz="2251" b="true">
                <a:solidFill>
                  <a:srgbClr val="F5F8FC"/>
                </a:solidFill>
                <a:latin typeface="Aptos Bold"/>
                <a:ea typeface="Aptos Bold"/>
                <a:cs typeface="Aptos Bold"/>
                <a:sym typeface="Aptos Bold"/>
              </a:rPr>
              <a:t>Business Automation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12715504" y="6579660"/>
            <a:ext cx="4355973" cy="7595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>
                <a:solidFill>
                  <a:srgbClr val="A6BCCD"/>
                </a:solidFill>
                <a:latin typeface="Aptos"/>
                <a:ea typeface="Aptos"/>
                <a:cs typeface="Aptos"/>
                <a:sym typeface="Aptos"/>
              </a:rPr>
              <a:t>Prepares intervention</a:t>
            </a:r>
          </a:p>
          <a:p>
            <a:pPr algn="l">
              <a:lnSpc>
                <a:spcPts val="2161"/>
              </a:lnSpc>
            </a:pPr>
            <a:r>
              <a:rPr lang="en-US" sz="1801">
                <a:solidFill>
                  <a:srgbClr val="A6BCCD"/>
                </a:solidFill>
                <a:latin typeface="Aptos"/>
                <a:ea typeface="Aptos"/>
                <a:cs typeface="Aptos"/>
                <a:sym typeface="Aptos"/>
              </a:rPr>
              <a:t>drafts for faculty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1047788" y="8597494"/>
            <a:ext cx="16160963" cy="4438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 b="true">
                <a:solidFill>
                  <a:srgbClr val="32C5E8"/>
                </a:solidFill>
                <a:latin typeface="Aptos Bold"/>
                <a:ea typeface="Aptos Bold"/>
                <a:cs typeface="Aptos Bold"/>
                <a:sym typeface="Aptos Bold"/>
              </a:rPr>
              <a:t>Gemini supports language-based tasks; deterministic risk calculation is performed by Python.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951709" y="9832896"/>
            <a:ext cx="10944806" cy="2105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41"/>
              </a:lnSpc>
            </a:pPr>
            <a:r>
              <a:rPr lang="en-US" sz="1200">
                <a:solidFill>
                  <a:srgbClr val="A6BCCD"/>
                </a:solidFill>
                <a:latin typeface="Aptos"/>
                <a:ea typeface="Aptos"/>
                <a:cs typeface="Aptos"/>
                <a:sym typeface="Aptos"/>
              </a:rPr>
              <a:t>ACADEX AI  •  FOUNDATIONS OF AGENTIC AI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16833523" y="9805445"/>
            <a:ext cx="512493" cy="2379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441"/>
              </a:lnSpc>
            </a:pPr>
            <a:r>
              <a:rPr lang="en-US" sz="1200">
                <a:solidFill>
                  <a:srgbClr val="A6BCCD"/>
                </a:solidFill>
                <a:latin typeface="Aptos"/>
                <a:ea typeface="Aptos"/>
                <a:cs typeface="Aptos"/>
                <a:sym typeface="Aptos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bg>
      <p:bgPr>
        <a:solidFill>
          <a:srgbClr val="0815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10523" y="1006612"/>
            <a:ext cx="16435492" cy="7595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3"/>
              </a:lnSpc>
            </a:pPr>
            <a:r>
              <a:rPr lang="en-US" sz="4203" b="true">
                <a:solidFill>
                  <a:srgbClr val="F5F8FC"/>
                </a:solidFill>
                <a:latin typeface="Aptos Bold"/>
                <a:ea typeface="Aptos Bold"/>
                <a:cs typeface="Aptos Bold"/>
                <a:sym typeface="Aptos Bold"/>
              </a:rPr>
              <a:t>End-to-end pipeline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951709" y="1885121"/>
            <a:ext cx="16160963" cy="5399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>
                <a:solidFill>
                  <a:srgbClr val="A6BCCD"/>
                </a:solidFill>
                <a:latin typeface="Aptos"/>
                <a:ea typeface="Aptos"/>
                <a:cs typeface="Aptos"/>
                <a:sym typeface="Aptos"/>
              </a:rPr>
              <a:t>The dashboard triggers a backend workflow; validation gates the result before it is shown.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912543" y="2573474"/>
            <a:ext cx="1181071" cy="89792"/>
            <a:chOff x="0" y="0"/>
            <a:chExt cx="1574762" cy="119723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574800" cy="119761"/>
            </a:xfrm>
            <a:custGeom>
              <a:avLst/>
              <a:gdLst/>
              <a:ahLst/>
              <a:cxnLst/>
              <a:rect r="r" b="b" t="t" l="l"/>
              <a:pathLst>
                <a:path h="119761" w="1574800">
                  <a:moveTo>
                    <a:pt x="0" y="0"/>
                  </a:moveTo>
                  <a:lnTo>
                    <a:pt x="1574800" y="0"/>
                  </a:lnTo>
                  <a:lnTo>
                    <a:pt x="1574800" y="119761"/>
                  </a:lnTo>
                  <a:lnTo>
                    <a:pt x="0" y="119761"/>
                  </a:lnTo>
                  <a:close/>
                </a:path>
              </a:pathLst>
            </a:custGeom>
            <a:solidFill>
              <a:srgbClr val="FF756D"/>
            </a:solidFill>
            <a:ln w="14299" cap="sq">
              <a:solidFill>
                <a:srgbClr val="FF756D"/>
              </a:solidFill>
              <a:prstDash val="solid"/>
              <a:miter/>
            </a:ln>
          </p:spPr>
        </p:sp>
      </p:grpSp>
      <p:sp>
        <p:nvSpPr>
          <p:cNvPr name="TextBox 6" id="6"/>
          <p:cNvSpPr txBox="true"/>
          <p:nvPr/>
        </p:nvSpPr>
        <p:spPr>
          <a:xfrm rot="0">
            <a:off x="16764895" y="498719"/>
            <a:ext cx="649757" cy="3752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981"/>
              </a:lnSpc>
            </a:pPr>
            <a:r>
              <a:rPr lang="en-US" sz="1651" b="true">
                <a:solidFill>
                  <a:srgbClr val="A6BCCD"/>
                </a:solidFill>
                <a:latin typeface="Aptos Bold"/>
                <a:ea typeface="Aptos Bold"/>
                <a:cs typeface="Aptos Bold"/>
                <a:sym typeface="Aptos Bold"/>
              </a:rPr>
              <a:t>06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747817" y="4110866"/>
            <a:ext cx="2416473" cy="2141944"/>
            <a:chOff x="0" y="0"/>
            <a:chExt cx="3221965" cy="2855925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3221990" cy="2855976"/>
            </a:xfrm>
            <a:custGeom>
              <a:avLst/>
              <a:gdLst/>
              <a:ahLst/>
              <a:cxnLst/>
              <a:rect r="r" b="b" t="t" l="l"/>
              <a:pathLst>
                <a:path h="2855976" w="3221990">
                  <a:moveTo>
                    <a:pt x="0" y="342773"/>
                  </a:moveTo>
                  <a:cubicBezTo>
                    <a:pt x="0" y="153416"/>
                    <a:pt x="153416" y="0"/>
                    <a:pt x="342773" y="0"/>
                  </a:cubicBezTo>
                  <a:lnTo>
                    <a:pt x="2879217" y="0"/>
                  </a:lnTo>
                  <a:cubicBezTo>
                    <a:pt x="3068447" y="0"/>
                    <a:pt x="3221990" y="153416"/>
                    <a:pt x="3221990" y="342773"/>
                  </a:cubicBezTo>
                  <a:lnTo>
                    <a:pt x="3221990" y="2513203"/>
                  </a:lnTo>
                  <a:cubicBezTo>
                    <a:pt x="3221990" y="2702433"/>
                    <a:pt x="3068574" y="2855976"/>
                    <a:pt x="2879217" y="2855976"/>
                  </a:cubicBezTo>
                  <a:lnTo>
                    <a:pt x="342773" y="2855976"/>
                  </a:lnTo>
                  <a:cubicBezTo>
                    <a:pt x="153416" y="2855976"/>
                    <a:pt x="0" y="2702433"/>
                    <a:pt x="0" y="2513203"/>
                  </a:cubicBezTo>
                  <a:close/>
                </a:path>
              </a:pathLst>
            </a:custGeom>
            <a:solidFill>
              <a:srgbClr val="14273A"/>
            </a:solidFill>
            <a:ln w="14299" cap="sq">
              <a:solidFill>
                <a:srgbClr val="284258"/>
              </a:solidFill>
              <a:prstDash val="solid"/>
              <a:miter/>
            </a:ln>
          </p:spPr>
        </p:sp>
      </p:grpSp>
      <p:grpSp>
        <p:nvGrpSpPr>
          <p:cNvPr name="Group 9" id="9"/>
          <p:cNvGrpSpPr/>
          <p:nvPr/>
        </p:nvGrpSpPr>
        <p:grpSpPr>
          <a:xfrm rot="0">
            <a:off x="747817" y="4110866"/>
            <a:ext cx="2416473" cy="137836"/>
            <a:chOff x="0" y="0"/>
            <a:chExt cx="3221965" cy="183782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3221990" cy="183769"/>
            </a:xfrm>
            <a:custGeom>
              <a:avLst/>
              <a:gdLst/>
              <a:ahLst/>
              <a:cxnLst/>
              <a:rect r="r" b="b" t="t" l="l"/>
              <a:pathLst>
                <a:path h="183769" w="3221990">
                  <a:moveTo>
                    <a:pt x="0" y="0"/>
                  </a:moveTo>
                  <a:lnTo>
                    <a:pt x="3221990" y="0"/>
                  </a:lnTo>
                  <a:lnTo>
                    <a:pt x="3221990" y="183769"/>
                  </a:lnTo>
                  <a:lnTo>
                    <a:pt x="0" y="183769"/>
                  </a:lnTo>
                  <a:close/>
                </a:path>
              </a:pathLst>
            </a:custGeom>
            <a:solidFill>
              <a:srgbClr val="32C5E8"/>
            </a:solidFill>
            <a:ln w="14299" cap="sq">
              <a:solidFill>
                <a:srgbClr val="32C5E8"/>
              </a:solidFill>
              <a:prstDash val="solid"/>
              <a:miter/>
            </a:ln>
          </p:spPr>
        </p:sp>
      </p:grpSp>
      <p:sp>
        <p:nvSpPr>
          <p:cNvPr name="TextBox 11" id="11"/>
          <p:cNvSpPr txBox="true"/>
          <p:nvPr/>
        </p:nvSpPr>
        <p:spPr>
          <a:xfrm rot="0">
            <a:off x="883072" y="4520651"/>
            <a:ext cx="2145973" cy="4438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41"/>
              </a:lnSpc>
            </a:pPr>
            <a:r>
              <a:rPr lang="en-US" sz="1951" b="true">
                <a:solidFill>
                  <a:srgbClr val="F5F8FC"/>
                </a:solidFill>
                <a:latin typeface="Aptos Bold"/>
                <a:ea typeface="Aptos Bold"/>
                <a:cs typeface="Aptos Bold"/>
                <a:sym typeface="Aptos Bold"/>
              </a:rPr>
              <a:t>Dashboard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883072" y="5234445"/>
            <a:ext cx="2145973" cy="7183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01"/>
              </a:lnSpc>
            </a:pPr>
            <a:r>
              <a:rPr lang="en-US" sz="1501">
                <a:solidFill>
                  <a:srgbClr val="A6BCCD"/>
                </a:solidFill>
                <a:latin typeface="Aptos"/>
                <a:ea typeface="Aptos"/>
                <a:cs typeface="Aptos"/>
                <a:sym typeface="Aptos"/>
              </a:rPr>
              <a:t>Select student</a:t>
            </a:r>
          </a:p>
          <a:p>
            <a:pPr algn="ctr">
              <a:lnSpc>
                <a:spcPts val="1801"/>
              </a:lnSpc>
            </a:pPr>
            <a:r>
              <a:rPr lang="en-US" sz="1501">
                <a:solidFill>
                  <a:srgbClr val="A6BCCD"/>
                </a:solidFill>
                <a:latin typeface="Aptos"/>
                <a:ea typeface="Aptos"/>
                <a:cs typeface="Aptos"/>
                <a:sym typeface="Aptos"/>
              </a:rPr>
              <a:t>and run workflow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3671611" y="4110866"/>
            <a:ext cx="2416473" cy="2141944"/>
            <a:chOff x="0" y="0"/>
            <a:chExt cx="3221965" cy="2855925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3221990" cy="2855976"/>
            </a:xfrm>
            <a:custGeom>
              <a:avLst/>
              <a:gdLst/>
              <a:ahLst/>
              <a:cxnLst/>
              <a:rect r="r" b="b" t="t" l="l"/>
              <a:pathLst>
                <a:path h="2855976" w="3221990">
                  <a:moveTo>
                    <a:pt x="0" y="342773"/>
                  </a:moveTo>
                  <a:cubicBezTo>
                    <a:pt x="0" y="153416"/>
                    <a:pt x="153416" y="0"/>
                    <a:pt x="342773" y="0"/>
                  </a:cubicBezTo>
                  <a:lnTo>
                    <a:pt x="2879217" y="0"/>
                  </a:lnTo>
                  <a:cubicBezTo>
                    <a:pt x="3068447" y="0"/>
                    <a:pt x="3221990" y="153416"/>
                    <a:pt x="3221990" y="342773"/>
                  </a:cubicBezTo>
                  <a:lnTo>
                    <a:pt x="3221990" y="2513203"/>
                  </a:lnTo>
                  <a:cubicBezTo>
                    <a:pt x="3221990" y="2702433"/>
                    <a:pt x="3068574" y="2855976"/>
                    <a:pt x="2879217" y="2855976"/>
                  </a:cubicBezTo>
                  <a:lnTo>
                    <a:pt x="342773" y="2855976"/>
                  </a:lnTo>
                  <a:cubicBezTo>
                    <a:pt x="153416" y="2855976"/>
                    <a:pt x="0" y="2702433"/>
                    <a:pt x="0" y="2513203"/>
                  </a:cubicBezTo>
                  <a:close/>
                </a:path>
              </a:pathLst>
            </a:custGeom>
            <a:solidFill>
              <a:srgbClr val="14273A"/>
            </a:solidFill>
            <a:ln w="14299" cap="sq">
              <a:solidFill>
                <a:srgbClr val="284258"/>
              </a:solidFill>
              <a:prstDash val="solid"/>
              <a:miter/>
            </a:ln>
          </p:spPr>
        </p:sp>
      </p:grpSp>
      <p:grpSp>
        <p:nvGrpSpPr>
          <p:cNvPr name="Group 15" id="15"/>
          <p:cNvGrpSpPr/>
          <p:nvPr/>
        </p:nvGrpSpPr>
        <p:grpSpPr>
          <a:xfrm rot="0">
            <a:off x="3671611" y="4110866"/>
            <a:ext cx="2416473" cy="137836"/>
            <a:chOff x="0" y="0"/>
            <a:chExt cx="3221965" cy="183782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3221990" cy="183769"/>
            </a:xfrm>
            <a:custGeom>
              <a:avLst/>
              <a:gdLst/>
              <a:ahLst/>
              <a:cxnLst/>
              <a:rect r="r" b="b" t="t" l="l"/>
              <a:pathLst>
                <a:path h="183769" w="3221990">
                  <a:moveTo>
                    <a:pt x="0" y="0"/>
                  </a:moveTo>
                  <a:lnTo>
                    <a:pt x="3221990" y="0"/>
                  </a:lnTo>
                  <a:lnTo>
                    <a:pt x="3221990" y="183769"/>
                  </a:lnTo>
                  <a:lnTo>
                    <a:pt x="0" y="183769"/>
                  </a:lnTo>
                  <a:close/>
                </a:path>
              </a:pathLst>
            </a:custGeom>
            <a:solidFill>
              <a:srgbClr val="AA91FF"/>
            </a:solidFill>
            <a:ln w="14299" cap="sq">
              <a:solidFill>
                <a:srgbClr val="AA91FF"/>
              </a:solidFill>
              <a:prstDash val="solid"/>
              <a:miter/>
            </a:ln>
          </p:spPr>
        </p:sp>
      </p:grpSp>
      <p:sp>
        <p:nvSpPr>
          <p:cNvPr name="TextBox 17" id="17"/>
          <p:cNvSpPr txBox="true"/>
          <p:nvPr/>
        </p:nvSpPr>
        <p:spPr>
          <a:xfrm rot="0">
            <a:off x="3806866" y="4520651"/>
            <a:ext cx="2145973" cy="4438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41"/>
              </a:lnSpc>
            </a:pPr>
            <a:r>
              <a:rPr lang="en-US" sz="1951" b="true">
                <a:solidFill>
                  <a:srgbClr val="F5F8FC"/>
                </a:solidFill>
                <a:latin typeface="Aptos Bold"/>
                <a:ea typeface="Aptos Bold"/>
                <a:cs typeface="Aptos Bold"/>
                <a:sym typeface="Aptos Bold"/>
              </a:rPr>
              <a:t>FastAPI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3806866" y="5234445"/>
            <a:ext cx="2145973" cy="7183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01"/>
              </a:lnSpc>
            </a:pPr>
            <a:r>
              <a:rPr lang="en-US" sz="1501">
                <a:solidFill>
                  <a:srgbClr val="A6BCCD"/>
                </a:solidFill>
                <a:latin typeface="Aptos"/>
                <a:ea typeface="Aptos"/>
                <a:cs typeface="Aptos"/>
                <a:sym typeface="Aptos"/>
              </a:rPr>
              <a:t>Receive request</a:t>
            </a:r>
          </a:p>
          <a:p>
            <a:pPr algn="ctr">
              <a:lnSpc>
                <a:spcPts val="1801"/>
              </a:lnSpc>
            </a:pPr>
            <a:r>
              <a:rPr lang="en-US" sz="1501">
                <a:solidFill>
                  <a:srgbClr val="A6BCCD"/>
                </a:solidFill>
                <a:latin typeface="Aptos"/>
                <a:ea typeface="Aptos"/>
                <a:cs typeface="Aptos"/>
                <a:sym typeface="Aptos"/>
              </a:rPr>
              <a:t>and orchestrate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6595405" y="4110866"/>
            <a:ext cx="2416473" cy="2141944"/>
            <a:chOff x="0" y="0"/>
            <a:chExt cx="3221965" cy="2855925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3221990" cy="2855976"/>
            </a:xfrm>
            <a:custGeom>
              <a:avLst/>
              <a:gdLst/>
              <a:ahLst/>
              <a:cxnLst/>
              <a:rect r="r" b="b" t="t" l="l"/>
              <a:pathLst>
                <a:path h="2855976" w="3221990">
                  <a:moveTo>
                    <a:pt x="0" y="342773"/>
                  </a:moveTo>
                  <a:cubicBezTo>
                    <a:pt x="0" y="153416"/>
                    <a:pt x="153416" y="0"/>
                    <a:pt x="342773" y="0"/>
                  </a:cubicBezTo>
                  <a:lnTo>
                    <a:pt x="2879217" y="0"/>
                  </a:lnTo>
                  <a:cubicBezTo>
                    <a:pt x="3068447" y="0"/>
                    <a:pt x="3221990" y="153416"/>
                    <a:pt x="3221990" y="342773"/>
                  </a:cubicBezTo>
                  <a:lnTo>
                    <a:pt x="3221990" y="2513203"/>
                  </a:lnTo>
                  <a:cubicBezTo>
                    <a:pt x="3221990" y="2702433"/>
                    <a:pt x="3068574" y="2855976"/>
                    <a:pt x="2879217" y="2855976"/>
                  </a:cubicBezTo>
                  <a:lnTo>
                    <a:pt x="342773" y="2855976"/>
                  </a:lnTo>
                  <a:cubicBezTo>
                    <a:pt x="153416" y="2855976"/>
                    <a:pt x="0" y="2702433"/>
                    <a:pt x="0" y="2513203"/>
                  </a:cubicBezTo>
                  <a:close/>
                </a:path>
              </a:pathLst>
            </a:custGeom>
            <a:solidFill>
              <a:srgbClr val="14273A"/>
            </a:solidFill>
            <a:ln w="14299" cap="sq">
              <a:solidFill>
                <a:srgbClr val="284258"/>
              </a:solidFill>
              <a:prstDash val="solid"/>
              <a:miter/>
            </a:ln>
          </p:spPr>
        </p:sp>
      </p:grpSp>
      <p:grpSp>
        <p:nvGrpSpPr>
          <p:cNvPr name="Group 21" id="21"/>
          <p:cNvGrpSpPr/>
          <p:nvPr/>
        </p:nvGrpSpPr>
        <p:grpSpPr>
          <a:xfrm rot="0">
            <a:off x="6595405" y="4110866"/>
            <a:ext cx="2416473" cy="137836"/>
            <a:chOff x="0" y="0"/>
            <a:chExt cx="3221965" cy="183782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3221990" cy="183769"/>
            </a:xfrm>
            <a:custGeom>
              <a:avLst/>
              <a:gdLst/>
              <a:ahLst/>
              <a:cxnLst/>
              <a:rect r="r" b="b" t="t" l="l"/>
              <a:pathLst>
                <a:path h="183769" w="3221990">
                  <a:moveTo>
                    <a:pt x="0" y="0"/>
                  </a:moveTo>
                  <a:lnTo>
                    <a:pt x="3221990" y="0"/>
                  </a:lnTo>
                  <a:lnTo>
                    <a:pt x="3221990" y="183769"/>
                  </a:lnTo>
                  <a:lnTo>
                    <a:pt x="0" y="183769"/>
                  </a:lnTo>
                  <a:close/>
                </a:path>
              </a:pathLst>
            </a:custGeom>
            <a:solidFill>
              <a:srgbClr val="FFC55C"/>
            </a:solidFill>
            <a:ln w="14299" cap="sq">
              <a:solidFill>
                <a:srgbClr val="FFC55C"/>
              </a:solidFill>
              <a:prstDash val="solid"/>
              <a:miter/>
            </a:ln>
          </p:spPr>
        </p:sp>
      </p:grpSp>
      <p:sp>
        <p:nvSpPr>
          <p:cNvPr name="TextBox 23" id="23"/>
          <p:cNvSpPr txBox="true"/>
          <p:nvPr/>
        </p:nvSpPr>
        <p:spPr>
          <a:xfrm rot="0">
            <a:off x="6730660" y="4520651"/>
            <a:ext cx="2145973" cy="4438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41"/>
              </a:lnSpc>
            </a:pPr>
            <a:r>
              <a:rPr lang="en-US" sz="1951" b="true">
                <a:solidFill>
                  <a:srgbClr val="F5F8FC"/>
                </a:solidFill>
                <a:latin typeface="Aptos Bold"/>
                <a:ea typeface="Aptos Bold"/>
                <a:cs typeface="Aptos Bold"/>
                <a:sym typeface="Aptos Bold"/>
              </a:rPr>
              <a:t>Agents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6730660" y="5234445"/>
            <a:ext cx="2145973" cy="7183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01"/>
              </a:lnSpc>
            </a:pPr>
            <a:r>
              <a:rPr lang="en-US" sz="1501">
                <a:solidFill>
                  <a:srgbClr val="A6BCCD"/>
                </a:solidFill>
                <a:latin typeface="Aptos"/>
                <a:ea typeface="Aptos"/>
                <a:cs typeface="Aptos"/>
                <a:sym typeface="Aptos"/>
              </a:rPr>
              <a:t>Plan • Research</a:t>
            </a:r>
          </a:p>
          <a:p>
            <a:pPr algn="ctr">
              <a:lnSpc>
                <a:spcPts val="1801"/>
              </a:lnSpc>
            </a:pPr>
            <a:r>
              <a:rPr lang="en-US" sz="1501">
                <a:solidFill>
                  <a:srgbClr val="A6BCCD"/>
                </a:solidFill>
                <a:latin typeface="Aptos"/>
                <a:ea typeface="Aptos"/>
                <a:cs typeface="Aptos"/>
                <a:sym typeface="Aptos"/>
              </a:rPr>
              <a:t>Critique • Prepare</a:t>
            </a:r>
          </a:p>
        </p:txBody>
      </p:sp>
      <p:grpSp>
        <p:nvGrpSpPr>
          <p:cNvPr name="Group 25" id="25"/>
          <p:cNvGrpSpPr/>
          <p:nvPr/>
        </p:nvGrpSpPr>
        <p:grpSpPr>
          <a:xfrm rot="0">
            <a:off x="9519199" y="4110866"/>
            <a:ext cx="2416473" cy="2141944"/>
            <a:chOff x="0" y="0"/>
            <a:chExt cx="3221965" cy="2855925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3221990" cy="2855976"/>
            </a:xfrm>
            <a:custGeom>
              <a:avLst/>
              <a:gdLst/>
              <a:ahLst/>
              <a:cxnLst/>
              <a:rect r="r" b="b" t="t" l="l"/>
              <a:pathLst>
                <a:path h="2855976" w="3221990">
                  <a:moveTo>
                    <a:pt x="0" y="342773"/>
                  </a:moveTo>
                  <a:cubicBezTo>
                    <a:pt x="0" y="153416"/>
                    <a:pt x="153416" y="0"/>
                    <a:pt x="342773" y="0"/>
                  </a:cubicBezTo>
                  <a:lnTo>
                    <a:pt x="2879217" y="0"/>
                  </a:lnTo>
                  <a:cubicBezTo>
                    <a:pt x="3068447" y="0"/>
                    <a:pt x="3221990" y="153416"/>
                    <a:pt x="3221990" y="342773"/>
                  </a:cubicBezTo>
                  <a:lnTo>
                    <a:pt x="3221990" y="2513203"/>
                  </a:lnTo>
                  <a:cubicBezTo>
                    <a:pt x="3221990" y="2702433"/>
                    <a:pt x="3068574" y="2855976"/>
                    <a:pt x="2879217" y="2855976"/>
                  </a:cubicBezTo>
                  <a:lnTo>
                    <a:pt x="342773" y="2855976"/>
                  </a:lnTo>
                  <a:cubicBezTo>
                    <a:pt x="153416" y="2855976"/>
                    <a:pt x="0" y="2702433"/>
                    <a:pt x="0" y="2513203"/>
                  </a:cubicBezTo>
                  <a:close/>
                </a:path>
              </a:pathLst>
            </a:custGeom>
            <a:solidFill>
              <a:srgbClr val="14273A"/>
            </a:solidFill>
            <a:ln w="14299" cap="sq">
              <a:solidFill>
                <a:srgbClr val="284258"/>
              </a:solidFill>
              <a:prstDash val="solid"/>
              <a:miter/>
            </a:ln>
          </p:spPr>
        </p:sp>
      </p:grpSp>
      <p:grpSp>
        <p:nvGrpSpPr>
          <p:cNvPr name="Group 27" id="27"/>
          <p:cNvGrpSpPr/>
          <p:nvPr/>
        </p:nvGrpSpPr>
        <p:grpSpPr>
          <a:xfrm rot="0">
            <a:off x="9519199" y="4110866"/>
            <a:ext cx="2416473" cy="137836"/>
            <a:chOff x="0" y="0"/>
            <a:chExt cx="3221965" cy="183782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3221990" cy="183769"/>
            </a:xfrm>
            <a:custGeom>
              <a:avLst/>
              <a:gdLst/>
              <a:ahLst/>
              <a:cxnLst/>
              <a:rect r="r" b="b" t="t" l="l"/>
              <a:pathLst>
                <a:path h="183769" w="3221990">
                  <a:moveTo>
                    <a:pt x="0" y="0"/>
                  </a:moveTo>
                  <a:lnTo>
                    <a:pt x="3221990" y="0"/>
                  </a:lnTo>
                  <a:lnTo>
                    <a:pt x="3221990" y="183769"/>
                  </a:lnTo>
                  <a:lnTo>
                    <a:pt x="0" y="183769"/>
                  </a:lnTo>
                  <a:close/>
                </a:path>
              </a:pathLst>
            </a:custGeom>
            <a:solidFill>
              <a:srgbClr val="FF756D"/>
            </a:solidFill>
            <a:ln w="14299" cap="sq">
              <a:solidFill>
                <a:srgbClr val="FF756D"/>
              </a:solidFill>
              <a:prstDash val="solid"/>
              <a:miter/>
            </a:ln>
          </p:spPr>
        </p:sp>
      </p:grpSp>
      <p:sp>
        <p:nvSpPr>
          <p:cNvPr name="TextBox 29" id="29"/>
          <p:cNvSpPr txBox="true"/>
          <p:nvPr/>
        </p:nvSpPr>
        <p:spPr>
          <a:xfrm rot="0">
            <a:off x="9654445" y="4520651"/>
            <a:ext cx="2145973" cy="4438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41"/>
              </a:lnSpc>
            </a:pPr>
            <a:r>
              <a:rPr lang="en-US" sz="1951" b="true">
                <a:solidFill>
                  <a:srgbClr val="F5F8FC"/>
                </a:solidFill>
                <a:latin typeface="Aptos Bold"/>
                <a:ea typeface="Aptos Bold"/>
                <a:cs typeface="Aptos Bold"/>
                <a:sym typeface="Aptos Bold"/>
              </a:rPr>
              <a:t>Python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9654445" y="5234445"/>
            <a:ext cx="2145973" cy="7183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01"/>
              </a:lnSpc>
            </a:pPr>
            <a:r>
              <a:rPr lang="en-US" sz="1501">
                <a:solidFill>
                  <a:srgbClr val="A6BCCD"/>
                </a:solidFill>
                <a:latin typeface="Aptos"/>
                <a:ea typeface="Aptos"/>
                <a:cs typeface="Aptos"/>
                <a:sym typeface="Aptos"/>
              </a:rPr>
              <a:t>Calculate risk</a:t>
            </a:r>
          </a:p>
          <a:p>
            <a:pPr algn="ctr">
              <a:lnSpc>
                <a:spcPts val="1801"/>
              </a:lnSpc>
            </a:pPr>
            <a:r>
              <a:rPr lang="en-US" sz="1501">
                <a:solidFill>
                  <a:srgbClr val="A6BCCD"/>
                </a:solidFill>
                <a:latin typeface="Aptos"/>
                <a:ea typeface="Aptos"/>
                <a:cs typeface="Aptos"/>
                <a:sym typeface="Aptos"/>
              </a:rPr>
              <a:t>and structure output</a:t>
            </a:r>
          </a:p>
        </p:txBody>
      </p:sp>
      <p:grpSp>
        <p:nvGrpSpPr>
          <p:cNvPr name="Group 31" id="31"/>
          <p:cNvGrpSpPr/>
          <p:nvPr/>
        </p:nvGrpSpPr>
        <p:grpSpPr>
          <a:xfrm rot="0">
            <a:off x="12442993" y="4110866"/>
            <a:ext cx="2416473" cy="2141944"/>
            <a:chOff x="0" y="0"/>
            <a:chExt cx="3221965" cy="2855925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3221990" cy="2855976"/>
            </a:xfrm>
            <a:custGeom>
              <a:avLst/>
              <a:gdLst/>
              <a:ahLst/>
              <a:cxnLst/>
              <a:rect r="r" b="b" t="t" l="l"/>
              <a:pathLst>
                <a:path h="2855976" w="3221990">
                  <a:moveTo>
                    <a:pt x="0" y="342773"/>
                  </a:moveTo>
                  <a:cubicBezTo>
                    <a:pt x="0" y="153416"/>
                    <a:pt x="153416" y="0"/>
                    <a:pt x="342773" y="0"/>
                  </a:cubicBezTo>
                  <a:lnTo>
                    <a:pt x="2879217" y="0"/>
                  </a:lnTo>
                  <a:cubicBezTo>
                    <a:pt x="3068447" y="0"/>
                    <a:pt x="3221990" y="153416"/>
                    <a:pt x="3221990" y="342773"/>
                  </a:cubicBezTo>
                  <a:lnTo>
                    <a:pt x="3221990" y="2513203"/>
                  </a:lnTo>
                  <a:cubicBezTo>
                    <a:pt x="3221990" y="2702433"/>
                    <a:pt x="3068574" y="2855976"/>
                    <a:pt x="2879217" y="2855976"/>
                  </a:cubicBezTo>
                  <a:lnTo>
                    <a:pt x="342773" y="2855976"/>
                  </a:lnTo>
                  <a:cubicBezTo>
                    <a:pt x="153416" y="2855976"/>
                    <a:pt x="0" y="2702433"/>
                    <a:pt x="0" y="2513203"/>
                  </a:cubicBezTo>
                  <a:close/>
                </a:path>
              </a:pathLst>
            </a:custGeom>
            <a:solidFill>
              <a:srgbClr val="14273A"/>
            </a:solidFill>
            <a:ln w="14299" cap="sq">
              <a:solidFill>
                <a:srgbClr val="284258"/>
              </a:solidFill>
              <a:prstDash val="solid"/>
              <a:miter/>
            </a:ln>
          </p:spPr>
        </p:sp>
      </p:grpSp>
      <p:grpSp>
        <p:nvGrpSpPr>
          <p:cNvPr name="Group 33" id="33"/>
          <p:cNvGrpSpPr/>
          <p:nvPr/>
        </p:nvGrpSpPr>
        <p:grpSpPr>
          <a:xfrm rot="0">
            <a:off x="12442993" y="4110866"/>
            <a:ext cx="2416473" cy="137836"/>
            <a:chOff x="0" y="0"/>
            <a:chExt cx="3221965" cy="183782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3221990" cy="183769"/>
            </a:xfrm>
            <a:custGeom>
              <a:avLst/>
              <a:gdLst/>
              <a:ahLst/>
              <a:cxnLst/>
              <a:rect r="r" b="b" t="t" l="l"/>
              <a:pathLst>
                <a:path h="183769" w="3221990">
                  <a:moveTo>
                    <a:pt x="0" y="0"/>
                  </a:moveTo>
                  <a:lnTo>
                    <a:pt x="3221990" y="0"/>
                  </a:lnTo>
                  <a:lnTo>
                    <a:pt x="3221990" y="183769"/>
                  </a:lnTo>
                  <a:lnTo>
                    <a:pt x="0" y="183769"/>
                  </a:lnTo>
                  <a:close/>
                </a:path>
              </a:pathLst>
            </a:custGeom>
            <a:solidFill>
              <a:srgbClr val="32C5E8"/>
            </a:solidFill>
            <a:ln w="14299" cap="sq">
              <a:solidFill>
                <a:srgbClr val="32C5E8"/>
              </a:solidFill>
              <a:prstDash val="solid"/>
              <a:miter/>
            </a:ln>
          </p:spPr>
        </p:sp>
      </p:grpSp>
      <p:sp>
        <p:nvSpPr>
          <p:cNvPr name="TextBox 35" id="35"/>
          <p:cNvSpPr txBox="true"/>
          <p:nvPr/>
        </p:nvSpPr>
        <p:spPr>
          <a:xfrm rot="0">
            <a:off x="12578239" y="4520651"/>
            <a:ext cx="2145973" cy="4438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41"/>
              </a:lnSpc>
            </a:pPr>
            <a:r>
              <a:rPr lang="en-US" sz="1951" b="true">
                <a:solidFill>
                  <a:srgbClr val="F5F8FC"/>
                </a:solidFill>
                <a:latin typeface="Aptos Bold"/>
                <a:ea typeface="Aptos Bold"/>
                <a:cs typeface="Aptos Bold"/>
                <a:sym typeface="Aptos Bold"/>
              </a:rPr>
              <a:t>Validation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2578239" y="5234445"/>
            <a:ext cx="2145973" cy="7183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01"/>
              </a:lnSpc>
            </a:pPr>
            <a:r>
              <a:rPr lang="en-US" sz="1501">
                <a:solidFill>
                  <a:srgbClr val="A6BCCD"/>
                </a:solidFill>
                <a:latin typeface="Aptos"/>
                <a:ea typeface="Aptos"/>
                <a:cs typeface="Aptos"/>
                <a:sym typeface="Aptos"/>
              </a:rPr>
              <a:t>Check output</a:t>
            </a:r>
          </a:p>
          <a:p>
            <a:pPr algn="ctr">
              <a:lnSpc>
                <a:spcPts val="1801"/>
              </a:lnSpc>
            </a:pPr>
            <a:r>
              <a:rPr lang="en-US" sz="1501">
                <a:solidFill>
                  <a:srgbClr val="A6BCCD"/>
                </a:solidFill>
                <a:latin typeface="Aptos"/>
                <a:ea typeface="Aptos"/>
                <a:cs typeface="Aptos"/>
                <a:sym typeface="Aptos"/>
              </a:rPr>
              <a:t>before returning</a:t>
            </a:r>
          </a:p>
        </p:txBody>
      </p:sp>
      <p:grpSp>
        <p:nvGrpSpPr>
          <p:cNvPr name="Group 37" id="37"/>
          <p:cNvGrpSpPr/>
          <p:nvPr/>
        </p:nvGrpSpPr>
        <p:grpSpPr>
          <a:xfrm rot="0">
            <a:off x="15366778" y="4110866"/>
            <a:ext cx="2416473" cy="2141944"/>
            <a:chOff x="0" y="0"/>
            <a:chExt cx="3221965" cy="2855925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3221990" cy="2855976"/>
            </a:xfrm>
            <a:custGeom>
              <a:avLst/>
              <a:gdLst/>
              <a:ahLst/>
              <a:cxnLst/>
              <a:rect r="r" b="b" t="t" l="l"/>
              <a:pathLst>
                <a:path h="2855976" w="3221990">
                  <a:moveTo>
                    <a:pt x="0" y="342773"/>
                  </a:moveTo>
                  <a:cubicBezTo>
                    <a:pt x="0" y="153416"/>
                    <a:pt x="153416" y="0"/>
                    <a:pt x="342773" y="0"/>
                  </a:cubicBezTo>
                  <a:lnTo>
                    <a:pt x="2879217" y="0"/>
                  </a:lnTo>
                  <a:cubicBezTo>
                    <a:pt x="3068447" y="0"/>
                    <a:pt x="3221990" y="153416"/>
                    <a:pt x="3221990" y="342773"/>
                  </a:cubicBezTo>
                  <a:lnTo>
                    <a:pt x="3221990" y="2513203"/>
                  </a:lnTo>
                  <a:cubicBezTo>
                    <a:pt x="3221990" y="2702433"/>
                    <a:pt x="3068574" y="2855976"/>
                    <a:pt x="2879217" y="2855976"/>
                  </a:cubicBezTo>
                  <a:lnTo>
                    <a:pt x="342773" y="2855976"/>
                  </a:lnTo>
                  <a:cubicBezTo>
                    <a:pt x="153416" y="2855976"/>
                    <a:pt x="0" y="2702433"/>
                    <a:pt x="0" y="2513203"/>
                  </a:cubicBezTo>
                  <a:close/>
                </a:path>
              </a:pathLst>
            </a:custGeom>
            <a:solidFill>
              <a:srgbClr val="14273A"/>
            </a:solidFill>
            <a:ln w="14299" cap="sq">
              <a:solidFill>
                <a:srgbClr val="284258"/>
              </a:solidFill>
              <a:prstDash val="solid"/>
              <a:miter/>
            </a:ln>
          </p:spPr>
        </p:sp>
      </p:grpSp>
      <p:grpSp>
        <p:nvGrpSpPr>
          <p:cNvPr name="Group 39" id="39"/>
          <p:cNvGrpSpPr/>
          <p:nvPr/>
        </p:nvGrpSpPr>
        <p:grpSpPr>
          <a:xfrm rot="0">
            <a:off x="15366778" y="4110866"/>
            <a:ext cx="2416473" cy="137836"/>
            <a:chOff x="0" y="0"/>
            <a:chExt cx="3221965" cy="183782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3221990" cy="183769"/>
            </a:xfrm>
            <a:custGeom>
              <a:avLst/>
              <a:gdLst/>
              <a:ahLst/>
              <a:cxnLst/>
              <a:rect r="r" b="b" t="t" l="l"/>
              <a:pathLst>
                <a:path h="183769" w="3221990">
                  <a:moveTo>
                    <a:pt x="0" y="0"/>
                  </a:moveTo>
                  <a:lnTo>
                    <a:pt x="3221990" y="0"/>
                  </a:lnTo>
                  <a:lnTo>
                    <a:pt x="3221990" y="183769"/>
                  </a:lnTo>
                  <a:lnTo>
                    <a:pt x="0" y="183769"/>
                  </a:lnTo>
                  <a:close/>
                </a:path>
              </a:pathLst>
            </a:custGeom>
            <a:solidFill>
              <a:srgbClr val="4FDC97"/>
            </a:solidFill>
            <a:ln w="14299" cap="sq">
              <a:solidFill>
                <a:srgbClr val="4FDC97"/>
              </a:solidFill>
              <a:prstDash val="solid"/>
              <a:miter/>
            </a:ln>
          </p:spPr>
        </p:sp>
      </p:grpSp>
      <p:sp>
        <p:nvSpPr>
          <p:cNvPr name="TextBox 41" id="41"/>
          <p:cNvSpPr txBox="true"/>
          <p:nvPr/>
        </p:nvSpPr>
        <p:spPr>
          <a:xfrm rot="0">
            <a:off x="15502033" y="4520651"/>
            <a:ext cx="2145973" cy="4438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41"/>
              </a:lnSpc>
            </a:pPr>
            <a:r>
              <a:rPr lang="en-US" sz="1951" b="true">
                <a:solidFill>
                  <a:srgbClr val="F5F8FC"/>
                </a:solidFill>
                <a:latin typeface="Aptos Bold"/>
                <a:ea typeface="Aptos Bold"/>
                <a:cs typeface="Aptos Bold"/>
                <a:sym typeface="Aptos Bold"/>
              </a:rPr>
              <a:t>Faculty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15502033" y="5234445"/>
            <a:ext cx="2145973" cy="7183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01"/>
              </a:lnSpc>
            </a:pPr>
            <a:r>
              <a:rPr lang="en-US" sz="1501">
                <a:solidFill>
                  <a:srgbClr val="A6BCCD"/>
                </a:solidFill>
                <a:latin typeface="Aptos"/>
                <a:ea typeface="Aptos"/>
                <a:cs typeface="Aptos"/>
                <a:sym typeface="Aptos"/>
              </a:rPr>
              <a:t>Review suggested</a:t>
            </a:r>
          </a:p>
          <a:p>
            <a:pPr algn="ctr">
              <a:lnSpc>
                <a:spcPts val="1801"/>
              </a:lnSpc>
            </a:pPr>
            <a:r>
              <a:rPr lang="en-US" sz="1501">
                <a:solidFill>
                  <a:srgbClr val="A6BCCD"/>
                </a:solidFill>
                <a:latin typeface="Aptos"/>
                <a:ea typeface="Aptos"/>
                <a:cs typeface="Aptos"/>
                <a:sym typeface="Aptos"/>
              </a:rPr>
              <a:t>next action</a:t>
            </a:r>
          </a:p>
        </p:txBody>
      </p:sp>
      <p:grpSp>
        <p:nvGrpSpPr>
          <p:cNvPr name="Group 43" id="43"/>
          <p:cNvGrpSpPr/>
          <p:nvPr/>
        </p:nvGrpSpPr>
        <p:grpSpPr>
          <a:xfrm rot="0">
            <a:off x="1090984" y="7336650"/>
            <a:ext cx="16074561" cy="1002621"/>
            <a:chOff x="0" y="0"/>
            <a:chExt cx="21432749" cy="1336827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21432774" cy="1336802"/>
            </a:xfrm>
            <a:custGeom>
              <a:avLst/>
              <a:gdLst/>
              <a:ahLst/>
              <a:cxnLst/>
              <a:rect r="r" b="b" t="t" l="l"/>
              <a:pathLst>
                <a:path h="1336802" w="21432774">
                  <a:moveTo>
                    <a:pt x="0" y="160401"/>
                  </a:moveTo>
                  <a:cubicBezTo>
                    <a:pt x="0" y="71882"/>
                    <a:pt x="71882" y="0"/>
                    <a:pt x="160401" y="0"/>
                  </a:cubicBezTo>
                  <a:lnTo>
                    <a:pt x="21272373" y="0"/>
                  </a:lnTo>
                  <a:cubicBezTo>
                    <a:pt x="21361019" y="0"/>
                    <a:pt x="21432774" y="71882"/>
                    <a:pt x="21432774" y="160401"/>
                  </a:cubicBezTo>
                  <a:lnTo>
                    <a:pt x="21432774" y="1176401"/>
                  </a:lnTo>
                  <a:cubicBezTo>
                    <a:pt x="21432774" y="1265047"/>
                    <a:pt x="21360892" y="1336802"/>
                    <a:pt x="21272373" y="1336802"/>
                  </a:cubicBezTo>
                  <a:lnTo>
                    <a:pt x="160401" y="1336802"/>
                  </a:lnTo>
                  <a:cubicBezTo>
                    <a:pt x="71882" y="1336802"/>
                    <a:pt x="0" y="1265047"/>
                    <a:pt x="0" y="1176401"/>
                  </a:cubicBezTo>
                  <a:close/>
                </a:path>
              </a:pathLst>
            </a:custGeom>
            <a:solidFill>
              <a:srgbClr val="113042"/>
            </a:solidFill>
            <a:ln w="14299" cap="sq">
              <a:solidFill>
                <a:srgbClr val="235A71"/>
              </a:solidFill>
              <a:prstDash val="solid"/>
              <a:miter/>
            </a:ln>
          </p:spPr>
        </p:sp>
      </p:grpSp>
      <p:sp>
        <p:nvSpPr>
          <p:cNvPr name="TextBox 45" id="45"/>
          <p:cNvSpPr txBox="true"/>
          <p:nvPr/>
        </p:nvSpPr>
        <p:spPr>
          <a:xfrm rot="0">
            <a:off x="1390964" y="7636621"/>
            <a:ext cx="15474620" cy="3752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41"/>
              </a:lnSpc>
            </a:pPr>
            <a:r>
              <a:rPr lang="en-US" sz="1951">
                <a:solidFill>
                  <a:srgbClr val="F5F8FC"/>
                </a:solidFill>
                <a:latin typeface="Aptos"/>
                <a:ea typeface="Aptos"/>
                <a:cs typeface="Aptos"/>
                <a:sym typeface="Aptos"/>
              </a:rPr>
              <a:t>Fallback behavior is available if the language model is unavailable; intervention remains a draft.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951709" y="9832896"/>
            <a:ext cx="10944806" cy="2105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41"/>
              </a:lnSpc>
            </a:pPr>
            <a:r>
              <a:rPr lang="en-US" sz="1200">
                <a:solidFill>
                  <a:srgbClr val="A6BCCD"/>
                </a:solidFill>
                <a:latin typeface="Aptos"/>
                <a:ea typeface="Aptos"/>
                <a:cs typeface="Aptos"/>
                <a:sym typeface="Aptos"/>
              </a:rPr>
              <a:t>ACADEX AI  •  FOUNDATIONS OF AGENTIC AI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16833523" y="9805445"/>
            <a:ext cx="512493" cy="2379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441"/>
              </a:lnSpc>
            </a:pPr>
            <a:r>
              <a:rPr lang="en-US" sz="1200">
                <a:solidFill>
                  <a:srgbClr val="A6BCCD"/>
                </a:solidFill>
                <a:latin typeface="Aptos"/>
                <a:ea typeface="Aptos"/>
                <a:cs typeface="Aptos"/>
                <a:sym typeface="Aptos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815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281476" y="2303239"/>
            <a:ext cx="11725048" cy="7816698"/>
          </a:xfrm>
          <a:custGeom>
            <a:avLst/>
            <a:gdLst/>
            <a:ahLst/>
            <a:cxnLst/>
            <a:rect r="r" b="b" t="t" l="l"/>
            <a:pathLst>
              <a:path h="7816698" w="11725048">
                <a:moveTo>
                  <a:pt x="0" y="0"/>
                </a:moveTo>
                <a:lnTo>
                  <a:pt x="11725048" y="0"/>
                </a:lnTo>
                <a:lnTo>
                  <a:pt x="11725048" y="7816699"/>
                </a:lnTo>
                <a:lnTo>
                  <a:pt x="0" y="781669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654282" y="2213447"/>
            <a:ext cx="1181071" cy="89792"/>
            <a:chOff x="0" y="0"/>
            <a:chExt cx="1574762" cy="11972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574800" cy="119761"/>
            </a:xfrm>
            <a:custGeom>
              <a:avLst/>
              <a:gdLst/>
              <a:ahLst/>
              <a:cxnLst/>
              <a:rect r="r" b="b" t="t" l="l"/>
              <a:pathLst>
                <a:path h="119761" w="1574800">
                  <a:moveTo>
                    <a:pt x="0" y="0"/>
                  </a:moveTo>
                  <a:lnTo>
                    <a:pt x="1574800" y="0"/>
                  </a:lnTo>
                  <a:lnTo>
                    <a:pt x="1574800" y="119761"/>
                  </a:lnTo>
                  <a:lnTo>
                    <a:pt x="0" y="119761"/>
                  </a:lnTo>
                  <a:close/>
                </a:path>
              </a:pathLst>
            </a:custGeom>
            <a:solidFill>
              <a:srgbClr val="FF756D"/>
            </a:solidFill>
            <a:ln w="14299" cap="sq">
              <a:solidFill>
                <a:srgbClr val="FF756D"/>
              </a:solidFill>
              <a:prstDash val="solid"/>
              <a:miter/>
            </a:ln>
          </p:spPr>
        </p:sp>
      </p:grpSp>
      <p:sp>
        <p:nvSpPr>
          <p:cNvPr name="TextBox 5" id="5"/>
          <p:cNvSpPr txBox="true"/>
          <p:nvPr/>
        </p:nvSpPr>
        <p:spPr>
          <a:xfrm rot="0">
            <a:off x="695468" y="1763296"/>
            <a:ext cx="16160963" cy="5399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>
                <a:solidFill>
                  <a:srgbClr val="A6BCCD"/>
                </a:solidFill>
                <a:latin typeface="Aptos"/>
                <a:ea typeface="Aptos"/>
                <a:cs typeface="Aptos"/>
                <a:sym typeface="Aptos"/>
              </a:rPr>
              <a:t>Implementation-aligned view of the interface, backend, agent workflow, tools and human oversight.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6764895" y="498719"/>
            <a:ext cx="649757" cy="3752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981"/>
              </a:lnSpc>
            </a:pPr>
            <a:r>
              <a:rPr lang="en-US" sz="1651" b="true">
                <a:solidFill>
                  <a:srgbClr val="A6BCCD"/>
                </a:solidFill>
                <a:latin typeface="Aptos Bold"/>
                <a:ea typeface="Aptos Bold"/>
                <a:cs typeface="Aptos Bold"/>
                <a:sym typeface="Aptos Bold"/>
              </a:rPr>
              <a:t>07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6833523" y="9805445"/>
            <a:ext cx="512493" cy="2379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441"/>
              </a:lnSpc>
            </a:pPr>
            <a:r>
              <a:rPr lang="en-US" sz="1200">
                <a:solidFill>
                  <a:srgbClr val="A6BCCD"/>
                </a:solidFill>
                <a:latin typeface="Aptos"/>
                <a:ea typeface="Aptos"/>
                <a:cs typeface="Aptos"/>
                <a:sym typeface="Aptos"/>
              </a:rPr>
              <a:t>7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695468" y="807272"/>
            <a:ext cx="4068556" cy="5443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81"/>
              </a:lnSpc>
            </a:pPr>
            <a:r>
              <a:rPr lang="en-US" b="true" sz="3200">
                <a:solidFill>
                  <a:srgbClr val="F5F8FC"/>
                </a:solidFill>
                <a:latin typeface="Lato Bold"/>
                <a:ea typeface="Lato Bold"/>
                <a:cs typeface="Lato Bold"/>
                <a:sym typeface="Lato Bold"/>
              </a:rPr>
              <a:t>System Architecture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815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6113925" y="383803"/>
            <a:ext cx="10975849" cy="9519394"/>
          </a:xfrm>
          <a:custGeom>
            <a:avLst/>
            <a:gdLst/>
            <a:ahLst/>
            <a:cxnLst/>
            <a:rect r="r" b="b" t="t" l="l"/>
            <a:pathLst>
              <a:path h="9519394" w="10975849">
                <a:moveTo>
                  <a:pt x="0" y="0"/>
                </a:moveTo>
                <a:lnTo>
                  <a:pt x="10975849" y="0"/>
                </a:lnTo>
                <a:lnTo>
                  <a:pt x="10975849" y="9519394"/>
                </a:lnTo>
                <a:lnTo>
                  <a:pt x="0" y="951939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654282" y="531980"/>
            <a:ext cx="16435492" cy="638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3"/>
              </a:lnSpc>
            </a:pPr>
            <a:r>
              <a:rPr lang="en-US" sz="4203" b="true">
                <a:solidFill>
                  <a:srgbClr val="F5F8FC"/>
                </a:solidFill>
                <a:latin typeface="Aptos Bold"/>
                <a:ea typeface="Aptos Bold"/>
                <a:cs typeface="Aptos Bold"/>
                <a:sym typeface="Aptos Bold"/>
              </a:rPr>
              <a:t>Agent Orchestration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533574" y="1425888"/>
            <a:ext cx="2430363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18160" indent="-259080" lvl="1">
              <a:lnSpc>
                <a:spcPts val="3359"/>
              </a:lnSpc>
              <a:buAutoNum type="arabicPeriod" startAt="1"/>
            </a:pPr>
            <a:r>
              <a:rPr lang="en-US" b="true" sz="2400">
                <a:solidFill>
                  <a:srgbClr val="F5F8FC"/>
                </a:solidFill>
                <a:latin typeface="Lato Bold"/>
                <a:ea typeface="Lato Bold"/>
                <a:cs typeface="Lato Bold"/>
                <a:sym typeface="Lato Bold"/>
              </a:rPr>
              <a:t>Planner Agent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815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6130769" y="317592"/>
            <a:ext cx="11128531" cy="9651815"/>
          </a:xfrm>
          <a:custGeom>
            <a:avLst/>
            <a:gdLst/>
            <a:ahLst/>
            <a:cxnLst/>
            <a:rect r="r" b="b" t="t" l="l"/>
            <a:pathLst>
              <a:path h="9651815" w="11128531">
                <a:moveTo>
                  <a:pt x="0" y="0"/>
                </a:moveTo>
                <a:lnTo>
                  <a:pt x="11128531" y="0"/>
                </a:lnTo>
                <a:lnTo>
                  <a:pt x="11128531" y="9651816"/>
                </a:lnTo>
                <a:lnTo>
                  <a:pt x="0" y="965181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654282" y="531980"/>
            <a:ext cx="16435492" cy="638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3"/>
              </a:lnSpc>
            </a:pPr>
            <a:r>
              <a:rPr lang="en-US" sz="4203" b="true">
                <a:solidFill>
                  <a:srgbClr val="F5F8FC"/>
                </a:solidFill>
                <a:latin typeface="Aptos Bold"/>
                <a:ea typeface="Aptos Bold"/>
                <a:cs typeface="Aptos Bold"/>
                <a:sym typeface="Aptos Bold"/>
              </a:rPr>
              <a:t>Agent Orchestration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533574" y="1425888"/>
            <a:ext cx="2625849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18160" indent="-259080" lvl="1">
              <a:lnSpc>
                <a:spcPts val="3359"/>
              </a:lnSpc>
              <a:buAutoNum type="arabicPeriod" startAt="1"/>
            </a:pPr>
            <a:r>
              <a:rPr lang="en-US" b="true" sz="2400">
                <a:solidFill>
                  <a:srgbClr val="F5F8FC"/>
                </a:solidFill>
                <a:latin typeface="Lato Bold"/>
                <a:ea typeface="Lato Bold"/>
                <a:cs typeface="Lato Bold"/>
                <a:sym typeface="Lato Bold"/>
              </a:rPr>
              <a:t>Research Agent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815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6550092" y="373611"/>
            <a:ext cx="10709208" cy="9288134"/>
          </a:xfrm>
          <a:custGeom>
            <a:avLst/>
            <a:gdLst/>
            <a:ahLst/>
            <a:cxnLst/>
            <a:rect r="r" b="b" t="t" l="l"/>
            <a:pathLst>
              <a:path h="9288134" w="10709208">
                <a:moveTo>
                  <a:pt x="0" y="0"/>
                </a:moveTo>
                <a:lnTo>
                  <a:pt x="10709208" y="0"/>
                </a:lnTo>
                <a:lnTo>
                  <a:pt x="10709208" y="9288135"/>
                </a:lnTo>
                <a:lnTo>
                  <a:pt x="0" y="928813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654282" y="531980"/>
            <a:ext cx="16435492" cy="638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3"/>
              </a:lnSpc>
            </a:pPr>
            <a:r>
              <a:rPr lang="en-US" sz="4203" b="true">
                <a:solidFill>
                  <a:srgbClr val="F5F8FC"/>
                </a:solidFill>
                <a:latin typeface="Aptos Bold"/>
                <a:ea typeface="Aptos Bold"/>
                <a:cs typeface="Aptos Bold"/>
                <a:sym typeface="Aptos Bold"/>
              </a:rPr>
              <a:t>Agent Orchestration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533574" y="1425888"/>
            <a:ext cx="2601367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18160" indent="-259080" lvl="1">
              <a:lnSpc>
                <a:spcPts val="3359"/>
              </a:lnSpc>
              <a:buAutoNum type="arabicPeriod" startAt="1"/>
            </a:pPr>
            <a:r>
              <a:rPr lang="en-US" b="true" sz="2400">
                <a:solidFill>
                  <a:srgbClr val="F5F8FC"/>
                </a:solidFill>
                <a:latin typeface="Lato Bold"/>
                <a:ea typeface="Lato Bold"/>
                <a:cs typeface="Lato Bold"/>
                <a:sym typeface="Lato Bold"/>
              </a:rPr>
              <a:t>Executor Agent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815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6684392" y="531980"/>
            <a:ext cx="10574908" cy="9171656"/>
          </a:xfrm>
          <a:custGeom>
            <a:avLst/>
            <a:gdLst/>
            <a:ahLst/>
            <a:cxnLst/>
            <a:rect r="r" b="b" t="t" l="l"/>
            <a:pathLst>
              <a:path h="9171656" w="10574908">
                <a:moveTo>
                  <a:pt x="0" y="0"/>
                </a:moveTo>
                <a:lnTo>
                  <a:pt x="10574908" y="0"/>
                </a:lnTo>
                <a:lnTo>
                  <a:pt x="10574908" y="9171656"/>
                </a:lnTo>
                <a:lnTo>
                  <a:pt x="0" y="917165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654282" y="531980"/>
            <a:ext cx="16435492" cy="638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3"/>
              </a:lnSpc>
            </a:pPr>
            <a:r>
              <a:rPr lang="en-US" sz="4203" b="true">
                <a:solidFill>
                  <a:srgbClr val="F5F8FC"/>
                </a:solidFill>
                <a:latin typeface="Aptos Bold"/>
                <a:ea typeface="Aptos Bold"/>
                <a:cs typeface="Aptos Bold"/>
                <a:sym typeface="Aptos Bold"/>
              </a:rPr>
              <a:t>Agent Orchestration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533574" y="1425888"/>
            <a:ext cx="2127796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18160" indent="-259080" lvl="1">
              <a:lnSpc>
                <a:spcPts val="3359"/>
              </a:lnSpc>
              <a:buAutoNum type="arabicPeriod" startAt="1"/>
            </a:pPr>
            <a:r>
              <a:rPr lang="en-US" b="true" sz="2400">
                <a:solidFill>
                  <a:srgbClr val="F5F8FC"/>
                </a:solidFill>
                <a:latin typeface="Lato Bold"/>
                <a:ea typeface="Lato Bold"/>
                <a:cs typeface="Lato Bold"/>
                <a:sym typeface="Lato Bold"/>
              </a:rPr>
              <a:t>Critic Agent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815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6316171" y="297556"/>
            <a:ext cx="11174734" cy="9691887"/>
          </a:xfrm>
          <a:custGeom>
            <a:avLst/>
            <a:gdLst/>
            <a:ahLst/>
            <a:cxnLst/>
            <a:rect r="r" b="b" t="t" l="l"/>
            <a:pathLst>
              <a:path h="9691887" w="11174734">
                <a:moveTo>
                  <a:pt x="0" y="0"/>
                </a:moveTo>
                <a:lnTo>
                  <a:pt x="11174734" y="0"/>
                </a:lnTo>
                <a:lnTo>
                  <a:pt x="11174734" y="9691888"/>
                </a:lnTo>
                <a:lnTo>
                  <a:pt x="0" y="969188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654282" y="531980"/>
            <a:ext cx="16435492" cy="638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3"/>
              </a:lnSpc>
            </a:pPr>
            <a:r>
              <a:rPr lang="en-US" sz="4203" b="true">
                <a:solidFill>
                  <a:srgbClr val="F5F8FC"/>
                </a:solidFill>
                <a:latin typeface="Aptos Bold"/>
                <a:ea typeface="Aptos Bold"/>
                <a:cs typeface="Aptos Bold"/>
                <a:sym typeface="Aptos Bold"/>
              </a:rPr>
              <a:t>Agent Orchestration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533574" y="1425888"/>
            <a:ext cx="4534495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18160" indent="-259080" lvl="1">
              <a:lnSpc>
                <a:spcPts val="3359"/>
              </a:lnSpc>
              <a:buAutoNum type="arabicPeriod" startAt="1"/>
            </a:pPr>
            <a:r>
              <a:rPr lang="en-US" b="true" sz="2400">
                <a:solidFill>
                  <a:srgbClr val="F5F8FC"/>
                </a:solidFill>
                <a:latin typeface="Lato Bold"/>
                <a:ea typeface="Lato Bold"/>
                <a:cs typeface="Lato Bold"/>
                <a:sym typeface="Lato Bold"/>
              </a:rPr>
              <a:t>Software Development Agent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815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7160223" y="531980"/>
            <a:ext cx="11127777" cy="9651162"/>
          </a:xfrm>
          <a:custGeom>
            <a:avLst/>
            <a:gdLst/>
            <a:ahLst/>
            <a:cxnLst/>
            <a:rect r="r" b="b" t="t" l="l"/>
            <a:pathLst>
              <a:path h="9651162" w="11127777">
                <a:moveTo>
                  <a:pt x="0" y="0"/>
                </a:moveTo>
                <a:lnTo>
                  <a:pt x="11127777" y="0"/>
                </a:lnTo>
                <a:lnTo>
                  <a:pt x="11127777" y="9651162"/>
                </a:lnTo>
                <a:lnTo>
                  <a:pt x="0" y="965116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654282" y="531980"/>
            <a:ext cx="16435492" cy="638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3"/>
              </a:lnSpc>
            </a:pPr>
            <a:r>
              <a:rPr lang="en-US" sz="4203" b="true">
                <a:solidFill>
                  <a:srgbClr val="F5F8FC"/>
                </a:solidFill>
                <a:latin typeface="Aptos Bold"/>
                <a:ea typeface="Aptos Bold"/>
                <a:cs typeface="Aptos Bold"/>
                <a:sym typeface="Aptos Bold"/>
              </a:rPr>
              <a:t>Agent Orchestration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533574" y="1425888"/>
            <a:ext cx="4332684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18160" indent="-259080" lvl="1">
              <a:lnSpc>
                <a:spcPts val="3359"/>
              </a:lnSpc>
              <a:buAutoNum type="arabicPeriod" startAt="1"/>
            </a:pPr>
            <a:r>
              <a:rPr lang="en-US" b="true" sz="2400">
                <a:solidFill>
                  <a:srgbClr val="F5F8FC"/>
                </a:solidFill>
                <a:latin typeface="Lato Bold"/>
                <a:ea typeface="Lato Bold"/>
                <a:cs typeface="Lato Bold"/>
                <a:sym typeface="Lato Bold"/>
              </a:rPr>
              <a:t> Business Automation Agent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815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10523" y="1006612"/>
            <a:ext cx="16435492" cy="7595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3"/>
              </a:lnSpc>
            </a:pPr>
            <a:r>
              <a:rPr lang="en-US" sz="4203" b="true">
                <a:solidFill>
                  <a:srgbClr val="F5F8FC"/>
                </a:solidFill>
                <a:latin typeface="Aptos Bold"/>
                <a:ea typeface="Aptos Bold"/>
                <a:cs typeface="Aptos Bold"/>
                <a:sym typeface="Aptos Bold"/>
              </a:rPr>
              <a:t>Dashboard: academic overview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951709" y="1885121"/>
            <a:ext cx="16160963" cy="5399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>
                <a:solidFill>
                  <a:srgbClr val="A6BCCD"/>
                </a:solidFill>
                <a:latin typeface="Aptos"/>
                <a:ea typeface="Aptos"/>
                <a:cs typeface="Aptos"/>
                <a:sym typeface="Aptos"/>
              </a:rPr>
              <a:t>The interface summarizes the synthetic dataset and supports filtering and student-level exploration.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912543" y="2573474"/>
            <a:ext cx="1181071" cy="89792"/>
            <a:chOff x="0" y="0"/>
            <a:chExt cx="1574762" cy="119723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574800" cy="119761"/>
            </a:xfrm>
            <a:custGeom>
              <a:avLst/>
              <a:gdLst/>
              <a:ahLst/>
              <a:cxnLst/>
              <a:rect r="r" b="b" t="t" l="l"/>
              <a:pathLst>
                <a:path h="119761" w="1574800">
                  <a:moveTo>
                    <a:pt x="0" y="0"/>
                  </a:moveTo>
                  <a:lnTo>
                    <a:pt x="1574800" y="0"/>
                  </a:lnTo>
                  <a:lnTo>
                    <a:pt x="1574800" y="119761"/>
                  </a:lnTo>
                  <a:lnTo>
                    <a:pt x="0" y="119761"/>
                  </a:lnTo>
                  <a:close/>
                </a:path>
              </a:pathLst>
            </a:custGeom>
            <a:solidFill>
              <a:srgbClr val="FF756D"/>
            </a:solidFill>
            <a:ln w="14299" cap="sq">
              <a:solidFill>
                <a:srgbClr val="FF756D"/>
              </a:solidFill>
              <a:prstDash val="solid"/>
              <a:miter/>
            </a:ln>
          </p:spPr>
        </p:sp>
      </p:grpSp>
      <p:sp>
        <p:nvSpPr>
          <p:cNvPr name="TextBox 6" id="6"/>
          <p:cNvSpPr txBox="true"/>
          <p:nvPr/>
        </p:nvSpPr>
        <p:spPr>
          <a:xfrm rot="0">
            <a:off x="16764895" y="498719"/>
            <a:ext cx="649757" cy="3752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981"/>
              </a:lnSpc>
            </a:pPr>
            <a:r>
              <a:rPr lang="en-US" sz="1651" b="true">
                <a:solidFill>
                  <a:srgbClr val="A6BCCD"/>
                </a:solidFill>
                <a:latin typeface="Aptos Bold"/>
                <a:ea typeface="Aptos Bold"/>
                <a:cs typeface="Aptos Bold"/>
                <a:sym typeface="Aptos Bold"/>
              </a:rPr>
              <a:t>08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885092" y="2875464"/>
            <a:ext cx="16486365" cy="6259954"/>
            <a:chOff x="0" y="0"/>
            <a:chExt cx="21981820" cy="8346605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1981922" cy="8346694"/>
            </a:xfrm>
            <a:custGeom>
              <a:avLst/>
              <a:gdLst/>
              <a:ahLst/>
              <a:cxnLst/>
              <a:rect r="r" b="b" t="t" l="l"/>
              <a:pathLst>
                <a:path h="8346694" w="21981922">
                  <a:moveTo>
                    <a:pt x="0" y="1001649"/>
                  </a:moveTo>
                  <a:cubicBezTo>
                    <a:pt x="0" y="448437"/>
                    <a:pt x="448437" y="0"/>
                    <a:pt x="1001649" y="0"/>
                  </a:cubicBezTo>
                  <a:lnTo>
                    <a:pt x="20980273" y="0"/>
                  </a:lnTo>
                  <a:cubicBezTo>
                    <a:pt x="21533486" y="0"/>
                    <a:pt x="21981922" y="448437"/>
                    <a:pt x="21981922" y="1001649"/>
                  </a:cubicBezTo>
                  <a:lnTo>
                    <a:pt x="21981922" y="7345045"/>
                  </a:lnTo>
                  <a:cubicBezTo>
                    <a:pt x="21981922" y="7898257"/>
                    <a:pt x="21533486" y="8346694"/>
                    <a:pt x="20980273" y="8346694"/>
                  </a:cubicBezTo>
                  <a:lnTo>
                    <a:pt x="1001649" y="8346694"/>
                  </a:lnTo>
                  <a:cubicBezTo>
                    <a:pt x="448437" y="8346567"/>
                    <a:pt x="0" y="7898130"/>
                    <a:pt x="0" y="7345045"/>
                  </a:cubicBezTo>
                  <a:close/>
                </a:path>
              </a:pathLst>
            </a:custGeom>
            <a:solidFill>
              <a:srgbClr val="111C28"/>
            </a:solidFill>
            <a:ln w="14299" cap="sq">
              <a:solidFill>
                <a:srgbClr val="284258"/>
              </a:solidFill>
              <a:prstDash val="solid"/>
              <a:miter/>
            </a:ln>
          </p:spPr>
        </p:sp>
      </p:grpSp>
      <p:grpSp>
        <p:nvGrpSpPr>
          <p:cNvPr name="Group 9" id="9"/>
          <p:cNvGrpSpPr/>
          <p:nvPr/>
        </p:nvGrpSpPr>
        <p:grpSpPr>
          <a:xfrm rot="0">
            <a:off x="3811380" y="3471760"/>
            <a:ext cx="10441622" cy="5314440"/>
            <a:chOff x="0" y="0"/>
            <a:chExt cx="21486901" cy="10936122"/>
          </a:xfrm>
        </p:grpSpPr>
        <p:sp>
          <p:nvSpPr>
            <p:cNvPr name="Freeform 10" id="10" descr="image(20261019-181244).png"/>
            <p:cNvSpPr/>
            <p:nvPr/>
          </p:nvSpPr>
          <p:spPr>
            <a:xfrm flipH="false" flipV="false" rot="0">
              <a:off x="0" y="0"/>
              <a:ext cx="21486876" cy="10936051"/>
            </a:xfrm>
            <a:custGeom>
              <a:avLst/>
              <a:gdLst/>
              <a:ahLst/>
              <a:cxnLst/>
              <a:rect r="r" b="b" t="t" l="l"/>
              <a:pathLst>
                <a:path h="10936051" w="21486876">
                  <a:moveTo>
                    <a:pt x="0" y="0"/>
                  </a:moveTo>
                  <a:lnTo>
                    <a:pt x="21486876" y="0"/>
                  </a:lnTo>
                  <a:lnTo>
                    <a:pt x="21486876" y="10936051"/>
                  </a:lnTo>
                  <a:lnTo>
                    <a:pt x="0" y="1093605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1757" r="0" b="-1757"/>
              </a:stretch>
            </a:blip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951709" y="9832896"/>
            <a:ext cx="10944806" cy="2105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41"/>
              </a:lnSpc>
            </a:pPr>
            <a:r>
              <a:rPr lang="en-US" sz="1200">
                <a:solidFill>
                  <a:srgbClr val="A6BCCD"/>
                </a:solidFill>
                <a:latin typeface="Aptos"/>
                <a:ea typeface="Aptos"/>
                <a:cs typeface="Aptos"/>
                <a:sym typeface="Aptos"/>
              </a:rPr>
              <a:t>ACADEX AI  •  FOUNDATIONS OF AGENTIC AI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6833523" y="9805445"/>
            <a:ext cx="512493" cy="2379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441"/>
              </a:lnSpc>
            </a:pPr>
            <a:r>
              <a:rPr lang="en-US" sz="1200">
                <a:solidFill>
                  <a:srgbClr val="A6BCCD"/>
                </a:solidFill>
                <a:latin typeface="Aptos"/>
                <a:ea typeface="Aptos"/>
                <a:cs typeface="Aptos"/>
                <a:sym typeface="Aptos"/>
              </a:rPr>
              <a:t>8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815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10523" y="1006612"/>
            <a:ext cx="16435492" cy="7595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3"/>
              </a:lnSpc>
            </a:pPr>
            <a:r>
              <a:rPr lang="en-US" sz="4203" b="true">
                <a:solidFill>
                  <a:srgbClr val="F5F8FC"/>
                </a:solidFill>
                <a:latin typeface="Aptos Bold"/>
                <a:ea typeface="Aptos Bold"/>
                <a:cs typeface="Aptos Bold"/>
                <a:sym typeface="Aptos Bold"/>
              </a:rPr>
              <a:t>Agent workflow: completed and validated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951709" y="1885121"/>
            <a:ext cx="16160963" cy="5399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>
                <a:solidFill>
                  <a:srgbClr val="A6BCCD"/>
                </a:solidFill>
                <a:latin typeface="Aptos"/>
                <a:ea typeface="Aptos"/>
                <a:cs typeface="Aptos"/>
                <a:sym typeface="Aptos"/>
              </a:rPr>
              <a:t>Example output for synthetic student ST1001.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912543" y="2573474"/>
            <a:ext cx="1181071" cy="89792"/>
            <a:chOff x="0" y="0"/>
            <a:chExt cx="1574762" cy="119723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574800" cy="119761"/>
            </a:xfrm>
            <a:custGeom>
              <a:avLst/>
              <a:gdLst/>
              <a:ahLst/>
              <a:cxnLst/>
              <a:rect r="r" b="b" t="t" l="l"/>
              <a:pathLst>
                <a:path h="119761" w="1574800">
                  <a:moveTo>
                    <a:pt x="0" y="0"/>
                  </a:moveTo>
                  <a:lnTo>
                    <a:pt x="1574800" y="0"/>
                  </a:lnTo>
                  <a:lnTo>
                    <a:pt x="1574800" y="119761"/>
                  </a:lnTo>
                  <a:lnTo>
                    <a:pt x="0" y="119761"/>
                  </a:lnTo>
                  <a:close/>
                </a:path>
              </a:pathLst>
            </a:custGeom>
            <a:solidFill>
              <a:srgbClr val="FF756D"/>
            </a:solidFill>
            <a:ln w="14299" cap="sq">
              <a:solidFill>
                <a:srgbClr val="FF756D"/>
              </a:solidFill>
              <a:prstDash val="solid"/>
              <a:miter/>
            </a:ln>
          </p:spPr>
        </p:sp>
      </p:grpSp>
      <p:sp>
        <p:nvSpPr>
          <p:cNvPr name="TextBox 6" id="6"/>
          <p:cNvSpPr txBox="true"/>
          <p:nvPr/>
        </p:nvSpPr>
        <p:spPr>
          <a:xfrm rot="0">
            <a:off x="16764895" y="498719"/>
            <a:ext cx="649757" cy="3752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981"/>
              </a:lnSpc>
            </a:pPr>
            <a:r>
              <a:rPr lang="en-US" sz="1651" b="true">
                <a:solidFill>
                  <a:srgbClr val="A6BCCD"/>
                </a:solidFill>
                <a:latin typeface="Aptos Bold"/>
                <a:ea typeface="Aptos Bold"/>
                <a:cs typeface="Aptos Bold"/>
                <a:sym typeface="Aptos Bold"/>
              </a:rPr>
              <a:t>09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885092" y="2875464"/>
            <a:ext cx="11132944" cy="6259954"/>
            <a:chOff x="0" y="0"/>
            <a:chExt cx="14843925" cy="8346605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4844013" cy="8346694"/>
            </a:xfrm>
            <a:custGeom>
              <a:avLst/>
              <a:gdLst/>
              <a:ahLst/>
              <a:cxnLst/>
              <a:rect r="r" b="b" t="t" l="l"/>
              <a:pathLst>
                <a:path h="8346694" w="14844013">
                  <a:moveTo>
                    <a:pt x="0" y="1001649"/>
                  </a:moveTo>
                  <a:cubicBezTo>
                    <a:pt x="0" y="448437"/>
                    <a:pt x="448437" y="0"/>
                    <a:pt x="1001649" y="0"/>
                  </a:cubicBezTo>
                  <a:lnTo>
                    <a:pt x="13842364" y="0"/>
                  </a:lnTo>
                  <a:cubicBezTo>
                    <a:pt x="14395577" y="0"/>
                    <a:pt x="14844013" y="448437"/>
                    <a:pt x="14844013" y="1001649"/>
                  </a:cubicBezTo>
                  <a:lnTo>
                    <a:pt x="14844013" y="7345045"/>
                  </a:lnTo>
                  <a:cubicBezTo>
                    <a:pt x="14844013" y="7898257"/>
                    <a:pt x="14395577" y="8346694"/>
                    <a:pt x="13842364" y="8346694"/>
                  </a:cubicBezTo>
                  <a:lnTo>
                    <a:pt x="1001649" y="8346694"/>
                  </a:lnTo>
                  <a:cubicBezTo>
                    <a:pt x="448437" y="8346567"/>
                    <a:pt x="0" y="7898130"/>
                    <a:pt x="0" y="7345045"/>
                  </a:cubicBezTo>
                  <a:close/>
                </a:path>
              </a:pathLst>
            </a:custGeom>
            <a:solidFill>
              <a:srgbClr val="111C28"/>
            </a:solidFill>
            <a:ln w="14299" cap="sq">
              <a:solidFill>
                <a:srgbClr val="284258"/>
              </a:solidFill>
              <a:prstDash val="solid"/>
              <a:miter/>
            </a:ln>
          </p:spPr>
        </p:sp>
      </p:grpSp>
      <p:grpSp>
        <p:nvGrpSpPr>
          <p:cNvPr name="Group 9" id="9"/>
          <p:cNvGrpSpPr/>
          <p:nvPr/>
        </p:nvGrpSpPr>
        <p:grpSpPr>
          <a:xfrm rot="0">
            <a:off x="1201996" y="3290226"/>
            <a:ext cx="10444233" cy="5078515"/>
            <a:chOff x="0" y="0"/>
            <a:chExt cx="20636084" cy="10034309"/>
          </a:xfrm>
        </p:grpSpPr>
        <p:sp>
          <p:nvSpPr>
            <p:cNvPr name="Freeform 10" id="10" descr="Screenshot 2026-10-19 at 11.49.18 PM.png"/>
            <p:cNvSpPr/>
            <p:nvPr/>
          </p:nvSpPr>
          <p:spPr>
            <a:xfrm flipH="false" flipV="false" rot="0">
              <a:off x="0" y="0"/>
              <a:ext cx="20636029" cy="10034244"/>
            </a:xfrm>
            <a:custGeom>
              <a:avLst/>
              <a:gdLst/>
              <a:ahLst/>
              <a:cxnLst/>
              <a:rect r="r" b="b" t="t" l="l"/>
              <a:pathLst>
                <a:path h="10034244" w="20636029">
                  <a:moveTo>
                    <a:pt x="0" y="0"/>
                  </a:moveTo>
                  <a:lnTo>
                    <a:pt x="20636029" y="0"/>
                  </a:lnTo>
                  <a:lnTo>
                    <a:pt x="20636029" y="10034244"/>
                  </a:lnTo>
                  <a:lnTo>
                    <a:pt x="0" y="1003424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1069" t="0" r="-1069" b="-1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12346905" y="2944092"/>
            <a:ext cx="5024552" cy="1455601"/>
            <a:chOff x="0" y="0"/>
            <a:chExt cx="6699402" cy="1940801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6699377" cy="1940814"/>
            </a:xfrm>
            <a:custGeom>
              <a:avLst/>
              <a:gdLst/>
              <a:ahLst/>
              <a:cxnLst/>
              <a:rect r="r" b="b" t="t" l="l"/>
              <a:pathLst>
                <a:path h="1940814" w="6699377">
                  <a:moveTo>
                    <a:pt x="0" y="232918"/>
                  </a:moveTo>
                  <a:cubicBezTo>
                    <a:pt x="0" y="104267"/>
                    <a:pt x="104267" y="0"/>
                    <a:pt x="232918" y="0"/>
                  </a:cubicBezTo>
                  <a:lnTo>
                    <a:pt x="6466459" y="0"/>
                  </a:lnTo>
                  <a:cubicBezTo>
                    <a:pt x="6595110" y="0"/>
                    <a:pt x="6699377" y="104267"/>
                    <a:pt x="6699377" y="232918"/>
                  </a:cubicBezTo>
                  <a:lnTo>
                    <a:pt x="6699377" y="1707896"/>
                  </a:lnTo>
                  <a:cubicBezTo>
                    <a:pt x="6699377" y="1836547"/>
                    <a:pt x="6595110" y="1940814"/>
                    <a:pt x="6466459" y="1940814"/>
                  </a:cubicBezTo>
                  <a:lnTo>
                    <a:pt x="232918" y="1940814"/>
                  </a:lnTo>
                  <a:cubicBezTo>
                    <a:pt x="104267" y="1940814"/>
                    <a:pt x="0" y="1836547"/>
                    <a:pt x="0" y="1707896"/>
                  </a:cubicBezTo>
                  <a:close/>
                </a:path>
              </a:pathLst>
            </a:custGeom>
            <a:solidFill>
              <a:srgbClr val="14273A"/>
            </a:solidFill>
            <a:ln w="14299" cap="sq">
              <a:solidFill>
                <a:srgbClr val="284258"/>
              </a:solidFill>
              <a:prstDash val="solid"/>
              <a:miter/>
            </a:ln>
          </p:spPr>
        </p:sp>
      </p:grpSp>
      <p:grpSp>
        <p:nvGrpSpPr>
          <p:cNvPr name="Group 13" id="13"/>
          <p:cNvGrpSpPr/>
          <p:nvPr/>
        </p:nvGrpSpPr>
        <p:grpSpPr>
          <a:xfrm rot="0">
            <a:off x="12346905" y="2944092"/>
            <a:ext cx="110385" cy="1455601"/>
            <a:chOff x="0" y="0"/>
            <a:chExt cx="147180" cy="1940801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47193" cy="1940814"/>
            </a:xfrm>
            <a:custGeom>
              <a:avLst/>
              <a:gdLst/>
              <a:ahLst/>
              <a:cxnLst/>
              <a:rect r="r" b="b" t="t" l="l"/>
              <a:pathLst>
                <a:path h="1940814" w="147193">
                  <a:moveTo>
                    <a:pt x="0" y="0"/>
                  </a:moveTo>
                  <a:lnTo>
                    <a:pt x="147193" y="0"/>
                  </a:lnTo>
                  <a:lnTo>
                    <a:pt x="147193" y="1940814"/>
                  </a:lnTo>
                  <a:lnTo>
                    <a:pt x="0" y="1940814"/>
                  </a:lnTo>
                  <a:close/>
                </a:path>
              </a:pathLst>
            </a:custGeom>
            <a:solidFill>
              <a:srgbClr val="FF756D"/>
            </a:solidFill>
            <a:ln w="14299" cap="sq">
              <a:solidFill>
                <a:srgbClr val="FF756D"/>
              </a:solidFill>
              <a:prstDash val="solid"/>
              <a:miter/>
            </a:ln>
          </p:spPr>
        </p:sp>
      </p:grpSp>
      <p:sp>
        <p:nvSpPr>
          <p:cNvPr name="TextBox 15" id="15"/>
          <p:cNvSpPr txBox="true"/>
          <p:nvPr/>
        </p:nvSpPr>
        <p:spPr>
          <a:xfrm rot="0">
            <a:off x="12674327" y="3216612"/>
            <a:ext cx="4424610" cy="4438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82"/>
              </a:lnSpc>
            </a:pPr>
            <a:r>
              <a:rPr lang="en-US" sz="2401" b="true">
                <a:solidFill>
                  <a:srgbClr val="F5F8FC"/>
                </a:solidFill>
                <a:latin typeface="Aptos Bold"/>
                <a:ea typeface="Aptos Bold"/>
                <a:cs typeface="Aptos Bold"/>
                <a:sym typeface="Aptos Bold"/>
              </a:rPr>
              <a:t>RISK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2674327" y="3852243"/>
            <a:ext cx="4424610" cy="3435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1"/>
              </a:lnSpc>
            </a:pPr>
            <a:r>
              <a:rPr lang="en-US" sz="2101">
                <a:solidFill>
                  <a:srgbClr val="A6BCCD"/>
                </a:solidFill>
                <a:latin typeface="Aptos"/>
                <a:ea typeface="Aptos"/>
                <a:cs typeface="Aptos"/>
                <a:sym typeface="Aptos"/>
              </a:rPr>
              <a:t>Moderate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12346905" y="4687386"/>
            <a:ext cx="5024552" cy="1455601"/>
            <a:chOff x="0" y="0"/>
            <a:chExt cx="6699402" cy="1940801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6699377" cy="1940814"/>
            </a:xfrm>
            <a:custGeom>
              <a:avLst/>
              <a:gdLst/>
              <a:ahLst/>
              <a:cxnLst/>
              <a:rect r="r" b="b" t="t" l="l"/>
              <a:pathLst>
                <a:path h="1940814" w="6699377">
                  <a:moveTo>
                    <a:pt x="0" y="232918"/>
                  </a:moveTo>
                  <a:cubicBezTo>
                    <a:pt x="0" y="104267"/>
                    <a:pt x="104267" y="0"/>
                    <a:pt x="232918" y="0"/>
                  </a:cubicBezTo>
                  <a:lnTo>
                    <a:pt x="6466459" y="0"/>
                  </a:lnTo>
                  <a:cubicBezTo>
                    <a:pt x="6595110" y="0"/>
                    <a:pt x="6699377" y="104267"/>
                    <a:pt x="6699377" y="232918"/>
                  </a:cubicBezTo>
                  <a:lnTo>
                    <a:pt x="6699377" y="1707896"/>
                  </a:lnTo>
                  <a:cubicBezTo>
                    <a:pt x="6699377" y="1836547"/>
                    <a:pt x="6595110" y="1940814"/>
                    <a:pt x="6466459" y="1940814"/>
                  </a:cubicBezTo>
                  <a:lnTo>
                    <a:pt x="232918" y="1940814"/>
                  </a:lnTo>
                  <a:cubicBezTo>
                    <a:pt x="104267" y="1940814"/>
                    <a:pt x="0" y="1836547"/>
                    <a:pt x="0" y="1707896"/>
                  </a:cubicBezTo>
                  <a:close/>
                </a:path>
              </a:pathLst>
            </a:custGeom>
            <a:solidFill>
              <a:srgbClr val="14273A"/>
            </a:solidFill>
            <a:ln w="14299" cap="sq">
              <a:solidFill>
                <a:srgbClr val="284258"/>
              </a:solidFill>
              <a:prstDash val="solid"/>
              <a:miter/>
            </a:ln>
          </p:spPr>
        </p:sp>
      </p:grpSp>
      <p:grpSp>
        <p:nvGrpSpPr>
          <p:cNvPr name="Group 19" id="19"/>
          <p:cNvGrpSpPr/>
          <p:nvPr/>
        </p:nvGrpSpPr>
        <p:grpSpPr>
          <a:xfrm rot="0">
            <a:off x="12346905" y="4687386"/>
            <a:ext cx="110385" cy="1455601"/>
            <a:chOff x="0" y="0"/>
            <a:chExt cx="147180" cy="1940801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47193" cy="1940814"/>
            </a:xfrm>
            <a:custGeom>
              <a:avLst/>
              <a:gdLst/>
              <a:ahLst/>
              <a:cxnLst/>
              <a:rect r="r" b="b" t="t" l="l"/>
              <a:pathLst>
                <a:path h="1940814" w="147193">
                  <a:moveTo>
                    <a:pt x="0" y="0"/>
                  </a:moveTo>
                  <a:lnTo>
                    <a:pt x="147193" y="0"/>
                  </a:lnTo>
                  <a:lnTo>
                    <a:pt x="147193" y="1940814"/>
                  </a:lnTo>
                  <a:lnTo>
                    <a:pt x="0" y="1940814"/>
                  </a:lnTo>
                  <a:close/>
                </a:path>
              </a:pathLst>
            </a:custGeom>
            <a:solidFill>
              <a:srgbClr val="4FDC97"/>
            </a:solidFill>
            <a:ln w="14299" cap="sq">
              <a:solidFill>
                <a:srgbClr val="4FDC97"/>
              </a:solidFill>
              <a:prstDash val="solid"/>
              <a:miter/>
            </a:ln>
          </p:spPr>
        </p:sp>
      </p:grpSp>
      <p:sp>
        <p:nvSpPr>
          <p:cNvPr name="TextBox 21" id="21"/>
          <p:cNvSpPr txBox="true"/>
          <p:nvPr/>
        </p:nvSpPr>
        <p:spPr>
          <a:xfrm rot="0">
            <a:off x="12674327" y="4959906"/>
            <a:ext cx="4424610" cy="4438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82"/>
              </a:lnSpc>
            </a:pPr>
            <a:r>
              <a:rPr lang="en-US" sz="2401" b="true">
                <a:solidFill>
                  <a:srgbClr val="F5F8FC"/>
                </a:solidFill>
                <a:latin typeface="Aptos Bold"/>
                <a:ea typeface="Aptos Bold"/>
                <a:cs typeface="Aptos Bold"/>
                <a:sym typeface="Aptos Bold"/>
              </a:rPr>
              <a:t>VALIDATION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2674327" y="5595537"/>
            <a:ext cx="4424610" cy="3435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1"/>
              </a:lnSpc>
            </a:pPr>
            <a:r>
              <a:rPr lang="en-US" sz="2101">
                <a:solidFill>
                  <a:srgbClr val="A6BCCD"/>
                </a:solidFill>
                <a:latin typeface="Aptos"/>
                <a:ea typeface="Aptos"/>
                <a:cs typeface="Aptos"/>
                <a:sym typeface="Aptos"/>
              </a:rPr>
              <a:t>Passed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12346905" y="6430680"/>
            <a:ext cx="5024552" cy="2141944"/>
            <a:chOff x="0" y="0"/>
            <a:chExt cx="6699402" cy="2855925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6699504" cy="2855976"/>
            </a:xfrm>
            <a:custGeom>
              <a:avLst/>
              <a:gdLst/>
              <a:ahLst/>
              <a:cxnLst/>
              <a:rect r="r" b="b" t="t" l="l"/>
              <a:pathLst>
                <a:path h="2855976" w="6699504">
                  <a:moveTo>
                    <a:pt x="0" y="342773"/>
                  </a:moveTo>
                  <a:cubicBezTo>
                    <a:pt x="0" y="153416"/>
                    <a:pt x="153416" y="0"/>
                    <a:pt x="342773" y="0"/>
                  </a:cubicBezTo>
                  <a:lnTo>
                    <a:pt x="6356731" y="0"/>
                  </a:lnTo>
                  <a:cubicBezTo>
                    <a:pt x="6545961" y="0"/>
                    <a:pt x="6699504" y="153416"/>
                    <a:pt x="6699504" y="342773"/>
                  </a:cubicBezTo>
                  <a:lnTo>
                    <a:pt x="6699504" y="2513203"/>
                  </a:lnTo>
                  <a:cubicBezTo>
                    <a:pt x="6699504" y="2702433"/>
                    <a:pt x="6546088" y="2855976"/>
                    <a:pt x="6356731" y="2855976"/>
                  </a:cubicBezTo>
                  <a:lnTo>
                    <a:pt x="342773" y="2855976"/>
                  </a:lnTo>
                  <a:cubicBezTo>
                    <a:pt x="153416" y="2855976"/>
                    <a:pt x="0" y="2702433"/>
                    <a:pt x="0" y="2513203"/>
                  </a:cubicBezTo>
                  <a:close/>
                </a:path>
              </a:pathLst>
            </a:custGeom>
            <a:solidFill>
              <a:srgbClr val="14273A"/>
            </a:solidFill>
            <a:ln w="14299" cap="sq">
              <a:solidFill>
                <a:srgbClr val="284258"/>
              </a:solidFill>
              <a:prstDash val="solid"/>
              <a:miter/>
            </a:ln>
          </p:spPr>
        </p:sp>
      </p:grpSp>
      <p:grpSp>
        <p:nvGrpSpPr>
          <p:cNvPr name="Group 25" id="25"/>
          <p:cNvGrpSpPr/>
          <p:nvPr/>
        </p:nvGrpSpPr>
        <p:grpSpPr>
          <a:xfrm rot="0">
            <a:off x="12346905" y="6430680"/>
            <a:ext cx="110385" cy="2141944"/>
            <a:chOff x="0" y="0"/>
            <a:chExt cx="147180" cy="2855925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47193" cy="2855976"/>
            </a:xfrm>
            <a:custGeom>
              <a:avLst/>
              <a:gdLst/>
              <a:ahLst/>
              <a:cxnLst/>
              <a:rect r="r" b="b" t="t" l="l"/>
              <a:pathLst>
                <a:path h="2855976" w="147193">
                  <a:moveTo>
                    <a:pt x="0" y="0"/>
                  </a:moveTo>
                  <a:lnTo>
                    <a:pt x="147193" y="0"/>
                  </a:lnTo>
                  <a:lnTo>
                    <a:pt x="147193" y="2855976"/>
                  </a:lnTo>
                  <a:lnTo>
                    <a:pt x="0" y="2855976"/>
                  </a:lnTo>
                  <a:close/>
                </a:path>
              </a:pathLst>
            </a:custGeom>
            <a:solidFill>
              <a:srgbClr val="32C5E8"/>
            </a:solidFill>
            <a:ln w="14299" cap="sq">
              <a:solidFill>
                <a:srgbClr val="32C5E8"/>
              </a:solidFill>
              <a:prstDash val="solid"/>
              <a:miter/>
            </a:ln>
          </p:spPr>
        </p:sp>
      </p:grpSp>
      <p:sp>
        <p:nvSpPr>
          <p:cNvPr name="TextBox 27" id="27"/>
          <p:cNvSpPr txBox="true"/>
          <p:nvPr/>
        </p:nvSpPr>
        <p:spPr>
          <a:xfrm rot="0">
            <a:off x="12674327" y="6703200"/>
            <a:ext cx="4424610" cy="4438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82"/>
              </a:lnSpc>
            </a:pPr>
            <a:r>
              <a:rPr lang="en-US" sz="2401" b="true">
                <a:solidFill>
                  <a:srgbClr val="F5F8FC"/>
                </a:solidFill>
                <a:latin typeface="Aptos Bold"/>
                <a:ea typeface="Aptos Bold"/>
                <a:cs typeface="Aptos Bold"/>
                <a:sym typeface="Aptos Bold"/>
              </a:rPr>
              <a:t>RECOMMENDATION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2674327" y="7348357"/>
            <a:ext cx="4424610" cy="10203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651">
                <a:solidFill>
                  <a:srgbClr val="A6BCCD"/>
                </a:solidFill>
                <a:latin typeface="Aptos"/>
                <a:ea typeface="Aptos"/>
                <a:cs typeface="Aptos"/>
                <a:sym typeface="Aptos"/>
              </a:rPr>
              <a:t>Faculty check-in this week; agree on one attendance or assignment improvement goal.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951709" y="9832896"/>
            <a:ext cx="10944806" cy="2105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41"/>
              </a:lnSpc>
            </a:pPr>
            <a:r>
              <a:rPr lang="en-US" sz="1200">
                <a:solidFill>
                  <a:srgbClr val="A6BCCD"/>
                </a:solidFill>
                <a:latin typeface="Aptos"/>
                <a:ea typeface="Aptos"/>
                <a:cs typeface="Aptos"/>
                <a:sym typeface="Aptos"/>
              </a:rPr>
              <a:t>ACADEX AI  •  FOUNDATIONS OF AGENTIC AI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6833523" y="9805445"/>
            <a:ext cx="512493" cy="2379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441"/>
              </a:lnSpc>
            </a:pPr>
            <a:r>
              <a:rPr lang="en-US" sz="1200">
                <a:solidFill>
                  <a:srgbClr val="A6BCCD"/>
                </a:solidFill>
                <a:latin typeface="Aptos"/>
                <a:ea typeface="Aptos"/>
                <a:cs typeface="Aptos"/>
                <a:sym typeface="Aptos"/>
              </a:rPr>
              <a:t>9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815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10523" y="1006612"/>
            <a:ext cx="16435492" cy="7595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3"/>
              </a:lnSpc>
            </a:pPr>
            <a:r>
              <a:rPr lang="en-US" sz="4203" b="true">
                <a:solidFill>
                  <a:srgbClr val="F5F8FC"/>
                </a:solidFill>
                <a:latin typeface="Aptos Bold"/>
                <a:ea typeface="Aptos Bold"/>
                <a:cs typeface="Aptos Bold"/>
                <a:sym typeface="Aptos Bold"/>
              </a:rPr>
              <a:t>Agent trace &amp; report-ready summary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951709" y="1885121"/>
            <a:ext cx="16160963" cy="5399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>
                <a:solidFill>
                  <a:srgbClr val="A6BCCD"/>
                </a:solidFill>
                <a:latin typeface="Aptos"/>
                <a:ea typeface="Aptos"/>
                <a:cs typeface="Aptos"/>
                <a:sym typeface="Aptos"/>
              </a:rPr>
              <a:t>The PoC exposes agent completion states and a concise explanation of the generated assessment.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912543" y="2573474"/>
            <a:ext cx="1181071" cy="89792"/>
            <a:chOff x="0" y="0"/>
            <a:chExt cx="1574762" cy="119723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574800" cy="119761"/>
            </a:xfrm>
            <a:custGeom>
              <a:avLst/>
              <a:gdLst/>
              <a:ahLst/>
              <a:cxnLst/>
              <a:rect r="r" b="b" t="t" l="l"/>
              <a:pathLst>
                <a:path h="119761" w="1574800">
                  <a:moveTo>
                    <a:pt x="0" y="0"/>
                  </a:moveTo>
                  <a:lnTo>
                    <a:pt x="1574800" y="0"/>
                  </a:lnTo>
                  <a:lnTo>
                    <a:pt x="1574800" y="119761"/>
                  </a:lnTo>
                  <a:lnTo>
                    <a:pt x="0" y="119761"/>
                  </a:lnTo>
                  <a:close/>
                </a:path>
              </a:pathLst>
            </a:custGeom>
            <a:solidFill>
              <a:srgbClr val="FF756D"/>
            </a:solidFill>
            <a:ln w="14299" cap="sq">
              <a:solidFill>
                <a:srgbClr val="FF756D"/>
              </a:solidFill>
              <a:prstDash val="solid"/>
              <a:miter/>
            </a:ln>
          </p:spPr>
        </p:sp>
      </p:grpSp>
      <p:sp>
        <p:nvSpPr>
          <p:cNvPr name="TextBox 6" id="6"/>
          <p:cNvSpPr txBox="true"/>
          <p:nvPr/>
        </p:nvSpPr>
        <p:spPr>
          <a:xfrm rot="0">
            <a:off x="16764895" y="498719"/>
            <a:ext cx="649757" cy="3752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981"/>
              </a:lnSpc>
            </a:pPr>
            <a:r>
              <a:rPr lang="en-US" sz="1651" b="true">
                <a:solidFill>
                  <a:srgbClr val="A6BCCD"/>
                </a:solidFill>
                <a:latin typeface="Aptos Bold"/>
                <a:ea typeface="Aptos Bold"/>
                <a:cs typeface="Aptos Bold"/>
                <a:sym typeface="Aptos Bold"/>
              </a:rPr>
              <a:t>10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885092" y="2944092"/>
            <a:ext cx="9897542" cy="6122689"/>
            <a:chOff x="0" y="0"/>
            <a:chExt cx="13196722" cy="8163585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3196824" cy="8163687"/>
            </a:xfrm>
            <a:custGeom>
              <a:avLst/>
              <a:gdLst/>
              <a:ahLst/>
              <a:cxnLst/>
              <a:rect r="r" b="b" t="t" l="l"/>
              <a:pathLst>
                <a:path h="8163687" w="13196824">
                  <a:moveTo>
                    <a:pt x="0" y="979678"/>
                  </a:moveTo>
                  <a:cubicBezTo>
                    <a:pt x="0" y="438658"/>
                    <a:pt x="438658" y="0"/>
                    <a:pt x="979678" y="0"/>
                  </a:cubicBezTo>
                  <a:lnTo>
                    <a:pt x="12217146" y="0"/>
                  </a:lnTo>
                  <a:cubicBezTo>
                    <a:pt x="12758165" y="0"/>
                    <a:pt x="13196824" y="438658"/>
                    <a:pt x="13196824" y="979678"/>
                  </a:cubicBezTo>
                  <a:lnTo>
                    <a:pt x="13196824" y="7184009"/>
                  </a:lnTo>
                  <a:cubicBezTo>
                    <a:pt x="13196824" y="7725028"/>
                    <a:pt x="12758165" y="8163687"/>
                    <a:pt x="12217146" y="8163687"/>
                  </a:cubicBezTo>
                  <a:lnTo>
                    <a:pt x="979678" y="8163687"/>
                  </a:lnTo>
                  <a:cubicBezTo>
                    <a:pt x="438658" y="8163560"/>
                    <a:pt x="0" y="7725029"/>
                    <a:pt x="0" y="7184009"/>
                  </a:cubicBezTo>
                  <a:close/>
                </a:path>
              </a:pathLst>
            </a:custGeom>
            <a:solidFill>
              <a:srgbClr val="111C28"/>
            </a:solidFill>
            <a:ln w="14299" cap="sq">
              <a:solidFill>
                <a:srgbClr val="284258"/>
              </a:solidFill>
              <a:prstDash val="solid"/>
              <a:miter/>
            </a:ln>
          </p:spPr>
        </p:sp>
      </p:grpSp>
      <p:grpSp>
        <p:nvGrpSpPr>
          <p:cNvPr name="Group 9" id="9"/>
          <p:cNvGrpSpPr/>
          <p:nvPr/>
        </p:nvGrpSpPr>
        <p:grpSpPr>
          <a:xfrm rot="0">
            <a:off x="1224808" y="4053576"/>
            <a:ext cx="9218109" cy="3871679"/>
            <a:chOff x="0" y="0"/>
            <a:chExt cx="17016452" cy="7147046"/>
          </a:xfrm>
        </p:grpSpPr>
        <p:sp>
          <p:nvSpPr>
            <p:cNvPr name="Freeform 10" id="10" descr="image(20261019-182026).png"/>
            <p:cNvSpPr/>
            <p:nvPr/>
          </p:nvSpPr>
          <p:spPr>
            <a:xfrm flipH="false" flipV="false" rot="0">
              <a:off x="0" y="0"/>
              <a:ext cx="17016436" cy="7147046"/>
            </a:xfrm>
            <a:custGeom>
              <a:avLst/>
              <a:gdLst/>
              <a:ahLst/>
              <a:cxnLst/>
              <a:rect r="r" b="b" t="t" l="l"/>
              <a:pathLst>
                <a:path h="7147046" w="17016436">
                  <a:moveTo>
                    <a:pt x="0" y="0"/>
                  </a:moveTo>
                  <a:lnTo>
                    <a:pt x="17016436" y="0"/>
                  </a:lnTo>
                  <a:lnTo>
                    <a:pt x="17016436" y="7147046"/>
                  </a:lnTo>
                  <a:lnTo>
                    <a:pt x="0" y="71470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897" t="0" r="-898" b="0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11180131" y="3012729"/>
            <a:ext cx="6191326" cy="1730140"/>
            <a:chOff x="0" y="0"/>
            <a:chExt cx="8255102" cy="2306853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255127" cy="2306828"/>
            </a:xfrm>
            <a:custGeom>
              <a:avLst/>
              <a:gdLst/>
              <a:ahLst/>
              <a:cxnLst/>
              <a:rect r="r" b="b" t="t" l="l"/>
              <a:pathLst>
                <a:path h="2306828" w="8255127">
                  <a:moveTo>
                    <a:pt x="0" y="276860"/>
                  </a:moveTo>
                  <a:cubicBezTo>
                    <a:pt x="0" y="123952"/>
                    <a:pt x="123952" y="0"/>
                    <a:pt x="276860" y="0"/>
                  </a:cubicBezTo>
                  <a:lnTo>
                    <a:pt x="7978267" y="0"/>
                  </a:lnTo>
                  <a:cubicBezTo>
                    <a:pt x="8131175" y="0"/>
                    <a:pt x="8255127" y="123952"/>
                    <a:pt x="8255127" y="276860"/>
                  </a:cubicBezTo>
                  <a:lnTo>
                    <a:pt x="8255127" y="2029968"/>
                  </a:lnTo>
                  <a:cubicBezTo>
                    <a:pt x="8255127" y="2182876"/>
                    <a:pt x="8131175" y="2306828"/>
                    <a:pt x="7978267" y="2306828"/>
                  </a:cubicBezTo>
                  <a:lnTo>
                    <a:pt x="276860" y="2306828"/>
                  </a:lnTo>
                  <a:cubicBezTo>
                    <a:pt x="123952" y="2306828"/>
                    <a:pt x="0" y="2182876"/>
                    <a:pt x="0" y="2029968"/>
                  </a:cubicBezTo>
                  <a:close/>
                </a:path>
              </a:pathLst>
            </a:custGeom>
            <a:solidFill>
              <a:srgbClr val="14273A"/>
            </a:solidFill>
            <a:ln w="14299" cap="sq">
              <a:solidFill>
                <a:srgbClr val="284258"/>
              </a:solidFill>
              <a:prstDash val="solid"/>
              <a:miter/>
            </a:ln>
          </p:spPr>
        </p:sp>
      </p:grpSp>
      <p:grpSp>
        <p:nvGrpSpPr>
          <p:cNvPr name="Group 13" id="13"/>
          <p:cNvGrpSpPr/>
          <p:nvPr/>
        </p:nvGrpSpPr>
        <p:grpSpPr>
          <a:xfrm rot="0">
            <a:off x="11180131" y="3012729"/>
            <a:ext cx="110385" cy="1730140"/>
            <a:chOff x="0" y="0"/>
            <a:chExt cx="147180" cy="2306853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47193" cy="2306828"/>
            </a:xfrm>
            <a:custGeom>
              <a:avLst/>
              <a:gdLst/>
              <a:ahLst/>
              <a:cxnLst/>
              <a:rect r="r" b="b" t="t" l="l"/>
              <a:pathLst>
                <a:path h="2306828" w="147193">
                  <a:moveTo>
                    <a:pt x="0" y="0"/>
                  </a:moveTo>
                  <a:lnTo>
                    <a:pt x="147193" y="0"/>
                  </a:lnTo>
                  <a:lnTo>
                    <a:pt x="147193" y="2306828"/>
                  </a:lnTo>
                  <a:lnTo>
                    <a:pt x="0" y="2306828"/>
                  </a:lnTo>
                  <a:close/>
                </a:path>
              </a:pathLst>
            </a:custGeom>
            <a:solidFill>
              <a:srgbClr val="32C5E8"/>
            </a:solidFill>
            <a:ln w="14299" cap="sq">
              <a:solidFill>
                <a:srgbClr val="32C5E8"/>
              </a:solidFill>
              <a:prstDash val="solid"/>
              <a:miter/>
            </a:ln>
          </p:spPr>
        </p:sp>
      </p:grpSp>
      <p:sp>
        <p:nvSpPr>
          <p:cNvPr name="TextBox 15" id="15"/>
          <p:cNvSpPr txBox="true"/>
          <p:nvPr/>
        </p:nvSpPr>
        <p:spPr>
          <a:xfrm rot="0">
            <a:off x="11507553" y="3285249"/>
            <a:ext cx="5591375" cy="4438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82"/>
              </a:lnSpc>
            </a:pPr>
            <a:r>
              <a:rPr lang="en-US" sz="2401" b="true">
                <a:solidFill>
                  <a:srgbClr val="F5F8FC"/>
                </a:solidFill>
                <a:latin typeface="Aptos Bold"/>
                <a:ea typeface="Aptos Bold"/>
                <a:cs typeface="Aptos Bold"/>
                <a:sym typeface="Aptos Bold"/>
              </a:rPr>
              <a:t>EXAMPLE STUDENT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1507553" y="3930406"/>
            <a:ext cx="5591375" cy="6085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1"/>
              </a:lnSpc>
            </a:pPr>
            <a:r>
              <a:rPr lang="en-US" sz="1951">
                <a:solidFill>
                  <a:srgbClr val="A6BCCD"/>
                </a:solidFill>
                <a:latin typeface="Aptos"/>
                <a:ea typeface="Aptos"/>
                <a:cs typeface="Aptos"/>
                <a:sym typeface="Aptos"/>
              </a:rPr>
              <a:t>ST1001 • IT • Semester 5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11180131" y="5071739"/>
            <a:ext cx="6191326" cy="1730140"/>
            <a:chOff x="0" y="0"/>
            <a:chExt cx="8255102" cy="2306853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255127" cy="2306828"/>
            </a:xfrm>
            <a:custGeom>
              <a:avLst/>
              <a:gdLst/>
              <a:ahLst/>
              <a:cxnLst/>
              <a:rect r="r" b="b" t="t" l="l"/>
              <a:pathLst>
                <a:path h="2306828" w="8255127">
                  <a:moveTo>
                    <a:pt x="0" y="276860"/>
                  </a:moveTo>
                  <a:cubicBezTo>
                    <a:pt x="0" y="123952"/>
                    <a:pt x="123952" y="0"/>
                    <a:pt x="276860" y="0"/>
                  </a:cubicBezTo>
                  <a:lnTo>
                    <a:pt x="7978267" y="0"/>
                  </a:lnTo>
                  <a:cubicBezTo>
                    <a:pt x="8131175" y="0"/>
                    <a:pt x="8255127" y="123952"/>
                    <a:pt x="8255127" y="276860"/>
                  </a:cubicBezTo>
                  <a:lnTo>
                    <a:pt x="8255127" y="2029968"/>
                  </a:lnTo>
                  <a:cubicBezTo>
                    <a:pt x="8255127" y="2182876"/>
                    <a:pt x="8131175" y="2306828"/>
                    <a:pt x="7978267" y="2306828"/>
                  </a:cubicBezTo>
                  <a:lnTo>
                    <a:pt x="276860" y="2306828"/>
                  </a:lnTo>
                  <a:cubicBezTo>
                    <a:pt x="123952" y="2306828"/>
                    <a:pt x="0" y="2182876"/>
                    <a:pt x="0" y="2029968"/>
                  </a:cubicBezTo>
                  <a:close/>
                </a:path>
              </a:pathLst>
            </a:custGeom>
            <a:solidFill>
              <a:srgbClr val="14273A"/>
            </a:solidFill>
            <a:ln w="14299" cap="sq">
              <a:solidFill>
                <a:srgbClr val="284258"/>
              </a:solidFill>
              <a:prstDash val="solid"/>
              <a:miter/>
            </a:ln>
          </p:spPr>
        </p:sp>
      </p:grpSp>
      <p:grpSp>
        <p:nvGrpSpPr>
          <p:cNvPr name="Group 19" id="19"/>
          <p:cNvGrpSpPr/>
          <p:nvPr/>
        </p:nvGrpSpPr>
        <p:grpSpPr>
          <a:xfrm rot="0">
            <a:off x="11180131" y="5071739"/>
            <a:ext cx="110385" cy="1730140"/>
            <a:chOff x="0" y="0"/>
            <a:chExt cx="147180" cy="2306853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47193" cy="2306828"/>
            </a:xfrm>
            <a:custGeom>
              <a:avLst/>
              <a:gdLst/>
              <a:ahLst/>
              <a:cxnLst/>
              <a:rect r="r" b="b" t="t" l="l"/>
              <a:pathLst>
                <a:path h="2306828" w="147193">
                  <a:moveTo>
                    <a:pt x="0" y="0"/>
                  </a:moveTo>
                  <a:lnTo>
                    <a:pt x="147193" y="0"/>
                  </a:lnTo>
                  <a:lnTo>
                    <a:pt x="147193" y="2306828"/>
                  </a:lnTo>
                  <a:lnTo>
                    <a:pt x="0" y="2306828"/>
                  </a:lnTo>
                  <a:close/>
                </a:path>
              </a:pathLst>
            </a:custGeom>
            <a:solidFill>
              <a:srgbClr val="FF756D"/>
            </a:solidFill>
            <a:ln w="14299" cap="sq">
              <a:solidFill>
                <a:srgbClr val="FF756D"/>
              </a:solidFill>
              <a:prstDash val="solid"/>
              <a:miter/>
            </a:ln>
          </p:spPr>
        </p:sp>
      </p:grpSp>
      <p:sp>
        <p:nvSpPr>
          <p:cNvPr name="TextBox 21" id="21"/>
          <p:cNvSpPr txBox="true"/>
          <p:nvPr/>
        </p:nvSpPr>
        <p:spPr>
          <a:xfrm rot="0">
            <a:off x="11507553" y="5344258"/>
            <a:ext cx="5591375" cy="4438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82"/>
              </a:lnSpc>
            </a:pPr>
            <a:r>
              <a:rPr lang="en-US" sz="2401" b="true">
                <a:solidFill>
                  <a:srgbClr val="F5F8FC"/>
                </a:solidFill>
                <a:latin typeface="Aptos Bold"/>
                <a:ea typeface="Aptos Bold"/>
                <a:cs typeface="Aptos Bold"/>
                <a:sym typeface="Aptos Bold"/>
              </a:rPr>
              <a:t>SIGNAL IDENTIFIED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1507553" y="5989415"/>
            <a:ext cx="5591375" cy="6085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1"/>
              </a:lnSpc>
            </a:pPr>
            <a:r>
              <a:rPr lang="en-US" sz="1951">
                <a:solidFill>
                  <a:srgbClr val="A6BCCD"/>
                </a:solidFill>
                <a:latin typeface="Aptos"/>
                <a:ea typeface="Aptos"/>
                <a:cs typeface="Aptos"/>
                <a:sym typeface="Aptos"/>
              </a:rPr>
              <a:t>Performance down 5.7 points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11180131" y="7130748"/>
            <a:ext cx="6191326" cy="1730140"/>
            <a:chOff x="0" y="0"/>
            <a:chExt cx="8255102" cy="2306853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8255127" cy="2306828"/>
            </a:xfrm>
            <a:custGeom>
              <a:avLst/>
              <a:gdLst/>
              <a:ahLst/>
              <a:cxnLst/>
              <a:rect r="r" b="b" t="t" l="l"/>
              <a:pathLst>
                <a:path h="2306828" w="8255127">
                  <a:moveTo>
                    <a:pt x="0" y="276860"/>
                  </a:moveTo>
                  <a:cubicBezTo>
                    <a:pt x="0" y="123952"/>
                    <a:pt x="123952" y="0"/>
                    <a:pt x="276860" y="0"/>
                  </a:cubicBezTo>
                  <a:lnTo>
                    <a:pt x="7978267" y="0"/>
                  </a:lnTo>
                  <a:cubicBezTo>
                    <a:pt x="8131175" y="0"/>
                    <a:pt x="8255127" y="123952"/>
                    <a:pt x="8255127" y="276860"/>
                  </a:cubicBezTo>
                  <a:lnTo>
                    <a:pt x="8255127" y="2029968"/>
                  </a:lnTo>
                  <a:cubicBezTo>
                    <a:pt x="8255127" y="2182876"/>
                    <a:pt x="8131175" y="2306828"/>
                    <a:pt x="7978267" y="2306828"/>
                  </a:cubicBezTo>
                  <a:lnTo>
                    <a:pt x="276860" y="2306828"/>
                  </a:lnTo>
                  <a:cubicBezTo>
                    <a:pt x="123952" y="2306828"/>
                    <a:pt x="0" y="2182876"/>
                    <a:pt x="0" y="2029968"/>
                  </a:cubicBezTo>
                  <a:close/>
                </a:path>
              </a:pathLst>
            </a:custGeom>
            <a:solidFill>
              <a:srgbClr val="14273A"/>
            </a:solidFill>
            <a:ln w="14299" cap="sq">
              <a:solidFill>
                <a:srgbClr val="284258"/>
              </a:solidFill>
              <a:prstDash val="solid"/>
              <a:miter/>
            </a:ln>
          </p:spPr>
        </p:sp>
      </p:grpSp>
      <p:grpSp>
        <p:nvGrpSpPr>
          <p:cNvPr name="Group 25" id="25"/>
          <p:cNvGrpSpPr/>
          <p:nvPr/>
        </p:nvGrpSpPr>
        <p:grpSpPr>
          <a:xfrm rot="0">
            <a:off x="11180131" y="7130748"/>
            <a:ext cx="110385" cy="1730140"/>
            <a:chOff x="0" y="0"/>
            <a:chExt cx="147180" cy="2306853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47193" cy="2306828"/>
            </a:xfrm>
            <a:custGeom>
              <a:avLst/>
              <a:gdLst/>
              <a:ahLst/>
              <a:cxnLst/>
              <a:rect r="r" b="b" t="t" l="l"/>
              <a:pathLst>
                <a:path h="2306828" w="147193">
                  <a:moveTo>
                    <a:pt x="0" y="0"/>
                  </a:moveTo>
                  <a:lnTo>
                    <a:pt x="147193" y="0"/>
                  </a:lnTo>
                  <a:lnTo>
                    <a:pt x="147193" y="2306828"/>
                  </a:lnTo>
                  <a:lnTo>
                    <a:pt x="0" y="2306828"/>
                  </a:lnTo>
                  <a:close/>
                </a:path>
              </a:pathLst>
            </a:custGeom>
            <a:solidFill>
              <a:srgbClr val="4FDC97"/>
            </a:solidFill>
            <a:ln w="14299" cap="sq">
              <a:solidFill>
                <a:srgbClr val="4FDC97"/>
              </a:solidFill>
              <a:prstDash val="solid"/>
              <a:miter/>
            </a:ln>
          </p:spPr>
        </p:sp>
      </p:grpSp>
      <p:sp>
        <p:nvSpPr>
          <p:cNvPr name="TextBox 27" id="27"/>
          <p:cNvSpPr txBox="true"/>
          <p:nvPr/>
        </p:nvSpPr>
        <p:spPr>
          <a:xfrm rot="0">
            <a:off x="11507553" y="7403268"/>
            <a:ext cx="5591375" cy="4438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82"/>
              </a:lnSpc>
            </a:pPr>
            <a:r>
              <a:rPr lang="en-US" sz="2401" b="true">
                <a:solidFill>
                  <a:srgbClr val="F5F8FC"/>
                </a:solidFill>
                <a:latin typeface="Aptos Bold"/>
                <a:ea typeface="Aptos Bold"/>
                <a:cs typeface="Aptos Bold"/>
                <a:sym typeface="Aptos Bold"/>
              </a:rPr>
              <a:t>HUMAN OVERSIGHT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1507553" y="8048425"/>
            <a:ext cx="5591375" cy="6085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>
                <a:solidFill>
                  <a:srgbClr val="A6BCCD"/>
                </a:solidFill>
                <a:latin typeface="Aptos"/>
                <a:ea typeface="Aptos"/>
                <a:cs typeface="Aptos"/>
                <a:sym typeface="Aptos"/>
              </a:rPr>
              <a:t>Recommendation is advisory; faculty review is required.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951709" y="9832896"/>
            <a:ext cx="10944806" cy="2105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41"/>
              </a:lnSpc>
            </a:pPr>
            <a:r>
              <a:rPr lang="en-US" sz="1200">
                <a:solidFill>
                  <a:srgbClr val="A6BCCD"/>
                </a:solidFill>
                <a:latin typeface="Aptos"/>
                <a:ea typeface="Aptos"/>
                <a:cs typeface="Aptos"/>
                <a:sym typeface="Aptos"/>
              </a:rPr>
              <a:t>ACADEX AI  •  FOUNDATIONS OF AGENTIC AI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6833523" y="9805445"/>
            <a:ext cx="512493" cy="2379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441"/>
              </a:lnSpc>
            </a:pPr>
            <a:r>
              <a:rPr lang="en-US" sz="1200">
                <a:solidFill>
                  <a:srgbClr val="A6BCCD"/>
                </a:solidFill>
                <a:latin typeface="Aptos"/>
                <a:ea typeface="Aptos"/>
                <a:cs typeface="Aptos"/>
                <a:sym typeface="Aptos"/>
              </a:rPr>
              <a:t>10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815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10523" y="1006612"/>
            <a:ext cx="16435492" cy="7595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3"/>
              </a:lnSpc>
            </a:pPr>
            <a:r>
              <a:rPr lang="en-US" sz="4203" b="true">
                <a:solidFill>
                  <a:srgbClr val="F5F8FC"/>
                </a:solidFill>
                <a:latin typeface="Aptos Bold"/>
                <a:ea typeface="Aptos Bold"/>
                <a:cs typeface="Aptos Bold"/>
                <a:sym typeface="Aptos Bold"/>
              </a:rPr>
              <a:t>Results, limitations &amp; next steps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951709" y="1885121"/>
            <a:ext cx="16160963" cy="5399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>
                <a:solidFill>
                  <a:srgbClr val="A6BCCD"/>
                </a:solidFill>
                <a:latin typeface="Aptos"/>
                <a:ea typeface="Aptos"/>
                <a:cs typeface="Aptos"/>
                <a:sym typeface="Aptos"/>
              </a:rPr>
              <a:t>The prototype demonstrates a functioning workflow; real-world use would require further evaluation.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912543" y="2573474"/>
            <a:ext cx="1181071" cy="89792"/>
            <a:chOff x="0" y="0"/>
            <a:chExt cx="1574762" cy="119723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574800" cy="119761"/>
            </a:xfrm>
            <a:custGeom>
              <a:avLst/>
              <a:gdLst/>
              <a:ahLst/>
              <a:cxnLst/>
              <a:rect r="r" b="b" t="t" l="l"/>
              <a:pathLst>
                <a:path h="119761" w="1574800">
                  <a:moveTo>
                    <a:pt x="0" y="0"/>
                  </a:moveTo>
                  <a:lnTo>
                    <a:pt x="1574800" y="0"/>
                  </a:lnTo>
                  <a:lnTo>
                    <a:pt x="1574800" y="119761"/>
                  </a:lnTo>
                  <a:lnTo>
                    <a:pt x="0" y="119761"/>
                  </a:lnTo>
                  <a:close/>
                </a:path>
              </a:pathLst>
            </a:custGeom>
            <a:solidFill>
              <a:srgbClr val="FF756D"/>
            </a:solidFill>
            <a:ln w="14299" cap="sq">
              <a:solidFill>
                <a:srgbClr val="FF756D"/>
              </a:solidFill>
              <a:prstDash val="solid"/>
              <a:miter/>
            </a:ln>
          </p:spPr>
        </p:sp>
      </p:grpSp>
      <p:sp>
        <p:nvSpPr>
          <p:cNvPr name="TextBox 6" id="6"/>
          <p:cNvSpPr txBox="true"/>
          <p:nvPr/>
        </p:nvSpPr>
        <p:spPr>
          <a:xfrm rot="0">
            <a:off x="16764895" y="498719"/>
            <a:ext cx="649757" cy="3752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981"/>
              </a:lnSpc>
            </a:pPr>
            <a:r>
              <a:rPr lang="en-US" sz="1651" b="true">
                <a:solidFill>
                  <a:srgbClr val="A6BCCD"/>
                </a:solidFill>
                <a:latin typeface="Aptos Bold"/>
                <a:ea typeface="Aptos Bold"/>
                <a:cs typeface="Aptos Bold"/>
                <a:sym typeface="Aptos Bold"/>
              </a:rPr>
              <a:t>11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953719" y="3081366"/>
            <a:ext cx="5299091" cy="3308709"/>
            <a:chOff x="0" y="0"/>
            <a:chExt cx="7065454" cy="4411612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7065391" cy="4411472"/>
            </a:xfrm>
            <a:custGeom>
              <a:avLst/>
              <a:gdLst/>
              <a:ahLst/>
              <a:cxnLst/>
              <a:rect r="r" b="b" t="t" l="l"/>
              <a:pathLst>
                <a:path h="4411472" w="7065391">
                  <a:moveTo>
                    <a:pt x="0" y="529336"/>
                  </a:moveTo>
                  <a:cubicBezTo>
                    <a:pt x="0" y="236982"/>
                    <a:pt x="236982" y="0"/>
                    <a:pt x="529336" y="0"/>
                  </a:cubicBezTo>
                  <a:lnTo>
                    <a:pt x="6536055" y="0"/>
                  </a:lnTo>
                  <a:cubicBezTo>
                    <a:pt x="6828410" y="0"/>
                    <a:pt x="7065391" y="236982"/>
                    <a:pt x="7065391" y="529336"/>
                  </a:cubicBezTo>
                  <a:lnTo>
                    <a:pt x="7065391" y="3882136"/>
                  </a:lnTo>
                  <a:cubicBezTo>
                    <a:pt x="7065391" y="4174490"/>
                    <a:pt x="6828410" y="4411472"/>
                    <a:pt x="6536055" y="4411472"/>
                  </a:cubicBezTo>
                  <a:lnTo>
                    <a:pt x="529336" y="4411472"/>
                  </a:lnTo>
                  <a:cubicBezTo>
                    <a:pt x="236982" y="4411599"/>
                    <a:pt x="0" y="4174617"/>
                    <a:pt x="0" y="3882263"/>
                  </a:cubicBezTo>
                  <a:close/>
                </a:path>
              </a:pathLst>
            </a:custGeom>
            <a:solidFill>
              <a:srgbClr val="14273A"/>
            </a:solidFill>
            <a:ln w="14299" cap="sq">
              <a:solidFill>
                <a:srgbClr val="284258"/>
              </a:solidFill>
              <a:prstDash val="solid"/>
              <a:miter/>
            </a:ln>
          </p:spPr>
        </p:sp>
      </p:grpSp>
      <p:grpSp>
        <p:nvGrpSpPr>
          <p:cNvPr name="Group 9" id="9"/>
          <p:cNvGrpSpPr/>
          <p:nvPr/>
        </p:nvGrpSpPr>
        <p:grpSpPr>
          <a:xfrm rot="0">
            <a:off x="953719" y="3081366"/>
            <a:ext cx="110385" cy="3308709"/>
            <a:chOff x="0" y="0"/>
            <a:chExt cx="147180" cy="4411612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47193" cy="4411599"/>
            </a:xfrm>
            <a:custGeom>
              <a:avLst/>
              <a:gdLst/>
              <a:ahLst/>
              <a:cxnLst/>
              <a:rect r="r" b="b" t="t" l="l"/>
              <a:pathLst>
                <a:path h="4411599" w="147193">
                  <a:moveTo>
                    <a:pt x="0" y="0"/>
                  </a:moveTo>
                  <a:lnTo>
                    <a:pt x="147193" y="0"/>
                  </a:lnTo>
                  <a:lnTo>
                    <a:pt x="147193" y="4411599"/>
                  </a:lnTo>
                  <a:lnTo>
                    <a:pt x="0" y="4411599"/>
                  </a:lnTo>
                  <a:close/>
                </a:path>
              </a:pathLst>
            </a:custGeom>
            <a:solidFill>
              <a:srgbClr val="4FDC97"/>
            </a:solidFill>
            <a:ln w="14299" cap="sq">
              <a:solidFill>
                <a:srgbClr val="4FDC97"/>
              </a:solidFill>
              <a:prstDash val="solid"/>
              <a:miter/>
            </a:ln>
          </p:spPr>
        </p:sp>
      </p:grpSp>
      <p:sp>
        <p:nvSpPr>
          <p:cNvPr name="TextBox 11" id="11"/>
          <p:cNvSpPr txBox="true"/>
          <p:nvPr/>
        </p:nvSpPr>
        <p:spPr>
          <a:xfrm rot="0">
            <a:off x="1281141" y="3353886"/>
            <a:ext cx="4699140" cy="4438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82"/>
              </a:lnSpc>
            </a:pPr>
            <a:r>
              <a:rPr lang="en-US" sz="2401" b="true">
                <a:solidFill>
                  <a:srgbClr val="F5F8FC"/>
                </a:solidFill>
                <a:latin typeface="Aptos Bold"/>
                <a:ea typeface="Aptos Bold"/>
                <a:cs typeface="Aptos Bold"/>
                <a:sym typeface="Aptos Bold"/>
              </a:rPr>
              <a:t>WHAT WORKS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281141" y="3999043"/>
            <a:ext cx="4699140" cy="2187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1"/>
              </a:lnSpc>
            </a:pPr>
            <a:r>
              <a:rPr lang="en-US" sz="1951">
                <a:solidFill>
                  <a:srgbClr val="A6BCCD"/>
                </a:solidFill>
                <a:latin typeface="Aptos"/>
                <a:ea typeface="Aptos"/>
                <a:cs typeface="Aptos"/>
                <a:sym typeface="Aptos"/>
              </a:rPr>
              <a:t>• 500 synthetic records</a:t>
            </a:r>
          </a:p>
          <a:p>
            <a:pPr algn="l">
              <a:lnSpc>
                <a:spcPts val="2341"/>
              </a:lnSpc>
            </a:pPr>
            <a:r>
              <a:rPr lang="en-US" sz="1951">
                <a:solidFill>
                  <a:srgbClr val="A6BCCD"/>
                </a:solidFill>
                <a:latin typeface="Aptos"/>
                <a:ea typeface="Aptos"/>
                <a:cs typeface="Aptos"/>
                <a:sym typeface="Aptos"/>
              </a:rPr>
              <a:t>• Dashboard filtering and search</a:t>
            </a:r>
          </a:p>
          <a:p>
            <a:pPr algn="l">
              <a:lnSpc>
                <a:spcPts val="2341"/>
              </a:lnSpc>
            </a:pPr>
            <a:r>
              <a:rPr lang="en-US" sz="1951">
                <a:solidFill>
                  <a:srgbClr val="A6BCCD"/>
                </a:solidFill>
                <a:latin typeface="Aptos"/>
                <a:ea typeface="Aptos"/>
                <a:cs typeface="Aptos"/>
                <a:sym typeface="Aptos"/>
              </a:rPr>
              <a:t>• Multi-agent workflow</a:t>
            </a:r>
          </a:p>
          <a:p>
            <a:pPr algn="l">
              <a:lnSpc>
                <a:spcPts val="2341"/>
              </a:lnSpc>
            </a:pPr>
            <a:r>
              <a:rPr lang="en-US" sz="1951">
                <a:solidFill>
                  <a:srgbClr val="A6BCCD"/>
                </a:solidFill>
                <a:latin typeface="Aptos"/>
                <a:ea typeface="Aptos"/>
                <a:cs typeface="Aptos"/>
                <a:sym typeface="Aptos"/>
              </a:rPr>
              <a:t>• Successful validation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6513043" y="3081366"/>
            <a:ext cx="5299091" cy="3308709"/>
            <a:chOff x="0" y="0"/>
            <a:chExt cx="7065454" cy="4411612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7065391" cy="4411472"/>
            </a:xfrm>
            <a:custGeom>
              <a:avLst/>
              <a:gdLst/>
              <a:ahLst/>
              <a:cxnLst/>
              <a:rect r="r" b="b" t="t" l="l"/>
              <a:pathLst>
                <a:path h="4411472" w="7065391">
                  <a:moveTo>
                    <a:pt x="0" y="529336"/>
                  </a:moveTo>
                  <a:cubicBezTo>
                    <a:pt x="0" y="236982"/>
                    <a:pt x="236982" y="0"/>
                    <a:pt x="529336" y="0"/>
                  </a:cubicBezTo>
                  <a:lnTo>
                    <a:pt x="6536055" y="0"/>
                  </a:lnTo>
                  <a:cubicBezTo>
                    <a:pt x="6828410" y="0"/>
                    <a:pt x="7065391" y="236982"/>
                    <a:pt x="7065391" y="529336"/>
                  </a:cubicBezTo>
                  <a:lnTo>
                    <a:pt x="7065391" y="3882136"/>
                  </a:lnTo>
                  <a:cubicBezTo>
                    <a:pt x="7065391" y="4174490"/>
                    <a:pt x="6828410" y="4411472"/>
                    <a:pt x="6536055" y="4411472"/>
                  </a:cubicBezTo>
                  <a:lnTo>
                    <a:pt x="529336" y="4411472"/>
                  </a:lnTo>
                  <a:cubicBezTo>
                    <a:pt x="236982" y="4411599"/>
                    <a:pt x="0" y="4174617"/>
                    <a:pt x="0" y="3882263"/>
                  </a:cubicBezTo>
                  <a:close/>
                </a:path>
              </a:pathLst>
            </a:custGeom>
            <a:solidFill>
              <a:srgbClr val="14273A"/>
            </a:solidFill>
            <a:ln w="14299" cap="sq">
              <a:solidFill>
                <a:srgbClr val="284258"/>
              </a:solidFill>
              <a:prstDash val="solid"/>
              <a:miter/>
            </a:ln>
          </p:spPr>
        </p:sp>
      </p:grpSp>
      <p:grpSp>
        <p:nvGrpSpPr>
          <p:cNvPr name="Group 15" id="15"/>
          <p:cNvGrpSpPr/>
          <p:nvPr/>
        </p:nvGrpSpPr>
        <p:grpSpPr>
          <a:xfrm rot="0">
            <a:off x="6513043" y="3081366"/>
            <a:ext cx="110385" cy="3308709"/>
            <a:chOff x="0" y="0"/>
            <a:chExt cx="147180" cy="4411612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47193" cy="4411599"/>
            </a:xfrm>
            <a:custGeom>
              <a:avLst/>
              <a:gdLst/>
              <a:ahLst/>
              <a:cxnLst/>
              <a:rect r="r" b="b" t="t" l="l"/>
              <a:pathLst>
                <a:path h="4411599" w="147193">
                  <a:moveTo>
                    <a:pt x="0" y="0"/>
                  </a:moveTo>
                  <a:lnTo>
                    <a:pt x="147193" y="0"/>
                  </a:lnTo>
                  <a:lnTo>
                    <a:pt x="147193" y="4411599"/>
                  </a:lnTo>
                  <a:lnTo>
                    <a:pt x="0" y="4411599"/>
                  </a:lnTo>
                  <a:close/>
                </a:path>
              </a:pathLst>
            </a:custGeom>
            <a:solidFill>
              <a:srgbClr val="FF756D"/>
            </a:solidFill>
            <a:ln w="14299" cap="sq">
              <a:solidFill>
                <a:srgbClr val="FF756D"/>
              </a:solidFill>
              <a:prstDash val="solid"/>
              <a:miter/>
            </a:ln>
          </p:spPr>
        </p:sp>
      </p:grpSp>
      <p:sp>
        <p:nvSpPr>
          <p:cNvPr name="TextBox 17" id="17"/>
          <p:cNvSpPr txBox="true"/>
          <p:nvPr/>
        </p:nvSpPr>
        <p:spPr>
          <a:xfrm rot="0">
            <a:off x="6840474" y="3353886"/>
            <a:ext cx="4699140" cy="4438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82"/>
              </a:lnSpc>
            </a:pPr>
            <a:r>
              <a:rPr lang="en-US" sz="2401" b="true">
                <a:solidFill>
                  <a:srgbClr val="F5F8FC"/>
                </a:solidFill>
                <a:latin typeface="Aptos Bold"/>
                <a:ea typeface="Aptos Bold"/>
                <a:cs typeface="Aptos Bold"/>
                <a:sym typeface="Aptos Bold"/>
              </a:rPr>
              <a:t>CURRENT LIMITATIONS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6840474" y="3999043"/>
            <a:ext cx="4699140" cy="2187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1"/>
              </a:lnSpc>
            </a:pPr>
            <a:r>
              <a:rPr lang="en-US" sz="1951">
                <a:solidFill>
                  <a:srgbClr val="A6BCCD"/>
                </a:solidFill>
                <a:latin typeface="Aptos"/>
                <a:ea typeface="Aptos"/>
                <a:cs typeface="Aptos"/>
                <a:sym typeface="Aptos"/>
              </a:rPr>
              <a:t>• Synthetic data only</a:t>
            </a:r>
          </a:p>
          <a:p>
            <a:pPr algn="l">
              <a:lnSpc>
                <a:spcPts val="2341"/>
              </a:lnSpc>
            </a:pPr>
            <a:r>
              <a:rPr lang="en-US" sz="1951">
                <a:solidFill>
                  <a:srgbClr val="A6BCCD"/>
                </a:solidFill>
                <a:latin typeface="Aptos"/>
                <a:ea typeface="Aptos"/>
                <a:cs typeface="Aptos"/>
                <a:sym typeface="Aptos"/>
              </a:rPr>
              <a:t>• Rule-based risk classification</a:t>
            </a:r>
          </a:p>
          <a:p>
            <a:pPr algn="l">
              <a:lnSpc>
                <a:spcPts val="2341"/>
              </a:lnSpc>
            </a:pPr>
            <a:r>
              <a:rPr lang="en-US" sz="1951">
                <a:solidFill>
                  <a:srgbClr val="A6BCCD"/>
                </a:solidFill>
                <a:latin typeface="Aptos"/>
                <a:ea typeface="Aptos"/>
                <a:cs typeface="Aptos"/>
                <a:sym typeface="Aptos"/>
              </a:rPr>
              <a:t>• No real-world accuracy evaluation</a:t>
            </a:r>
          </a:p>
          <a:p>
            <a:pPr algn="l">
              <a:lnSpc>
                <a:spcPts val="2341"/>
              </a:lnSpc>
            </a:pPr>
            <a:r>
              <a:rPr lang="en-US" sz="1951">
                <a:solidFill>
                  <a:srgbClr val="A6BCCD"/>
                </a:solidFill>
                <a:latin typeface="Aptos"/>
                <a:ea typeface="Aptos"/>
                <a:cs typeface="Aptos"/>
                <a:sym typeface="Aptos"/>
              </a:rPr>
              <a:t>• LLM output needs oversight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12072366" y="3081366"/>
            <a:ext cx="5299091" cy="3308709"/>
            <a:chOff x="0" y="0"/>
            <a:chExt cx="7065454" cy="4411612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7065391" cy="4411472"/>
            </a:xfrm>
            <a:custGeom>
              <a:avLst/>
              <a:gdLst/>
              <a:ahLst/>
              <a:cxnLst/>
              <a:rect r="r" b="b" t="t" l="l"/>
              <a:pathLst>
                <a:path h="4411472" w="7065391">
                  <a:moveTo>
                    <a:pt x="0" y="529336"/>
                  </a:moveTo>
                  <a:cubicBezTo>
                    <a:pt x="0" y="236982"/>
                    <a:pt x="236982" y="0"/>
                    <a:pt x="529336" y="0"/>
                  </a:cubicBezTo>
                  <a:lnTo>
                    <a:pt x="6536055" y="0"/>
                  </a:lnTo>
                  <a:cubicBezTo>
                    <a:pt x="6828410" y="0"/>
                    <a:pt x="7065391" y="236982"/>
                    <a:pt x="7065391" y="529336"/>
                  </a:cubicBezTo>
                  <a:lnTo>
                    <a:pt x="7065391" y="3882136"/>
                  </a:lnTo>
                  <a:cubicBezTo>
                    <a:pt x="7065391" y="4174490"/>
                    <a:pt x="6828410" y="4411472"/>
                    <a:pt x="6536055" y="4411472"/>
                  </a:cubicBezTo>
                  <a:lnTo>
                    <a:pt x="529336" y="4411472"/>
                  </a:lnTo>
                  <a:cubicBezTo>
                    <a:pt x="236982" y="4411599"/>
                    <a:pt x="0" y="4174617"/>
                    <a:pt x="0" y="3882263"/>
                  </a:cubicBezTo>
                  <a:close/>
                </a:path>
              </a:pathLst>
            </a:custGeom>
            <a:solidFill>
              <a:srgbClr val="14273A"/>
            </a:solidFill>
            <a:ln w="14299" cap="sq">
              <a:solidFill>
                <a:srgbClr val="284258"/>
              </a:solidFill>
              <a:prstDash val="solid"/>
              <a:miter/>
            </a:ln>
          </p:spPr>
        </p:sp>
      </p:grpSp>
      <p:grpSp>
        <p:nvGrpSpPr>
          <p:cNvPr name="Group 21" id="21"/>
          <p:cNvGrpSpPr/>
          <p:nvPr/>
        </p:nvGrpSpPr>
        <p:grpSpPr>
          <a:xfrm rot="0">
            <a:off x="12072366" y="3081366"/>
            <a:ext cx="110385" cy="3308709"/>
            <a:chOff x="0" y="0"/>
            <a:chExt cx="147180" cy="4411612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47193" cy="4411599"/>
            </a:xfrm>
            <a:custGeom>
              <a:avLst/>
              <a:gdLst/>
              <a:ahLst/>
              <a:cxnLst/>
              <a:rect r="r" b="b" t="t" l="l"/>
              <a:pathLst>
                <a:path h="4411599" w="147193">
                  <a:moveTo>
                    <a:pt x="0" y="0"/>
                  </a:moveTo>
                  <a:lnTo>
                    <a:pt x="147193" y="0"/>
                  </a:lnTo>
                  <a:lnTo>
                    <a:pt x="147193" y="4411599"/>
                  </a:lnTo>
                  <a:lnTo>
                    <a:pt x="0" y="4411599"/>
                  </a:lnTo>
                  <a:close/>
                </a:path>
              </a:pathLst>
            </a:custGeom>
            <a:solidFill>
              <a:srgbClr val="32C5E8"/>
            </a:solidFill>
            <a:ln w="14299" cap="sq">
              <a:solidFill>
                <a:srgbClr val="32C5E8"/>
              </a:solidFill>
              <a:prstDash val="solid"/>
              <a:miter/>
            </a:ln>
          </p:spPr>
        </p:sp>
      </p:grpSp>
      <p:sp>
        <p:nvSpPr>
          <p:cNvPr name="TextBox 23" id="23"/>
          <p:cNvSpPr txBox="true"/>
          <p:nvPr/>
        </p:nvSpPr>
        <p:spPr>
          <a:xfrm rot="0">
            <a:off x="12399797" y="3353886"/>
            <a:ext cx="4699140" cy="4438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82"/>
              </a:lnSpc>
            </a:pPr>
            <a:r>
              <a:rPr lang="en-US" sz="2401" b="true">
                <a:solidFill>
                  <a:srgbClr val="F5F8FC"/>
                </a:solidFill>
                <a:latin typeface="Aptos Bold"/>
                <a:ea typeface="Aptos Bold"/>
                <a:cs typeface="Aptos Bold"/>
                <a:sym typeface="Aptos Bold"/>
              </a:rPr>
              <a:t>FUTURE SCOPE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2399797" y="3999043"/>
            <a:ext cx="4699140" cy="2187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1"/>
              </a:lnSpc>
            </a:pPr>
            <a:r>
              <a:rPr lang="en-US" sz="1951">
                <a:solidFill>
                  <a:srgbClr val="A6BCCD"/>
                </a:solidFill>
                <a:latin typeface="Aptos"/>
                <a:ea typeface="Aptos"/>
                <a:cs typeface="Aptos"/>
                <a:sym typeface="Aptos"/>
              </a:rPr>
              <a:t>• Evaluate on approved anonymized data</a:t>
            </a:r>
          </a:p>
          <a:p>
            <a:pPr algn="l">
              <a:lnSpc>
                <a:spcPts val="2341"/>
              </a:lnSpc>
            </a:pPr>
            <a:r>
              <a:rPr lang="en-US" sz="1951">
                <a:solidFill>
                  <a:srgbClr val="A6BCCD"/>
                </a:solidFill>
                <a:latin typeface="Aptos"/>
                <a:ea typeface="Aptos"/>
                <a:cs typeface="Aptos"/>
                <a:sym typeface="Aptos"/>
              </a:rPr>
              <a:t>• Explain risk factors</a:t>
            </a:r>
          </a:p>
          <a:p>
            <a:pPr algn="l">
              <a:lnSpc>
                <a:spcPts val="2341"/>
              </a:lnSpc>
            </a:pPr>
            <a:r>
              <a:rPr lang="en-US" sz="1951">
                <a:solidFill>
                  <a:srgbClr val="A6BCCD"/>
                </a:solidFill>
                <a:latin typeface="Aptos"/>
                <a:ea typeface="Aptos"/>
                <a:cs typeface="Aptos"/>
                <a:sym typeface="Aptos"/>
              </a:rPr>
              <a:t>• Add audit and access controls</a:t>
            </a:r>
          </a:p>
          <a:p>
            <a:pPr algn="l">
              <a:lnSpc>
                <a:spcPts val="2341"/>
              </a:lnSpc>
            </a:pPr>
            <a:r>
              <a:rPr lang="en-US" sz="1951">
                <a:solidFill>
                  <a:srgbClr val="A6BCCD"/>
                </a:solidFill>
                <a:latin typeface="Aptos"/>
                <a:ea typeface="Aptos"/>
                <a:cs typeface="Aptos"/>
                <a:sym typeface="Aptos"/>
              </a:rPr>
              <a:t>• Track intervention outcomes</a:t>
            </a:r>
          </a:p>
        </p:txBody>
      </p:sp>
      <p:grpSp>
        <p:nvGrpSpPr>
          <p:cNvPr name="Group 25" id="25"/>
          <p:cNvGrpSpPr/>
          <p:nvPr/>
        </p:nvGrpSpPr>
        <p:grpSpPr>
          <a:xfrm rot="0">
            <a:off x="953719" y="7130748"/>
            <a:ext cx="16417738" cy="1318336"/>
            <a:chOff x="0" y="0"/>
            <a:chExt cx="21890317" cy="1757782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21890355" cy="1757807"/>
            </a:xfrm>
            <a:custGeom>
              <a:avLst/>
              <a:gdLst/>
              <a:ahLst/>
              <a:cxnLst/>
              <a:rect r="r" b="b" t="t" l="l"/>
              <a:pathLst>
                <a:path h="1757807" w="21890355">
                  <a:moveTo>
                    <a:pt x="0" y="210947"/>
                  </a:moveTo>
                  <a:cubicBezTo>
                    <a:pt x="0" y="94488"/>
                    <a:pt x="94488" y="0"/>
                    <a:pt x="210947" y="0"/>
                  </a:cubicBezTo>
                  <a:lnTo>
                    <a:pt x="21679408" y="0"/>
                  </a:lnTo>
                  <a:cubicBezTo>
                    <a:pt x="21795868" y="0"/>
                    <a:pt x="21890355" y="94488"/>
                    <a:pt x="21890355" y="210947"/>
                  </a:cubicBezTo>
                  <a:lnTo>
                    <a:pt x="21890355" y="1546860"/>
                  </a:lnTo>
                  <a:cubicBezTo>
                    <a:pt x="21890355" y="1663319"/>
                    <a:pt x="21795868" y="1757807"/>
                    <a:pt x="21679408" y="1757807"/>
                  </a:cubicBezTo>
                  <a:lnTo>
                    <a:pt x="210947" y="1757807"/>
                  </a:lnTo>
                  <a:cubicBezTo>
                    <a:pt x="94488" y="1757807"/>
                    <a:pt x="0" y="1663319"/>
                    <a:pt x="0" y="1546860"/>
                  </a:cubicBezTo>
                  <a:close/>
                </a:path>
              </a:pathLst>
            </a:custGeom>
            <a:solidFill>
              <a:srgbClr val="113042"/>
            </a:solidFill>
            <a:ln w="14299" cap="sq">
              <a:solidFill>
                <a:srgbClr val="235A71"/>
              </a:solidFill>
              <a:prstDash val="solid"/>
              <a:miter/>
            </a:ln>
          </p:spPr>
        </p:sp>
      </p:grpSp>
      <p:grpSp>
        <p:nvGrpSpPr>
          <p:cNvPr name="Group 27" id="27"/>
          <p:cNvGrpSpPr/>
          <p:nvPr/>
        </p:nvGrpSpPr>
        <p:grpSpPr>
          <a:xfrm rot="0">
            <a:off x="1372676" y="7439882"/>
            <a:ext cx="15579833" cy="617706"/>
            <a:chOff x="0" y="0"/>
            <a:chExt cx="20773111" cy="823608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20773109" cy="823603"/>
            </a:xfrm>
            <a:custGeom>
              <a:avLst/>
              <a:gdLst/>
              <a:ahLst/>
              <a:cxnLst/>
              <a:rect r="r" b="b" t="t" l="l"/>
              <a:pathLst>
                <a:path h="823603" w="20773109">
                  <a:moveTo>
                    <a:pt x="0" y="0"/>
                  </a:moveTo>
                  <a:lnTo>
                    <a:pt x="20773109" y="0"/>
                  </a:lnTo>
                  <a:lnTo>
                    <a:pt x="20773109" y="823603"/>
                  </a:lnTo>
                  <a:lnTo>
                    <a:pt x="0" y="823603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41455" r="0" b="-441456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0"/>
              <a:ext cx="20773111" cy="82360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82"/>
                </a:lnSpc>
              </a:pPr>
              <a:r>
                <a:rPr lang="en-US" sz="2401" b="true">
                  <a:solidFill>
                    <a:srgbClr val="F5F8FC"/>
                  </a:solidFill>
                  <a:latin typeface="Aptos Bold"/>
                  <a:ea typeface="Aptos Bold"/>
                  <a:cs typeface="Aptos Bold"/>
                  <a:sym typeface="Aptos Bold"/>
                </a:rPr>
                <a:t>Acadex AI turns academic signals into structured, reviewable support—not automated decisions.</a:t>
              </a:r>
            </a:p>
          </p:txBody>
        </p:sp>
      </p:grpSp>
      <p:sp>
        <p:nvSpPr>
          <p:cNvPr name="TextBox 30" id="30"/>
          <p:cNvSpPr txBox="true"/>
          <p:nvPr/>
        </p:nvSpPr>
        <p:spPr>
          <a:xfrm rot="0">
            <a:off x="951709" y="9832896"/>
            <a:ext cx="10944806" cy="2105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41"/>
              </a:lnSpc>
            </a:pPr>
            <a:r>
              <a:rPr lang="en-US" sz="1200">
                <a:solidFill>
                  <a:srgbClr val="A6BCCD"/>
                </a:solidFill>
                <a:latin typeface="Aptos"/>
                <a:ea typeface="Aptos"/>
                <a:cs typeface="Aptos"/>
                <a:sym typeface="Aptos"/>
              </a:rPr>
              <a:t>ACADEX AI  •  FOUNDATIONS OF AGENTIC AI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6833523" y="9805445"/>
            <a:ext cx="512493" cy="2379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441"/>
              </a:lnSpc>
            </a:pPr>
            <a:r>
              <a:rPr lang="en-US" sz="1200">
                <a:solidFill>
                  <a:srgbClr val="A6BCCD"/>
                </a:solidFill>
                <a:latin typeface="Aptos"/>
                <a:ea typeface="Aptos"/>
                <a:cs typeface="Aptos"/>
                <a:sym typeface="Aptos"/>
              </a:rPr>
              <a:t>11</a:t>
            </a: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>
  <p:cSld>
    <p:bg>
      <p:bgPr>
        <a:solidFill>
          <a:srgbClr val="0815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310191" y="4093480"/>
            <a:ext cx="5637312" cy="18092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729"/>
              </a:lnSpc>
            </a:pPr>
            <a:r>
              <a:rPr lang="en-US" sz="10521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THANK YOU!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DAHYes-1c-Y</dc:identifier>
  <dcterms:modified xsi:type="dcterms:W3CDTF">2011-08-01T06:04:30Z</dcterms:modified>
  <cp:revision>1</cp:revision>
  <dc:title>Acadex AI CA-3 Presentation</dc:title>
</cp:coreProperties>
</file>